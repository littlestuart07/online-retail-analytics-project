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7A6F64"/>
                </a:solidFill>
                <a:latin typeface="Calibri"/>
              </a:defRPr>
            </a:pPr>
            <a:r>
              <a:rPr sz="1200" b="0" i="0" u="none" strike="noStrike">
                <a:solidFill>
                  <a:srgbClr val="7A6F64"/>
                </a:solidFill>
                <a:latin typeface="Calibri"/>
              </a:rPr>
              <a:t>ROC-AUC on the test set (1,321 customers)</a:t>
            </a:r>
          </a:p>
        </c:rich>
      </c:tx>
      <c:layout/>
      <c:overlay val="0"/>
    </c:title>
    <c:autoTitleDeleted val="0"/>
    <c:plotArea>
      <c:layout/>
      <c:barChart>
        <c:barDir val="bar"/>
        <c:grouping val="clustered"/>
        <c:varyColors val="0"/>
        <c:ser>
          <c:idx val="0"/>
          <c:order val="0"/>
          <c:tx>
            <c:strRef>
              <c:f>Sheet1!$B$1</c:f>
              <c:strCache>
                <c:ptCount val="1"/>
                <c:pt idx="0">
                  <c:v>ROC-AUC</c:v>
                </c:pt>
              </c:strCache>
            </c:strRef>
          </c:tx>
          <c:spPr>
            <a:solidFill>
              <a:srgbClr val="7D8C6A"/>
            </a:solidFill>
            <a:effectLst/>
          </c:spPr>
          <c:invertIfNegative val="0"/>
          <c:dLbls>
            <c:numFmt formatCode="0.000" sourceLinked="0"/>
            <c:txPr>
              <a:bodyPr/>
              <a:lstStyle/>
              <a:p>
                <a:pPr>
                  <a:defRPr b="0" i="0" strike="noStrike" sz="1000" u="none">
                    <a:solidFill>
                      <a:srgbClr val="3B332C"/>
                    </a:solidFill>
                    <a:latin typeface="Arial"/>
                  </a:defRPr>
                </a:pPr>
              </a:p>
            </c:txPr>
            <c:showLegendKey val="0"/>
            <c:showVal val="1"/>
            <c:showCatName val="0"/>
            <c:showSerName val="0"/>
            <c:showPercent val="0"/>
            <c:showBubbleSize val="0"/>
            <c:showLeaderLines val="0"/>
          </c:dLbls>
          <c:cat>
            <c:multiLvlStrRef>
              <c:f>Sheet1!$A$2:$A$15</c:f>
              <c:multiLvlStrCache>
                <c:ptCount val="14"/>
                <c:lvl>
                  <c:pt idx="0">
                    <c:v>Decision Tree</c:v>
                  </c:pt>
                  <c:pt idx="1">
                    <c:v>K-Nearest Neighbors</c:v>
                  </c:pt>
                  <c:pt idx="2">
                    <c:v>Naive Bayes</c:v>
                  </c:pt>
                  <c:pt idx="3">
                    <c:v>XGBoost</c:v>
                  </c:pt>
                  <c:pt idx="4">
                    <c:v>LightGBM</c:v>
                  </c:pt>
                  <c:pt idx="5">
                    <c:v>Random Forest</c:v>
                  </c:pt>
                  <c:pt idx="6">
                    <c:v>Extra Trees</c:v>
                  </c:pt>
                  <c:pt idx="7">
                    <c:v>Support Vector Machine</c:v>
                  </c:pt>
                  <c:pt idx="8">
                    <c:v>Linear Discriminant Analysis</c:v>
                  </c:pt>
                  <c:pt idx="9">
                    <c:v>AdaBoost</c:v>
                  </c:pt>
                  <c:pt idx="10">
                    <c:v>Logistic Regression</c:v>
                  </c:pt>
                  <c:pt idx="11">
                    <c:v>Gradient Boosting</c:v>
                  </c:pt>
                  <c:pt idx="12">
                    <c:v>Neural Network (MLP)</c:v>
                  </c:pt>
                  <c:pt idx="13">
                    <c:v>Stacking Ensemble</c:v>
                  </c:pt>
                </c:lvl>
              </c:multiLvlStrCache>
            </c:multiLvlStrRef>
          </c:cat>
          <c:val>
            <c:numRef>
              <c:f>Sheet1!$B$2:$B$15</c:f>
              <c:numCache>
                <c:formatCode>General</c:formatCode>
                <c:ptCount val="14"/>
                <c:pt idx="0">
                  <c:v>0.74</c:v>
                </c:pt>
                <c:pt idx="1">
                  <c:v>0.767</c:v>
                </c:pt>
                <c:pt idx="2">
                  <c:v>0.771</c:v>
                </c:pt>
                <c:pt idx="3">
                  <c:v>0.772</c:v>
                </c:pt>
                <c:pt idx="4">
                  <c:v>0.787</c:v>
                </c:pt>
                <c:pt idx="5">
                  <c:v>0.787</c:v>
                </c:pt>
                <c:pt idx="6">
                  <c:v>0.787</c:v>
                </c:pt>
                <c:pt idx="7">
                  <c:v>0.787</c:v>
                </c:pt>
                <c:pt idx="8">
                  <c:v>0.789</c:v>
                </c:pt>
                <c:pt idx="9">
                  <c:v>0.794</c:v>
                </c:pt>
                <c:pt idx="10">
                  <c:v>0.797</c:v>
                </c:pt>
                <c:pt idx="11">
                  <c:v>0.805</c:v>
                </c:pt>
                <c:pt idx="12">
                  <c:v>0.807</c:v>
                </c:pt>
                <c:pt idx="13">
                  <c:v>0.809</c:v>
                </c:pt>
              </c:numCache>
            </c:numRef>
          </c:val>
        </c:ser>
        <c:dLbls>
          <c:numFmt formatCode="0.000" sourceLinked="0"/>
          <c:txPr>
            <a:bodyPr/>
            <a:lstStyle/>
            <a:p>
              <a:pPr>
                <a:defRPr b="0" i="0" strike="noStrike" sz="1000" u="none">
                  <a:solidFill>
                    <a:srgbClr val="3B332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B332C"/>
                </a:solidFill>
                <a:latin typeface="Calibri"/>
              </a:defRPr>
            </a:pPr>
            <a:endParaRPr lang="en-US"/>
          </a:p>
        </c:txPr>
        <c:crossAx val="2094734552"/>
        <c:crosses val="autoZero"/>
        <c:auto val="1"/>
        <c:lblAlgn val="ctr"/>
        <c:noMultiLvlLbl val="1"/>
      </c:catAx>
      <c:valAx>
        <c:axId val="2094734552"/>
        <c:scaling>
          <c:orientation val="minMax"/>
          <c:max val="0.82"/>
          <c:min val="0.7"/>
        </c:scaling>
        <c:delete val="0"/>
        <c:axPos val="b"/>
        <c:majorGridlines>
          <c:spPr>
            <a:ln w="6350" cap="flat">
              <a:solidFill>
                <a:srgbClr val="E3DACB"/>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6F64"/>
                </a:solidFill>
                <a:latin typeface="Arial"/>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This is the second review: after cleaning the data in DA1, this phase builds customer-level features, a database, and machine learning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dataset had over a million rows. After the DA1 cleaning steps, 779,425 valid transactions remain. Because churn is defined with a 90-day holdout, only customers active before the cutoff can be modelled, which gives 5,281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 Steps 1 to 4 are done in R. The SQLite file is the link between R and Python. Python does all modelling and then writes predictions back into the same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are computed only from transactions before the cutoff date. RFM is the standard approach from the DA1 literature review. OutlierOrders counts bulk orders that were flagged, not deleted, in DA1. Country was grouped into the top five countries plus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uses a time-based definition, which is the key design choice. High-value is imbalanced by design, which is why SMOTE is used later. Segments come from K-Means with k = 4 and are very uneven: segment 4 has only 15 wholesale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learning point of the phase. A perfect score on a real problem is a warning sign. After the fix, accuracy dropped to a realistic 70 to 74 percent, and those numbers can be trusted. The same idea was applied to high-value: Monetary and AvgOrderValue were removed from its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SQLite was chosen because it is a single file with no server, and both R and Python support it natively. The schema was written by hand with keys and constraints, so bad records are rejected. Indexes made the benchmark join query faster. Python later adds the ml_predictions table, which completes the round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one query in detail, the window function. It ranks products within each segment, so one query gives the top two products for all four segments. Query 9 compares churned and retained customers and shows why behaviour features predict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algorithms were chosen from different families so the comparison is fair. All use the same stratified 75/25 split, with the scaler fitted only on training data. High-value models do not see Monetary or AvgOrderValue, to avoid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ROC-AUC is used because it does not depend on the threshold. Mention that Naive Bayes has the highest recall, 0.957, but the lowest accuracy, 0.640, because it flags almost everyone. Five-fold cross-validation gave the same ranking with standard deviations below 0.011.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search helped Gradient Boosting only slightly, 0.805 to 0.807. Moving the threshold from 0.5 to 0.453 gave the biggest practical gain: recall 0.809 to 0.873, and F1 also rose from 0.771 to 0.791. SMOTE raised minority-class recall for Logistic Regression from 0.814 to 0.958; for Random Forest, F1 fell slightly because precision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alone hides the type of errors. ROC and precision-recall curves show the trade-offs; confusion matrices split the errors. SHAP shows direction: high Recency pushes towards churn. Learning curves showed Random Forest memorises the training data, while Gradient Boosting generalises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wrote each customer's churn probability back to SQLite as ml_predictions. A join with the customers table, written by R, gives the risk band summary. Stress that the 2.02 million is past spend of high-risk customers, not predicted loss. Lifetime value rises as risk falls, so the model ranking lines up with business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limitations honest and tie each one to evidence in the report. Tuning the other two tasks and calibration are part of the remaining work for the final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one line: clean data, customer features, a database used by both R and Python, compared models, and a usable retention list. Remaining work for DA3 is the dashboard, tuning the other tasks and the final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8549640" y="0"/>
            <a:ext cx="3642055" cy="6858000"/>
          </a:xfrm>
          <a:prstGeom prst="rect">
            <a:avLst/>
          </a:prstGeom>
          <a:solidFill>
            <a:srgbClr val="E9E0D0"/>
          </a:solidFill>
          <a:ln w="12700">
            <a:solidFill>
              <a:srgbClr val="E9E0D0"/>
            </a:solidFill>
            <a:prstDash val="solid"/>
          </a:ln>
        </p:spPr>
      </p:sp>
      <p:sp>
        <p:nvSpPr>
          <p:cNvPr id="3" name="Shape 1"/>
          <p:cNvSpPr/>
          <p:nvPr/>
        </p:nvSpPr>
        <p:spPr>
          <a:xfrm>
            <a:off x="9235440" y="1463040"/>
            <a:ext cx="1005840" cy="1005840"/>
          </a:xfrm>
          <a:prstGeom prst="rect">
            <a:avLst/>
          </a:prstGeom>
          <a:solidFill>
            <a:srgbClr val="7D8C6A"/>
          </a:solidFill>
          <a:ln w="12700">
            <a:solidFill>
              <a:srgbClr val="7D8C6A"/>
            </a:solidFill>
            <a:prstDash val="solid"/>
          </a:ln>
        </p:spPr>
      </p:sp>
      <p:sp>
        <p:nvSpPr>
          <p:cNvPr id="4" name="Shape 2"/>
          <p:cNvSpPr/>
          <p:nvPr/>
        </p:nvSpPr>
        <p:spPr>
          <a:xfrm>
            <a:off x="10241280" y="2468880"/>
            <a:ext cx="1005840" cy="1005840"/>
          </a:xfrm>
          <a:prstGeom prst="rect">
            <a:avLst/>
          </a:prstGeom>
          <a:solidFill>
            <a:srgbClr val="B5694A"/>
          </a:solidFill>
          <a:ln w="12700">
            <a:solidFill>
              <a:srgbClr val="B5694A"/>
            </a:solidFill>
            <a:prstDash val="solid"/>
          </a:ln>
        </p:spPr>
      </p:sp>
      <p:sp>
        <p:nvSpPr>
          <p:cNvPr id="5" name="Shape 3"/>
          <p:cNvSpPr/>
          <p:nvPr/>
        </p:nvSpPr>
        <p:spPr>
          <a:xfrm>
            <a:off x="9235440" y="3474720"/>
            <a:ext cx="1005840" cy="1005840"/>
          </a:xfrm>
          <a:prstGeom prst="rect">
            <a:avLst/>
          </a:prstGeom>
          <a:solidFill>
            <a:srgbClr val="C9A44C"/>
          </a:solidFill>
          <a:ln w="12700">
            <a:solidFill>
              <a:srgbClr val="C9A44C"/>
            </a:solidFill>
            <a:prstDash val="solid"/>
          </a:ln>
        </p:spPr>
      </p:sp>
      <p:sp>
        <p:nvSpPr>
          <p:cNvPr id="6" name="Text 4"/>
          <p:cNvSpPr txBox="1"/>
          <p:nvPr/>
        </p:nvSpPr>
        <p:spPr>
          <a:xfrm>
            <a:off x="731520" y="1417320"/>
            <a:ext cx="6858000" cy="320040"/>
          </a:xfrm>
          <a:prstGeom prst="rect">
            <a:avLst/>
          </a:prstGeom>
          <a:noFill/>
          <a:ln/>
        </p:spPr>
        <p:txBody>
          <a:bodyPr wrap="square" lIns="0" tIns="0" rIns="0" bIns="0" rtlCol="0" anchor="t"/>
          <a:lstStyle/>
          <a:p>
            <a:pPr indent="0" marL="0">
              <a:buNone/>
            </a:pPr>
            <a:r>
              <a:rPr lang="en-US" sz="1300" b="1" spc="300" kern="0" dirty="0">
                <a:solidFill>
                  <a:srgbClr val="B5694A"/>
                </a:solidFill>
                <a:latin typeface="Calibri" pitchFamily="34" charset="0"/>
                <a:ea typeface="Calibri" pitchFamily="34" charset="-122"/>
                <a:cs typeface="Calibri" pitchFamily="34" charset="-120"/>
              </a:rPr>
              <a:t>DIGITAL ASSIGNMENT 2</a:t>
            </a:r>
            <a:endParaRPr lang="en-US" sz="1300" dirty="0"/>
          </a:p>
        </p:txBody>
      </p:sp>
      <p:sp>
        <p:nvSpPr>
          <p:cNvPr id="7" name="Text 5"/>
          <p:cNvSpPr txBox="1"/>
          <p:nvPr/>
        </p:nvSpPr>
        <p:spPr>
          <a:xfrm>
            <a:off x="731520" y="1828800"/>
            <a:ext cx="7315200" cy="1828800"/>
          </a:xfrm>
          <a:prstGeom prst="rect">
            <a:avLst/>
          </a:prstGeom>
          <a:noFill/>
          <a:ln/>
        </p:spPr>
        <p:txBody>
          <a:bodyPr wrap="square" lIns="0" tIns="0" rIns="0" bIns="0" rtlCol="0" anchor="t"/>
          <a:lstStyle/>
          <a:p>
            <a:pPr indent="0" marL="0">
              <a:buNone/>
            </a:pPr>
            <a:r>
              <a:rPr lang="en-US" sz="4000" b="1" dirty="0">
                <a:solidFill>
                  <a:srgbClr val="3B332C"/>
                </a:solidFill>
                <a:latin typeface="Calibri" pitchFamily="34" charset="0"/>
                <a:ea typeface="Calibri" pitchFamily="34" charset="-122"/>
                <a:cs typeface="Calibri" pitchFamily="34" charset="-120"/>
              </a:rPr>
              <a:t>Customer Segmentation Using the Online Retail II Dataset</a:t>
            </a:r>
            <a:endParaRPr lang="en-US" sz="4000" dirty="0"/>
          </a:p>
        </p:txBody>
      </p:sp>
      <p:sp>
        <p:nvSpPr>
          <p:cNvPr id="8" name="Text 6"/>
          <p:cNvSpPr txBox="1"/>
          <p:nvPr/>
        </p:nvSpPr>
        <p:spPr>
          <a:xfrm>
            <a:off x="731520" y="3886200"/>
            <a:ext cx="6858000" cy="365760"/>
          </a:xfrm>
          <a:prstGeom prst="rect">
            <a:avLst/>
          </a:prstGeom>
          <a:noFill/>
          <a:ln/>
        </p:spPr>
        <p:txBody>
          <a:bodyPr wrap="square" lIns="0" tIns="0" rIns="0" bIns="0" rtlCol="0" anchor="t"/>
          <a:lstStyle/>
          <a:p>
            <a:pPr indent="0" marL="0">
              <a:buNone/>
            </a:pPr>
            <a:r>
              <a:rPr lang="en-US" sz="1600" dirty="0">
                <a:solidFill>
                  <a:srgbClr val="7A6F64"/>
                </a:solidFill>
                <a:latin typeface="Calibri" pitchFamily="34" charset="0"/>
                <a:ea typeface="Calibri" pitchFamily="34" charset="-122"/>
                <a:cs typeface="Calibri" pitchFamily="34" charset="-120"/>
              </a:rPr>
              <a:t>Programming for Data Science (BCSE207L)</a:t>
            </a:r>
            <a:endParaRPr lang="en-US" sz="1600" dirty="0"/>
          </a:p>
        </p:txBody>
      </p:sp>
      <p:sp>
        <p:nvSpPr>
          <p:cNvPr id="9" name="Text 7"/>
          <p:cNvSpPr txBox="1"/>
          <p:nvPr/>
        </p:nvSpPr>
        <p:spPr>
          <a:xfrm>
            <a:off x="731520" y="4800600"/>
            <a:ext cx="5486400" cy="1005840"/>
          </a:xfrm>
          <a:prstGeom prst="rect">
            <a:avLst/>
          </a:prstGeom>
          <a:noFill/>
          <a:ln/>
        </p:spPr>
        <p:txBody>
          <a:bodyPr wrap="square" lIns="0" tIns="0" rIns="0" bIns="0" rtlCol="0" anchor="t"/>
          <a:lstStyle/>
          <a:p>
            <a:pPr indent="0" marL="0">
              <a:spcAft>
                <a:spcPts val="400"/>
              </a:spcAft>
              <a:buNone/>
            </a:pPr>
            <a:r>
              <a:rPr lang="en-US" sz="1500" b="1" dirty="0">
                <a:solidFill>
                  <a:srgbClr val="3B332C"/>
                </a:solidFill>
                <a:latin typeface="Calibri" pitchFamily="34" charset="0"/>
                <a:ea typeface="Calibri" pitchFamily="34" charset="-122"/>
                <a:cs typeface="Calibri" pitchFamily="34" charset="-120"/>
              </a:rPr>
              <a:t>Suyash Agrawaal</a:t>
            </a:r>
            <a:endParaRPr lang="en-US" sz="1500" dirty="0"/>
          </a:p>
          <a:p>
            <a:pPr indent="0" marL="0">
              <a:spcAft>
                <a:spcPts val="400"/>
              </a:spcAft>
              <a:buNone/>
            </a:pPr>
            <a:r>
              <a:rPr lang="en-US" sz="1500" dirty="0">
                <a:solidFill>
                  <a:srgbClr val="3B332C"/>
                </a:solidFill>
                <a:latin typeface="Calibri" pitchFamily="34" charset="0"/>
                <a:ea typeface="Calibri" pitchFamily="34" charset="-122"/>
                <a:cs typeface="Calibri" pitchFamily="34" charset="-120"/>
              </a:rPr>
              <a:t>Reg. No. 24BDS1167</a:t>
            </a:r>
            <a:endParaRPr lang="en-US" sz="1500" dirty="0"/>
          </a:p>
          <a:p>
            <a:pPr indent="0" marL="0">
              <a:spcAft>
                <a:spcPts val="400"/>
              </a:spcAft>
              <a:buNone/>
            </a:pPr>
            <a:r>
              <a:rPr lang="en-US" sz="1500" dirty="0">
                <a:solidFill>
                  <a:srgbClr val="3B332C"/>
                </a:solidFill>
                <a:latin typeface="Calibri" pitchFamily="34" charset="0"/>
                <a:ea typeface="Calibri" pitchFamily="34" charset="-122"/>
                <a:cs typeface="Calibri" pitchFamily="34" charset="-120"/>
              </a:rPr>
              <a:t>VIT Chennai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01  PROJECT OVERVIEW</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From shop transactions to customer-level insight</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2</a:t>
            </a:r>
            <a:endParaRPr lang="en-US" sz="900" dirty="0"/>
          </a:p>
        </p:txBody>
      </p:sp>
      <p:sp>
        <p:nvSpPr>
          <p:cNvPr id="6" name="Text 4"/>
          <p:cNvSpPr txBox="1"/>
          <p:nvPr/>
        </p:nvSpPr>
        <p:spPr>
          <a:xfrm>
            <a:off x="640080" y="1737360"/>
            <a:ext cx="6035040" cy="42062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3B332C"/>
                </a:solidFill>
                <a:latin typeface="Calibri" pitchFamily="34" charset="0"/>
                <a:ea typeface="Calibri" pitchFamily="34" charset="-122"/>
                <a:cs typeface="Calibri" pitchFamily="34" charset="-120"/>
              </a:rPr>
              <a:t>Online Retail II: transactions from a UK online gift retailer, Dec 2009 to Dec 2011</a:t>
            </a:r>
            <a:endParaRPr lang="en-US" sz="1600" dirty="0"/>
          </a:p>
          <a:p>
            <a:pPr marL="228600" indent="-228600">
              <a:spcAft>
                <a:spcPts val="1000"/>
              </a:spcAft>
              <a:buSzPct val="100000"/>
              <a:buChar char="•"/>
            </a:pPr>
            <a:r>
              <a:rPr lang="en-US" sz="1600" dirty="0">
                <a:solidFill>
                  <a:srgbClr val="3B332C"/>
                </a:solidFill>
                <a:latin typeface="Calibri" pitchFamily="34" charset="0"/>
                <a:ea typeface="Calibri" pitchFamily="34" charset="-122"/>
                <a:cs typeface="Calibri" pitchFamily="34" charset="-120"/>
              </a:rPr>
              <a:t>Each row is one product line on an invoice, not a customer</a:t>
            </a:r>
            <a:endParaRPr lang="en-US" sz="1600" dirty="0"/>
          </a:p>
          <a:p>
            <a:pPr marL="228600" indent="-228600">
              <a:spcAft>
                <a:spcPts val="1000"/>
              </a:spcAft>
              <a:buSzPct val="100000"/>
              <a:buChar char="•"/>
            </a:pPr>
            <a:r>
              <a:rPr lang="en-US" sz="1600" dirty="0">
                <a:solidFill>
                  <a:srgbClr val="3B332C"/>
                </a:solidFill>
                <a:latin typeface="Calibri" pitchFamily="34" charset="0"/>
                <a:ea typeface="Calibri" pitchFamily="34" charset="-122"/>
                <a:cs typeface="Calibri" pitchFamily="34" charset="-120"/>
              </a:rPr>
              <a:t>To study customers, rows have to be rolled up into one record per customer</a:t>
            </a:r>
            <a:endParaRPr lang="en-US" sz="1600" dirty="0"/>
          </a:p>
          <a:p>
            <a:pPr marL="228600" indent="-228600">
              <a:spcAft>
                <a:spcPts val="1000"/>
              </a:spcAft>
              <a:buSzPct val="100000"/>
              <a:buChar char="•"/>
            </a:pPr>
            <a:r>
              <a:rPr lang="en-US" sz="1600" dirty="0">
                <a:solidFill>
                  <a:srgbClr val="3B332C"/>
                </a:solidFill>
                <a:latin typeface="Calibri" pitchFamily="34" charset="0"/>
                <a:ea typeface="Calibri" pitchFamily="34" charset="-122"/>
                <a:cs typeface="Calibri" pitchFamily="34" charset="-120"/>
              </a:rPr>
              <a:t>Goals: predict churn, identify high-value customers, and group customers into segments</a:t>
            </a:r>
            <a:endParaRPr lang="en-US" sz="1600" dirty="0"/>
          </a:p>
          <a:p>
            <a:pPr marL="228600" indent="-228600">
              <a:spcAft>
                <a:spcPts val="1000"/>
              </a:spcAft>
              <a:buSzPct val="100000"/>
              <a:buChar char="•"/>
            </a:pPr>
            <a:r>
              <a:rPr lang="en-US" sz="1600" dirty="0">
                <a:solidFill>
                  <a:srgbClr val="3B332C"/>
                </a:solidFill>
                <a:latin typeface="Calibri" pitchFamily="34" charset="0"/>
                <a:ea typeface="Calibri" pitchFamily="34" charset="-122"/>
                <a:cs typeface="Calibri" pitchFamily="34" charset="-120"/>
              </a:rPr>
              <a:t>Store everything in a database that both R and Python can use</a:t>
            </a:r>
            <a:endParaRPr lang="en-US" sz="1600" dirty="0"/>
          </a:p>
        </p:txBody>
      </p:sp>
      <p:sp>
        <p:nvSpPr>
          <p:cNvPr id="7" name="Text 5"/>
          <p:cNvSpPr txBox="1"/>
          <p:nvPr/>
        </p:nvSpPr>
        <p:spPr>
          <a:xfrm>
            <a:off x="7589520" y="1737360"/>
            <a:ext cx="3931920" cy="685800"/>
          </a:xfrm>
          <a:prstGeom prst="rect">
            <a:avLst/>
          </a:prstGeom>
          <a:noFill/>
          <a:ln/>
        </p:spPr>
        <p:txBody>
          <a:bodyPr wrap="square" lIns="0" tIns="0" rIns="0" bIns="0" rtlCol="0" anchor="t"/>
          <a:lstStyle/>
          <a:p>
            <a:pPr indent="0" marL="0">
              <a:buNone/>
            </a:pPr>
            <a:r>
              <a:rPr lang="en-US" sz="3800" b="1" dirty="0">
                <a:solidFill>
                  <a:srgbClr val="5E6B4E"/>
                </a:solidFill>
                <a:latin typeface="Calibri" pitchFamily="34" charset="0"/>
                <a:ea typeface="Calibri" pitchFamily="34" charset="-122"/>
                <a:cs typeface="Calibri" pitchFamily="34" charset="-120"/>
              </a:rPr>
              <a:t>1,067,371</a:t>
            </a:r>
            <a:endParaRPr lang="en-US" sz="3800" dirty="0"/>
          </a:p>
        </p:txBody>
      </p:sp>
      <p:sp>
        <p:nvSpPr>
          <p:cNvPr id="8" name="Text 6"/>
          <p:cNvSpPr txBox="1"/>
          <p:nvPr/>
        </p:nvSpPr>
        <p:spPr>
          <a:xfrm>
            <a:off x="7589520" y="2423160"/>
            <a:ext cx="3931920" cy="32004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raw rows in the dataset</a:t>
            </a:r>
            <a:endParaRPr lang="en-US" sz="1400" dirty="0"/>
          </a:p>
        </p:txBody>
      </p:sp>
      <p:sp>
        <p:nvSpPr>
          <p:cNvPr id="9" name="Shape 7"/>
          <p:cNvSpPr/>
          <p:nvPr/>
        </p:nvSpPr>
        <p:spPr>
          <a:xfrm>
            <a:off x="7589520" y="2926080"/>
            <a:ext cx="3840480" cy="0"/>
          </a:xfrm>
          <a:prstGeom prst="line">
            <a:avLst/>
          </a:prstGeom>
          <a:noFill/>
          <a:ln w="9525">
            <a:solidFill>
              <a:srgbClr val="D6CCBB"/>
            </a:solidFill>
            <a:prstDash val="solid"/>
          </a:ln>
        </p:spPr>
      </p:sp>
      <p:sp>
        <p:nvSpPr>
          <p:cNvPr id="10" name="Text 8"/>
          <p:cNvSpPr txBox="1"/>
          <p:nvPr/>
        </p:nvSpPr>
        <p:spPr>
          <a:xfrm>
            <a:off x="7589520" y="3108960"/>
            <a:ext cx="3931920" cy="685800"/>
          </a:xfrm>
          <a:prstGeom prst="rect">
            <a:avLst/>
          </a:prstGeom>
          <a:noFill/>
          <a:ln/>
        </p:spPr>
        <p:txBody>
          <a:bodyPr wrap="square" lIns="0" tIns="0" rIns="0" bIns="0" rtlCol="0" anchor="t"/>
          <a:lstStyle/>
          <a:p>
            <a:pPr indent="0" marL="0">
              <a:buNone/>
            </a:pPr>
            <a:r>
              <a:rPr lang="en-US" sz="3800" b="1" dirty="0">
                <a:solidFill>
                  <a:srgbClr val="5E6B4E"/>
                </a:solidFill>
                <a:latin typeface="Calibri" pitchFamily="34" charset="0"/>
                <a:ea typeface="Calibri" pitchFamily="34" charset="-122"/>
                <a:cs typeface="Calibri" pitchFamily="34" charset="-120"/>
              </a:rPr>
              <a:t>779,425</a:t>
            </a:r>
            <a:endParaRPr lang="en-US" sz="3800" dirty="0"/>
          </a:p>
        </p:txBody>
      </p:sp>
      <p:sp>
        <p:nvSpPr>
          <p:cNvPr id="11" name="Text 9"/>
          <p:cNvSpPr txBox="1"/>
          <p:nvPr/>
        </p:nvSpPr>
        <p:spPr>
          <a:xfrm>
            <a:off x="7589520" y="3794760"/>
            <a:ext cx="3931920" cy="32004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transactions after cleaning</a:t>
            </a:r>
            <a:endParaRPr lang="en-US" sz="1400" dirty="0"/>
          </a:p>
        </p:txBody>
      </p:sp>
      <p:sp>
        <p:nvSpPr>
          <p:cNvPr id="12" name="Shape 10"/>
          <p:cNvSpPr/>
          <p:nvPr/>
        </p:nvSpPr>
        <p:spPr>
          <a:xfrm>
            <a:off x="7589520" y="4297680"/>
            <a:ext cx="3840480" cy="0"/>
          </a:xfrm>
          <a:prstGeom prst="line">
            <a:avLst/>
          </a:prstGeom>
          <a:noFill/>
          <a:ln w="9525">
            <a:solidFill>
              <a:srgbClr val="D6CCBB"/>
            </a:solidFill>
            <a:prstDash val="solid"/>
          </a:ln>
        </p:spPr>
      </p:sp>
      <p:sp>
        <p:nvSpPr>
          <p:cNvPr id="13" name="Text 11"/>
          <p:cNvSpPr txBox="1"/>
          <p:nvPr/>
        </p:nvSpPr>
        <p:spPr>
          <a:xfrm>
            <a:off x="7589520" y="4480560"/>
            <a:ext cx="3931920" cy="685800"/>
          </a:xfrm>
          <a:prstGeom prst="rect">
            <a:avLst/>
          </a:prstGeom>
          <a:noFill/>
          <a:ln/>
        </p:spPr>
        <p:txBody>
          <a:bodyPr wrap="square" lIns="0" tIns="0" rIns="0" bIns="0" rtlCol="0" anchor="t"/>
          <a:lstStyle/>
          <a:p>
            <a:pPr indent="0" marL="0">
              <a:buNone/>
            </a:pPr>
            <a:r>
              <a:rPr lang="en-US" sz="3800" b="1" dirty="0">
                <a:solidFill>
                  <a:srgbClr val="B5694A"/>
                </a:solidFill>
                <a:latin typeface="Calibri" pitchFamily="34" charset="0"/>
                <a:ea typeface="Calibri" pitchFamily="34" charset="-122"/>
                <a:cs typeface="Calibri" pitchFamily="34" charset="-120"/>
              </a:rPr>
              <a:t>5,281</a:t>
            </a:r>
            <a:endParaRPr lang="en-US" sz="3800" dirty="0"/>
          </a:p>
        </p:txBody>
      </p:sp>
      <p:sp>
        <p:nvSpPr>
          <p:cNvPr id="14" name="Text 12"/>
          <p:cNvSpPr txBox="1"/>
          <p:nvPr/>
        </p:nvSpPr>
        <p:spPr>
          <a:xfrm>
            <a:off x="7589520" y="5166360"/>
            <a:ext cx="3931920" cy="32004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customers used for modelling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02  WORKFLOW</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Project workflow</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967721" y="2331720"/>
            <a:ext cx="548640" cy="548640"/>
          </a:xfrm>
          <a:prstGeom prst="ellipse">
            <a:avLst/>
          </a:prstGeom>
          <a:solidFill>
            <a:srgbClr val="5E6B4E"/>
          </a:solidFill>
          <a:ln w="12700">
            <a:solidFill>
              <a:srgbClr val="5E6B4E"/>
            </a:solidFill>
            <a:prstDash val="solid"/>
          </a:ln>
        </p:spPr>
      </p:sp>
      <p:sp>
        <p:nvSpPr>
          <p:cNvPr id="7" name="Text 5"/>
          <p:cNvSpPr txBox="1"/>
          <p:nvPr/>
        </p:nvSpPr>
        <p:spPr>
          <a:xfrm>
            <a:off x="967721"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1589513" y="2606040"/>
            <a:ext cx="691858" cy="0"/>
          </a:xfrm>
          <a:prstGeom prst="line">
            <a:avLst/>
          </a:prstGeom>
          <a:noFill/>
          <a:ln w="19050">
            <a:solidFill>
              <a:srgbClr val="D6CCBB"/>
            </a:solidFill>
            <a:prstDash val="solid"/>
            <a:tailEnd type="triangle"/>
          </a:ln>
        </p:spPr>
      </p:sp>
      <p:sp>
        <p:nvSpPr>
          <p:cNvPr id="9" name="Text 7"/>
          <p:cNvSpPr txBox="1"/>
          <p:nvPr/>
        </p:nvSpPr>
        <p:spPr>
          <a:xfrm>
            <a:off x="640080" y="3108960"/>
            <a:ext cx="1203922" cy="594360"/>
          </a:xfrm>
          <a:prstGeom prst="rect">
            <a:avLst/>
          </a:prstGeom>
          <a:noFill/>
          <a:ln/>
        </p:spPr>
        <p:txBody>
          <a:bodyPr wrap="square" lIns="0" tIns="0" rIns="0" bIns="0" rtlCol="0" anchor="t"/>
          <a:lstStyle/>
          <a:p>
            <a:pPr algn="ctr" indent="0" marL="0">
              <a:buNone/>
            </a:pPr>
            <a:r>
              <a:rPr lang="en-US" sz="1400" b="1" dirty="0">
                <a:solidFill>
                  <a:srgbClr val="3B332C"/>
                </a:solidFill>
                <a:latin typeface="Calibri" pitchFamily="34" charset="0"/>
                <a:ea typeface="Calibri" pitchFamily="34" charset="-122"/>
                <a:cs typeface="Calibri" pitchFamily="34" charset="-120"/>
              </a:rPr>
              <a:t>Raw Data</a:t>
            </a:r>
            <a:endParaRPr lang="en-US" sz="1400" dirty="0"/>
          </a:p>
        </p:txBody>
      </p:sp>
      <p:sp>
        <p:nvSpPr>
          <p:cNvPr id="10" name="Text 8"/>
          <p:cNvSpPr txBox="1"/>
          <p:nvPr/>
        </p:nvSpPr>
        <p:spPr>
          <a:xfrm>
            <a:off x="640080" y="3703320"/>
            <a:ext cx="1203922" cy="594360"/>
          </a:xfrm>
          <a:prstGeom prst="rect">
            <a:avLst/>
          </a:prstGeom>
          <a:noFill/>
          <a:ln/>
        </p:spPr>
        <p:txBody>
          <a:bodyPr wrap="square" lIns="0" tIns="0" rIns="0" bIns="0" rtlCol="0" anchor="t"/>
          <a:lstStyle/>
          <a:p>
            <a:pPr algn="ctr" indent="0" marL="0">
              <a:buNone/>
            </a:pPr>
            <a:r>
              <a:rPr lang="en-US" sz="1200" dirty="0">
                <a:solidFill>
                  <a:srgbClr val="7A6F64"/>
                </a:solidFill>
                <a:latin typeface="Calibri" pitchFamily="34" charset="0"/>
                <a:ea typeface="Calibri" pitchFamily="34" charset="-122"/>
                <a:cs typeface="Calibri" pitchFamily="34" charset="-120"/>
              </a:rPr>
              <a:t>Excel, 2 sheets</a:t>
            </a:r>
            <a:endParaRPr lang="en-US" sz="1200" dirty="0"/>
          </a:p>
        </p:txBody>
      </p:sp>
      <p:sp>
        <p:nvSpPr>
          <p:cNvPr id="11" name="Text 9"/>
          <p:cNvSpPr txBox="1"/>
          <p:nvPr/>
        </p:nvSpPr>
        <p:spPr>
          <a:xfrm>
            <a:off x="640080" y="4434840"/>
            <a:ext cx="1203922" cy="274320"/>
          </a:xfrm>
          <a:prstGeom prst="rect">
            <a:avLst/>
          </a:prstGeom>
          <a:noFill/>
          <a:ln/>
        </p:spPr>
        <p:txBody>
          <a:bodyPr wrap="square" lIns="0" tIns="0" rIns="0" bIns="0" rtlCol="0" anchor="t"/>
          <a:lstStyle/>
          <a:p>
            <a:pPr algn="ctr" indent="0" marL="0">
              <a:buNone/>
            </a:pPr>
            <a:r>
              <a:rPr lang="en-US" sz="1100" b="1" dirty="0">
                <a:solidFill>
                  <a:srgbClr val="5E6B4E"/>
                </a:solidFill>
                <a:latin typeface="Calibri" pitchFamily="34" charset="0"/>
                <a:ea typeface="Calibri" pitchFamily="34" charset="-122"/>
                <a:cs typeface="Calibri" pitchFamily="34" charset="-120"/>
              </a:rPr>
              <a:t>R</a:t>
            </a:r>
            <a:endParaRPr lang="en-US" sz="1100" dirty="0"/>
          </a:p>
        </p:txBody>
      </p:sp>
      <p:sp>
        <p:nvSpPr>
          <p:cNvPr id="12" name="Shape 10"/>
          <p:cNvSpPr/>
          <p:nvPr/>
        </p:nvSpPr>
        <p:spPr>
          <a:xfrm>
            <a:off x="2354523" y="2331720"/>
            <a:ext cx="548640" cy="548640"/>
          </a:xfrm>
          <a:prstGeom prst="ellipse">
            <a:avLst/>
          </a:prstGeom>
          <a:solidFill>
            <a:srgbClr val="5E6B4E"/>
          </a:solidFill>
          <a:ln w="12700">
            <a:solidFill>
              <a:srgbClr val="5E6B4E"/>
            </a:solidFill>
            <a:prstDash val="solid"/>
          </a:ln>
        </p:spPr>
      </p:sp>
      <p:sp>
        <p:nvSpPr>
          <p:cNvPr id="13" name="Text 11"/>
          <p:cNvSpPr txBox="1"/>
          <p:nvPr/>
        </p:nvSpPr>
        <p:spPr>
          <a:xfrm>
            <a:off x="2354523"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Shape 12"/>
          <p:cNvSpPr/>
          <p:nvPr/>
        </p:nvSpPr>
        <p:spPr>
          <a:xfrm>
            <a:off x="2976315" y="2606040"/>
            <a:ext cx="691858" cy="0"/>
          </a:xfrm>
          <a:prstGeom prst="line">
            <a:avLst/>
          </a:prstGeom>
          <a:noFill/>
          <a:ln w="19050">
            <a:solidFill>
              <a:srgbClr val="D6CCBB"/>
            </a:solidFill>
            <a:prstDash val="solid"/>
            <a:tailEnd type="triangle"/>
          </a:ln>
        </p:spPr>
      </p:sp>
      <p:sp>
        <p:nvSpPr>
          <p:cNvPr id="15" name="Text 13"/>
          <p:cNvSpPr txBox="1"/>
          <p:nvPr/>
        </p:nvSpPr>
        <p:spPr>
          <a:xfrm>
            <a:off x="2026882" y="3108960"/>
            <a:ext cx="1203922" cy="594360"/>
          </a:xfrm>
          <a:prstGeom prst="rect">
            <a:avLst/>
          </a:prstGeom>
          <a:noFill/>
          <a:ln/>
        </p:spPr>
        <p:txBody>
          <a:bodyPr wrap="square" lIns="0" tIns="0" rIns="0" bIns="0" rtlCol="0" anchor="t"/>
          <a:lstStyle/>
          <a:p>
            <a:pPr algn="ctr" indent="0" marL="0">
              <a:buNone/>
            </a:pPr>
            <a:r>
              <a:rPr lang="en-US" sz="1400" b="1" dirty="0">
                <a:solidFill>
                  <a:srgbClr val="3B332C"/>
                </a:solidFill>
                <a:latin typeface="Calibri" pitchFamily="34" charset="0"/>
                <a:ea typeface="Calibri" pitchFamily="34" charset="-122"/>
                <a:cs typeface="Calibri" pitchFamily="34" charset="-120"/>
              </a:rPr>
              <a:t>Data Cleaning</a:t>
            </a:r>
            <a:endParaRPr lang="en-US" sz="1400" dirty="0"/>
          </a:p>
        </p:txBody>
      </p:sp>
      <p:sp>
        <p:nvSpPr>
          <p:cNvPr id="16" name="Text 14"/>
          <p:cNvSpPr txBox="1"/>
          <p:nvPr/>
        </p:nvSpPr>
        <p:spPr>
          <a:xfrm>
            <a:off x="2026882" y="3703320"/>
            <a:ext cx="1203922" cy="594360"/>
          </a:xfrm>
          <a:prstGeom prst="rect">
            <a:avLst/>
          </a:prstGeom>
          <a:noFill/>
          <a:ln/>
        </p:spPr>
        <p:txBody>
          <a:bodyPr wrap="square" lIns="0" tIns="0" rIns="0" bIns="0" rtlCol="0" anchor="t"/>
          <a:lstStyle/>
          <a:p>
            <a:pPr algn="ctr" indent="0" marL="0">
              <a:buNone/>
            </a:pPr>
            <a:r>
              <a:rPr lang="en-US" sz="1200" dirty="0">
                <a:solidFill>
                  <a:srgbClr val="7A6F64"/>
                </a:solidFill>
                <a:latin typeface="Calibri" pitchFamily="34" charset="0"/>
                <a:ea typeface="Calibri" pitchFamily="34" charset="-122"/>
                <a:cs typeface="Calibri" pitchFamily="34" charset="-120"/>
              </a:rPr>
              <a:t>779,425 rows</a:t>
            </a:r>
            <a:endParaRPr lang="en-US" sz="1200" dirty="0"/>
          </a:p>
        </p:txBody>
      </p:sp>
      <p:sp>
        <p:nvSpPr>
          <p:cNvPr id="17" name="Text 15"/>
          <p:cNvSpPr txBox="1"/>
          <p:nvPr/>
        </p:nvSpPr>
        <p:spPr>
          <a:xfrm>
            <a:off x="2026882" y="4434840"/>
            <a:ext cx="1203922" cy="274320"/>
          </a:xfrm>
          <a:prstGeom prst="rect">
            <a:avLst/>
          </a:prstGeom>
          <a:noFill/>
          <a:ln/>
        </p:spPr>
        <p:txBody>
          <a:bodyPr wrap="square" lIns="0" tIns="0" rIns="0" bIns="0" rtlCol="0" anchor="t"/>
          <a:lstStyle/>
          <a:p>
            <a:pPr algn="ctr" indent="0" marL="0">
              <a:buNone/>
            </a:pPr>
            <a:r>
              <a:rPr lang="en-US" sz="1100" b="1" dirty="0">
                <a:solidFill>
                  <a:srgbClr val="5E6B4E"/>
                </a:solidFill>
                <a:latin typeface="Calibri" pitchFamily="34" charset="0"/>
                <a:ea typeface="Calibri" pitchFamily="34" charset="-122"/>
                <a:cs typeface="Calibri" pitchFamily="34" charset="-120"/>
              </a:rPr>
              <a:t>R</a:t>
            </a:r>
            <a:endParaRPr lang="en-US" sz="1100" dirty="0"/>
          </a:p>
        </p:txBody>
      </p:sp>
      <p:sp>
        <p:nvSpPr>
          <p:cNvPr id="18" name="Shape 16"/>
          <p:cNvSpPr/>
          <p:nvPr/>
        </p:nvSpPr>
        <p:spPr>
          <a:xfrm>
            <a:off x="3741325" y="2331720"/>
            <a:ext cx="548640" cy="548640"/>
          </a:xfrm>
          <a:prstGeom prst="ellipse">
            <a:avLst/>
          </a:prstGeom>
          <a:solidFill>
            <a:srgbClr val="7D8C6A"/>
          </a:solidFill>
          <a:ln w="12700">
            <a:solidFill>
              <a:srgbClr val="7D8C6A"/>
            </a:solidFill>
            <a:prstDash val="solid"/>
          </a:ln>
        </p:spPr>
      </p:sp>
      <p:sp>
        <p:nvSpPr>
          <p:cNvPr id="19" name="Text 17"/>
          <p:cNvSpPr txBox="1"/>
          <p:nvPr/>
        </p:nvSpPr>
        <p:spPr>
          <a:xfrm>
            <a:off x="3741325"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Shape 18"/>
          <p:cNvSpPr/>
          <p:nvPr/>
        </p:nvSpPr>
        <p:spPr>
          <a:xfrm>
            <a:off x="4363117" y="2606040"/>
            <a:ext cx="691858" cy="0"/>
          </a:xfrm>
          <a:prstGeom prst="line">
            <a:avLst/>
          </a:prstGeom>
          <a:noFill/>
          <a:ln w="19050">
            <a:solidFill>
              <a:srgbClr val="D6CCBB"/>
            </a:solidFill>
            <a:prstDash val="solid"/>
            <a:tailEnd type="triangle"/>
          </a:ln>
        </p:spPr>
      </p:sp>
      <p:sp>
        <p:nvSpPr>
          <p:cNvPr id="21" name="Text 19"/>
          <p:cNvSpPr txBox="1"/>
          <p:nvPr/>
        </p:nvSpPr>
        <p:spPr>
          <a:xfrm>
            <a:off x="3413684" y="3108960"/>
            <a:ext cx="1203922" cy="594360"/>
          </a:xfrm>
          <a:prstGeom prst="rect">
            <a:avLst/>
          </a:prstGeom>
          <a:noFill/>
          <a:ln/>
        </p:spPr>
        <p:txBody>
          <a:bodyPr wrap="square" lIns="0" tIns="0" rIns="0" bIns="0" rtlCol="0" anchor="t"/>
          <a:lstStyle/>
          <a:p>
            <a:pPr algn="ctr" indent="0" marL="0">
              <a:buNone/>
            </a:pPr>
            <a:r>
              <a:rPr lang="en-US" sz="1400" b="1" dirty="0">
                <a:solidFill>
                  <a:srgbClr val="3B332C"/>
                </a:solidFill>
                <a:latin typeface="Calibri" pitchFamily="34" charset="0"/>
                <a:ea typeface="Calibri" pitchFamily="34" charset="-122"/>
                <a:cs typeface="Calibri" pitchFamily="34" charset="-120"/>
              </a:rPr>
              <a:t>Feature Engineering</a:t>
            </a:r>
            <a:endParaRPr lang="en-US" sz="1400" dirty="0"/>
          </a:p>
        </p:txBody>
      </p:sp>
      <p:sp>
        <p:nvSpPr>
          <p:cNvPr id="22" name="Text 20"/>
          <p:cNvSpPr txBox="1"/>
          <p:nvPr/>
        </p:nvSpPr>
        <p:spPr>
          <a:xfrm>
            <a:off x="3413684" y="3703320"/>
            <a:ext cx="1203922" cy="594360"/>
          </a:xfrm>
          <a:prstGeom prst="rect">
            <a:avLst/>
          </a:prstGeom>
          <a:noFill/>
          <a:ln/>
        </p:spPr>
        <p:txBody>
          <a:bodyPr wrap="square" lIns="0" tIns="0" rIns="0" bIns="0" rtlCol="0" anchor="t"/>
          <a:lstStyle/>
          <a:p>
            <a:pPr algn="ctr" indent="0" marL="0">
              <a:buNone/>
            </a:pPr>
            <a:r>
              <a:rPr lang="en-US" sz="1200" dirty="0">
                <a:solidFill>
                  <a:srgbClr val="7A6F64"/>
                </a:solidFill>
                <a:latin typeface="Calibri" pitchFamily="34" charset="0"/>
                <a:ea typeface="Calibri" pitchFamily="34" charset="-122"/>
                <a:cs typeface="Calibri" pitchFamily="34" charset="-120"/>
              </a:rPr>
              <a:t>RFM + 4 derived</a:t>
            </a:r>
            <a:endParaRPr lang="en-US" sz="1200" dirty="0"/>
          </a:p>
        </p:txBody>
      </p:sp>
      <p:sp>
        <p:nvSpPr>
          <p:cNvPr id="23" name="Text 21"/>
          <p:cNvSpPr txBox="1"/>
          <p:nvPr/>
        </p:nvSpPr>
        <p:spPr>
          <a:xfrm>
            <a:off x="3413684" y="4434840"/>
            <a:ext cx="1203922" cy="274320"/>
          </a:xfrm>
          <a:prstGeom prst="rect">
            <a:avLst/>
          </a:prstGeom>
          <a:noFill/>
          <a:ln/>
        </p:spPr>
        <p:txBody>
          <a:bodyPr wrap="square" lIns="0" tIns="0" rIns="0" bIns="0" rtlCol="0" anchor="t"/>
          <a:lstStyle/>
          <a:p>
            <a:pPr algn="ctr" indent="0" marL="0">
              <a:buNone/>
            </a:pPr>
            <a:r>
              <a:rPr lang="en-US" sz="1100" b="1" dirty="0">
                <a:solidFill>
                  <a:srgbClr val="7D8C6A"/>
                </a:solidFill>
                <a:latin typeface="Calibri" pitchFamily="34" charset="0"/>
                <a:ea typeface="Calibri" pitchFamily="34" charset="-122"/>
                <a:cs typeface="Calibri" pitchFamily="34" charset="-120"/>
              </a:rPr>
              <a:t>R</a:t>
            </a:r>
            <a:endParaRPr lang="en-US" sz="1100" dirty="0"/>
          </a:p>
        </p:txBody>
      </p:sp>
      <p:sp>
        <p:nvSpPr>
          <p:cNvPr id="24" name="Shape 22"/>
          <p:cNvSpPr/>
          <p:nvPr/>
        </p:nvSpPr>
        <p:spPr>
          <a:xfrm>
            <a:off x="5128127" y="2331720"/>
            <a:ext cx="548640" cy="548640"/>
          </a:xfrm>
          <a:prstGeom prst="ellipse">
            <a:avLst/>
          </a:prstGeom>
          <a:solidFill>
            <a:srgbClr val="7D8C6A"/>
          </a:solidFill>
          <a:ln w="12700">
            <a:solidFill>
              <a:srgbClr val="7D8C6A"/>
            </a:solidFill>
            <a:prstDash val="solid"/>
          </a:ln>
        </p:spPr>
      </p:sp>
      <p:sp>
        <p:nvSpPr>
          <p:cNvPr id="25" name="Text 23"/>
          <p:cNvSpPr txBox="1"/>
          <p:nvPr/>
        </p:nvSpPr>
        <p:spPr>
          <a:xfrm>
            <a:off x="5128127"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Shape 24"/>
          <p:cNvSpPr/>
          <p:nvPr/>
        </p:nvSpPr>
        <p:spPr>
          <a:xfrm>
            <a:off x="5749919" y="2606040"/>
            <a:ext cx="691858" cy="0"/>
          </a:xfrm>
          <a:prstGeom prst="line">
            <a:avLst/>
          </a:prstGeom>
          <a:noFill/>
          <a:ln w="19050">
            <a:solidFill>
              <a:srgbClr val="D6CCBB"/>
            </a:solidFill>
            <a:prstDash val="solid"/>
            <a:tailEnd type="triangle"/>
          </a:ln>
        </p:spPr>
      </p:sp>
      <p:sp>
        <p:nvSpPr>
          <p:cNvPr id="27" name="Text 25"/>
          <p:cNvSpPr txBox="1"/>
          <p:nvPr/>
        </p:nvSpPr>
        <p:spPr>
          <a:xfrm>
            <a:off x="4800486" y="3108960"/>
            <a:ext cx="1203922" cy="594360"/>
          </a:xfrm>
          <a:prstGeom prst="rect">
            <a:avLst/>
          </a:prstGeom>
          <a:noFill/>
          <a:ln/>
        </p:spPr>
        <p:txBody>
          <a:bodyPr wrap="square" lIns="0" tIns="0" rIns="0" bIns="0" rtlCol="0" anchor="t"/>
          <a:lstStyle/>
          <a:p>
            <a:pPr algn="ctr" indent="0" marL="0">
              <a:buNone/>
            </a:pPr>
            <a:r>
              <a:rPr lang="en-US" sz="1400" b="1" dirty="0">
                <a:solidFill>
                  <a:srgbClr val="3B332C"/>
                </a:solidFill>
                <a:latin typeface="Calibri" pitchFamily="34" charset="0"/>
                <a:ea typeface="Calibri" pitchFamily="34" charset="-122"/>
                <a:cs typeface="Calibri" pitchFamily="34" charset="-120"/>
              </a:rPr>
              <a:t>Customer Segmentation</a:t>
            </a:r>
            <a:endParaRPr lang="en-US" sz="1400" dirty="0"/>
          </a:p>
        </p:txBody>
      </p:sp>
      <p:sp>
        <p:nvSpPr>
          <p:cNvPr id="28" name="Text 26"/>
          <p:cNvSpPr txBox="1"/>
          <p:nvPr/>
        </p:nvSpPr>
        <p:spPr>
          <a:xfrm>
            <a:off x="4800486" y="3703320"/>
            <a:ext cx="1203922" cy="594360"/>
          </a:xfrm>
          <a:prstGeom prst="rect">
            <a:avLst/>
          </a:prstGeom>
          <a:noFill/>
          <a:ln/>
        </p:spPr>
        <p:txBody>
          <a:bodyPr wrap="square" lIns="0" tIns="0" rIns="0" bIns="0" rtlCol="0" anchor="t"/>
          <a:lstStyle/>
          <a:p>
            <a:pPr algn="ctr" indent="0" marL="0">
              <a:buNone/>
            </a:pPr>
            <a:r>
              <a:rPr lang="en-US" sz="1200" dirty="0">
                <a:solidFill>
                  <a:srgbClr val="7A6F64"/>
                </a:solidFill>
                <a:latin typeface="Calibri" pitchFamily="34" charset="0"/>
                <a:ea typeface="Calibri" pitchFamily="34" charset="-122"/>
                <a:cs typeface="Calibri" pitchFamily="34" charset="-120"/>
              </a:rPr>
              <a:t>K-Means, k = 4</a:t>
            </a:r>
            <a:endParaRPr lang="en-US" sz="1200" dirty="0"/>
          </a:p>
        </p:txBody>
      </p:sp>
      <p:sp>
        <p:nvSpPr>
          <p:cNvPr id="29" name="Text 27"/>
          <p:cNvSpPr txBox="1"/>
          <p:nvPr/>
        </p:nvSpPr>
        <p:spPr>
          <a:xfrm>
            <a:off x="4800486" y="4434840"/>
            <a:ext cx="1203922" cy="274320"/>
          </a:xfrm>
          <a:prstGeom prst="rect">
            <a:avLst/>
          </a:prstGeom>
          <a:noFill/>
          <a:ln/>
        </p:spPr>
        <p:txBody>
          <a:bodyPr wrap="square" lIns="0" tIns="0" rIns="0" bIns="0" rtlCol="0" anchor="t"/>
          <a:lstStyle/>
          <a:p>
            <a:pPr algn="ctr" indent="0" marL="0">
              <a:buNone/>
            </a:pPr>
            <a:r>
              <a:rPr lang="en-US" sz="1100" b="1" dirty="0">
                <a:solidFill>
                  <a:srgbClr val="7D8C6A"/>
                </a:solidFill>
                <a:latin typeface="Calibri" pitchFamily="34" charset="0"/>
                <a:ea typeface="Calibri" pitchFamily="34" charset="-122"/>
                <a:cs typeface="Calibri" pitchFamily="34" charset="-120"/>
              </a:rPr>
              <a:t>R</a:t>
            </a:r>
            <a:endParaRPr lang="en-US" sz="1100" dirty="0"/>
          </a:p>
        </p:txBody>
      </p:sp>
      <p:sp>
        <p:nvSpPr>
          <p:cNvPr id="30" name="Shape 28"/>
          <p:cNvSpPr/>
          <p:nvPr/>
        </p:nvSpPr>
        <p:spPr>
          <a:xfrm>
            <a:off x="6514929" y="2331720"/>
            <a:ext cx="548640" cy="548640"/>
          </a:xfrm>
          <a:prstGeom prst="ellipse">
            <a:avLst/>
          </a:prstGeom>
          <a:solidFill>
            <a:srgbClr val="C9A44C"/>
          </a:solidFill>
          <a:ln w="12700">
            <a:solidFill>
              <a:srgbClr val="C9A44C"/>
            </a:solidFill>
            <a:prstDash val="solid"/>
          </a:ln>
        </p:spPr>
      </p:sp>
      <p:sp>
        <p:nvSpPr>
          <p:cNvPr id="31" name="Text 29"/>
          <p:cNvSpPr txBox="1"/>
          <p:nvPr/>
        </p:nvSpPr>
        <p:spPr>
          <a:xfrm>
            <a:off x="6514929"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Shape 30"/>
          <p:cNvSpPr/>
          <p:nvPr/>
        </p:nvSpPr>
        <p:spPr>
          <a:xfrm>
            <a:off x="7136721" y="2606040"/>
            <a:ext cx="691858" cy="0"/>
          </a:xfrm>
          <a:prstGeom prst="line">
            <a:avLst/>
          </a:prstGeom>
          <a:noFill/>
          <a:ln w="19050">
            <a:solidFill>
              <a:srgbClr val="D6CCBB"/>
            </a:solidFill>
            <a:prstDash val="solid"/>
            <a:tailEnd type="triangle"/>
          </a:ln>
        </p:spPr>
      </p:sp>
      <p:sp>
        <p:nvSpPr>
          <p:cNvPr id="33" name="Text 31"/>
          <p:cNvSpPr txBox="1"/>
          <p:nvPr/>
        </p:nvSpPr>
        <p:spPr>
          <a:xfrm>
            <a:off x="6187288" y="3108960"/>
            <a:ext cx="1203922" cy="594360"/>
          </a:xfrm>
          <a:prstGeom prst="rect">
            <a:avLst/>
          </a:prstGeom>
          <a:noFill/>
          <a:ln/>
        </p:spPr>
        <p:txBody>
          <a:bodyPr wrap="square" lIns="0" tIns="0" rIns="0" bIns="0" rtlCol="0" anchor="t"/>
          <a:lstStyle/>
          <a:p>
            <a:pPr algn="ctr" indent="0" marL="0">
              <a:buNone/>
            </a:pPr>
            <a:r>
              <a:rPr lang="en-US" sz="1400" b="1" dirty="0">
                <a:solidFill>
                  <a:srgbClr val="3B332C"/>
                </a:solidFill>
                <a:latin typeface="Calibri" pitchFamily="34" charset="0"/>
                <a:ea typeface="Calibri" pitchFamily="34" charset="-122"/>
                <a:cs typeface="Calibri" pitchFamily="34" charset="-120"/>
              </a:rPr>
              <a:t>SQLite Database</a:t>
            </a:r>
            <a:endParaRPr lang="en-US" sz="1400" dirty="0"/>
          </a:p>
        </p:txBody>
      </p:sp>
      <p:sp>
        <p:nvSpPr>
          <p:cNvPr id="34" name="Text 32"/>
          <p:cNvSpPr txBox="1"/>
          <p:nvPr/>
        </p:nvSpPr>
        <p:spPr>
          <a:xfrm>
            <a:off x="6187288" y="3703320"/>
            <a:ext cx="1203922" cy="594360"/>
          </a:xfrm>
          <a:prstGeom prst="rect">
            <a:avLst/>
          </a:prstGeom>
          <a:noFill/>
          <a:ln/>
        </p:spPr>
        <p:txBody>
          <a:bodyPr wrap="square" lIns="0" tIns="0" rIns="0" bIns="0" rtlCol="0" anchor="t"/>
          <a:lstStyle/>
          <a:p>
            <a:pPr algn="ctr" indent="0" marL="0">
              <a:buNone/>
            </a:pPr>
            <a:r>
              <a:rPr lang="en-US" sz="1200" dirty="0">
                <a:solidFill>
                  <a:srgbClr val="7A6F64"/>
                </a:solidFill>
                <a:latin typeface="Calibri" pitchFamily="34" charset="0"/>
                <a:ea typeface="Calibri" pitchFamily="34" charset="-122"/>
                <a:cs typeface="Calibri" pitchFamily="34" charset="-120"/>
              </a:rPr>
              <a:t>4 tables, 7 indexes</a:t>
            </a:r>
            <a:endParaRPr lang="en-US" sz="1200" dirty="0"/>
          </a:p>
        </p:txBody>
      </p:sp>
      <p:sp>
        <p:nvSpPr>
          <p:cNvPr id="35" name="Text 33"/>
          <p:cNvSpPr txBox="1"/>
          <p:nvPr/>
        </p:nvSpPr>
        <p:spPr>
          <a:xfrm>
            <a:off x="6187288" y="4434840"/>
            <a:ext cx="1203922" cy="274320"/>
          </a:xfrm>
          <a:prstGeom prst="rect">
            <a:avLst/>
          </a:prstGeom>
          <a:noFill/>
          <a:ln/>
        </p:spPr>
        <p:txBody>
          <a:bodyPr wrap="square" lIns="0" tIns="0" rIns="0" bIns="0" rtlCol="0" anchor="t"/>
          <a:lstStyle/>
          <a:p>
            <a:pPr algn="ctr" indent="0" marL="0">
              <a:buNone/>
            </a:pPr>
            <a:r>
              <a:rPr lang="en-US" sz="1100" b="1" dirty="0">
                <a:solidFill>
                  <a:srgbClr val="C9A44C"/>
                </a:solidFill>
                <a:latin typeface="Calibri" pitchFamily="34" charset="0"/>
                <a:ea typeface="Calibri" pitchFamily="34" charset="-122"/>
                <a:cs typeface="Calibri" pitchFamily="34" charset="-120"/>
              </a:rPr>
              <a:t>R + Python</a:t>
            </a:r>
            <a:endParaRPr lang="en-US" sz="1100" dirty="0"/>
          </a:p>
        </p:txBody>
      </p:sp>
      <p:sp>
        <p:nvSpPr>
          <p:cNvPr id="36" name="Shape 34"/>
          <p:cNvSpPr/>
          <p:nvPr/>
        </p:nvSpPr>
        <p:spPr>
          <a:xfrm>
            <a:off x="7901730" y="2331720"/>
            <a:ext cx="548640" cy="548640"/>
          </a:xfrm>
          <a:prstGeom prst="ellipse">
            <a:avLst/>
          </a:prstGeom>
          <a:solidFill>
            <a:srgbClr val="B5694A"/>
          </a:solidFill>
          <a:ln w="12700">
            <a:solidFill>
              <a:srgbClr val="B5694A"/>
            </a:solidFill>
            <a:prstDash val="solid"/>
          </a:ln>
        </p:spPr>
      </p:sp>
      <p:sp>
        <p:nvSpPr>
          <p:cNvPr id="37" name="Text 35"/>
          <p:cNvSpPr txBox="1"/>
          <p:nvPr/>
        </p:nvSpPr>
        <p:spPr>
          <a:xfrm>
            <a:off x="7901730"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8" name="Shape 36"/>
          <p:cNvSpPr/>
          <p:nvPr/>
        </p:nvSpPr>
        <p:spPr>
          <a:xfrm>
            <a:off x="8523522" y="2606040"/>
            <a:ext cx="691858" cy="0"/>
          </a:xfrm>
          <a:prstGeom prst="line">
            <a:avLst/>
          </a:prstGeom>
          <a:noFill/>
          <a:ln w="19050">
            <a:solidFill>
              <a:srgbClr val="D6CCBB"/>
            </a:solidFill>
            <a:prstDash val="solid"/>
            <a:tailEnd type="triangle"/>
          </a:ln>
        </p:spPr>
      </p:sp>
      <p:sp>
        <p:nvSpPr>
          <p:cNvPr id="39" name="Text 37"/>
          <p:cNvSpPr txBox="1"/>
          <p:nvPr/>
        </p:nvSpPr>
        <p:spPr>
          <a:xfrm>
            <a:off x="7574089" y="3108960"/>
            <a:ext cx="1203922" cy="594360"/>
          </a:xfrm>
          <a:prstGeom prst="rect">
            <a:avLst/>
          </a:prstGeom>
          <a:noFill/>
          <a:ln/>
        </p:spPr>
        <p:txBody>
          <a:bodyPr wrap="square" lIns="0" tIns="0" rIns="0" bIns="0" rtlCol="0" anchor="t"/>
          <a:lstStyle/>
          <a:p>
            <a:pPr algn="ctr" indent="0" marL="0">
              <a:buNone/>
            </a:pPr>
            <a:r>
              <a:rPr lang="en-US" sz="1400" b="1" dirty="0">
                <a:solidFill>
                  <a:srgbClr val="3B332C"/>
                </a:solidFill>
                <a:latin typeface="Calibri" pitchFamily="34" charset="0"/>
                <a:ea typeface="Calibri" pitchFamily="34" charset="-122"/>
                <a:cs typeface="Calibri" pitchFamily="34" charset="-120"/>
              </a:rPr>
              <a:t>Machine Learning</a:t>
            </a:r>
            <a:endParaRPr lang="en-US" sz="1400" dirty="0"/>
          </a:p>
        </p:txBody>
      </p:sp>
      <p:sp>
        <p:nvSpPr>
          <p:cNvPr id="40" name="Text 38"/>
          <p:cNvSpPr txBox="1"/>
          <p:nvPr/>
        </p:nvSpPr>
        <p:spPr>
          <a:xfrm>
            <a:off x="7574089" y="3703320"/>
            <a:ext cx="1203922" cy="594360"/>
          </a:xfrm>
          <a:prstGeom prst="rect">
            <a:avLst/>
          </a:prstGeom>
          <a:noFill/>
          <a:ln/>
        </p:spPr>
        <p:txBody>
          <a:bodyPr wrap="square" lIns="0" tIns="0" rIns="0" bIns="0" rtlCol="0" anchor="t"/>
          <a:lstStyle/>
          <a:p>
            <a:pPr algn="ctr" indent="0" marL="0">
              <a:buNone/>
            </a:pPr>
            <a:r>
              <a:rPr lang="en-US" sz="1200" dirty="0">
                <a:solidFill>
                  <a:srgbClr val="7A6F64"/>
                </a:solidFill>
                <a:latin typeface="Calibri" pitchFamily="34" charset="0"/>
                <a:ea typeface="Calibri" pitchFamily="34" charset="-122"/>
                <a:cs typeface="Calibri" pitchFamily="34" charset="-120"/>
              </a:rPr>
              <a:t>24 models</a:t>
            </a:r>
            <a:endParaRPr lang="en-US" sz="1200" dirty="0"/>
          </a:p>
        </p:txBody>
      </p:sp>
      <p:sp>
        <p:nvSpPr>
          <p:cNvPr id="41" name="Text 39"/>
          <p:cNvSpPr txBox="1"/>
          <p:nvPr/>
        </p:nvSpPr>
        <p:spPr>
          <a:xfrm>
            <a:off x="7574089" y="4434840"/>
            <a:ext cx="1203922" cy="274320"/>
          </a:xfrm>
          <a:prstGeom prst="rect">
            <a:avLst/>
          </a:prstGeom>
          <a:noFill/>
          <a:ln/>
        </p:spPr>
        <p:txBody>
          <a:bodyPr wrap="square" lIns="0" tIns="0" rIns="0" bIns="0" rtlCol="0" anchor="t"/>
          <a:lstStyle/>
          <a:p>
            <a:pPr algn="ctr" indent="0" marL="0">
              <a:buNone/>
            </a:pPr>
            <a:r>
              <a:rPr lang="en-US" sz="1100" b="1" dirty="0">
                <a:solidFill>
                  <a:srgbClr val="B5694A"/>
                </a:solidFill>
                <a:latin typeface="Calibri" pitchFamily="34" charset="0"/>
                <a:ea typeface="Calibri" pitchFamily="34" charset="-122"/>
                <a:cs typeface="Calibri" pitchFamily="34" charset="-120"/>
              </a:rPr>
              <a:t>Python</a:t>
            </a:r>
            <a:endParaRPr lang="en-US" sz="1100" dirty="0"/>
          </a:p>
        </p:txBody>
      </p:sp>
      <p:sp>
        <p:nvSpPr>
          <p:cNvPr id="42" name="Shape 40"/>
          <p:cNvSpPr/>
          <p:nvPr/>
        </p:nvSpPr>
        <p:spPr>
          <a:xfrm>
            <a:off x="9288532" y="2331720"/>
            <a:ext cx="548640" cy="548640"/>
          </a:xfrm>
          <a:prstGeom prst="ellipse">
            <a:avLst/>
          </a:prstGeom>
          <a:solidFill>
            <a:srgbClr val="B5694A"/>
          </a:solidFill>
          <a:ln w="12700">
            <a:solidFill>
              <a:srgbClr val="B5694A"/>
            </a:solidFill>
            <a:prstDash val="solid"/>
          </a:ln>
        </p:spPr>
      </p:sp>
      <p:sp>
        <p:nvSpPr>
          <p:cNvPr id="43" name="Text 41"/>
          <p:cNvSpPr txBox="1"/>
          <p:nvPr/>
        </p:nvSpPr>
        <p:spPr>
          <a:xfrm>
            <a:off x="9288532"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4" name="Shape 42"/>
          <p:cNvSpPr/>
          <p:nvPr/>
        </p:nvSpPr>
        <p:spPr>
          <a:xfrm>
            <a:off x="9910324" y="2606040"/>
            <a:ext cx="691858" cy="0"/>
          </a:xfrm>
          <a:prstGeom prst="line">
            <a:avLst/>
          </a:prstGeom>
          <a:noFill/>
          <a:ln w="19050">
            <a:solidFill>
              <a:srgbClr val="D6CCBB"/>
            </a:solidFill>
            <a:prstDash val="solid"/>
            <a:tailEnd type="triangle"/>
          </a:ln>
        </p:spPr>
      </p:sp>
      <p:sp>
        <p:nvSpPr>
          <p:cNvPr id="45" name="Text 43"/>
          <p:cNvSpPr txBox="1"/>
          <p:nvPr/>
        </p:nvSpPr>
        <p:spPr>
          <a:xfrm>
            <a:off x="8960891" y="3108960"/>
            <a:ext cx="1203922" cy="594360"/>
          </a:xfrm>
          <a:prstGeom prst="rect">
            <a:avLst/>
          </a:prstGeom>
          <a:noFill/>
          <a:ln/>
        </p:spPr>
        <p:txBody>
          <a:bodyPr wrap="square" lIns="0" tIns="0" rIns="0" bIns="0" rtlCol="0" anchor="t"/>
          <a:lstStyle/>
          <a:p>
            <a:pPr algn="ctr" indent="0" marL="0">
              <a:buNone/>
            </a:pPr>
            <a:r>
              <a:rPr lang="en-US" sz="1400" b="1" dirty="0">
                <a:solidFill>
                  <a:srgbClr val="3B332C"/>
                </a:solidFill>
                <a:latin typeface="Calibri" pitchFamily="34" charset="0"/>
                <a:ea typeface="Calibri" pitchFamily="34" charset="-122"/>
                <a:cs typeface="Calibri" pitchFamily="34" charset="-120"/>
              </a:rPr>
              <a:t>Model Optimization</a:t>
            </a:r>
            <a:endParaRPr lang="en-US" sz="1400" dirty="0"/>
          </a:p>
        </p:txBody>
      </p:sp>
      <p:sp>
        <p:nvSpPr>
          <p:cNvPr id="46" name="Text 44"/>
          <p:cNvSpPr txBox="1"/>
          <p:nvPr/>
        </p:nvSpPr>
        <p:spPr>
          <a:xfrm>
            <a:off x="8960891" y="3703320"/>
            <a:ext cx="1203922" cy="594360"/>
          </a:xfrm>
          <a:prstGeom prst="rect">
            <a:avLst/>
          </a:prstGeom>
          <a:noFill/>
          <a:ln/>
        </p:spPr>
        <p:txBody>
          <a:bodyPr wrap="square" lIns="0" tIns="0" rIns="0" bIns="0" rtlCol="0" anchor="t"/>
          <a:lstStyle/>
          <a:p>
            <a:pPr algn="ctr" indent="0" marL="0">
              <a:buNone/>
            </a:pPr>
            <a:r>
              <a:rPr lang="en-US" sz="1200" dirty="0">
                <a:solidFill>
                  <a:srgbClr val="7A6F64"/>
                </a:solidFill>
                <a:latin typeface="Calibri" pitchFamily="34" charset="0"/>
                <a:ea typeface="Calibri" pitchFamily="34" charset="-122"/>
                <a:cs typeface="Calibri" pitchFamily="34" charset="-120"/>
              </a:rPr>
              <a:t>Grid search, threshold, SMOTE</a:t>
            </a:r>
            <a:endParaRPr lang="en-US" sz="1200" dirty="0"/>
          </a:p>
        </p:txBody>
      </p:sp>
      <p:sp>
        <p:nvSpPr>
          <p:cNvPr id="47" name="Text 45"/>
          <p:cNvSpPr txBox="1"/>
          <p:nvPr/>
        </p:nvSpPr>
        <p:spPr>
          <a:xfrm>
            <a:off x="8960891" y="4434840"/>
            <a:ext cx="1203922" cy="274320"/>
          </a:xfrm>
          <a:prstGeom prst="rect">
            <a:avLst/>
          </a:prstGeom>
          <a:noFill/>
          <a:ln/>
        </p:spPr>
        <p:txBody>
          <a:bodyPr wrap="square" lIns="0" tIns="0" rIns="0" bIns="0" rtlCol="0" anchor="t"/>
          <a:lstStyle/>
          <a:p>
            <a:pPr algn="ctr" indent="0" marL="0">
              <a:buNone/>
            </a:pPr>
            <a:r>
              <a:rPr lang="en-US" sz="1100" b="1" dirty="0">
                <a:solidFill>
                  <a:srgbClr val="B5694A"/>
                </a:solidFill>
                <a:latin typeface="Calibri" pitchFamily="34" charset="0"/>
                <a:ea typeface="Calibri" pitchFamily="34" charset="-122"/>
                <a:cs typeface="Calibri" pitchFamily="34" charset="-120"/>
              </a:rPr>
              <a:t>Python</a:t>
            </a:r>
            <a:endParaRPr lang="en-US" sz="1100" dirty="0"/>
          </a:p>
        </p:txBody>
      </p:sp>
      <p:sp>
        <p:nvSpPr>
          <p:cNvPr id="48" name="Shape 46"/>
          <p:cNvSpPr/>
          <p:nvPr/>
        </p:nvSpPr>
        <p:spPr>
          <a:xfrm>
            <a:off x="10675334" y="2331720"/>
            <a:ext cx="548640" cy="548640"/>
          </a:xfrm>
          <a:prstGeom prst="ellipse">
            <a:avLst/>
          </a:prstGeom>
          <a:solidFill>
            <a:srgbClr val="3B332C"/>
          </a:solidFill>
          <a:ln w="12700">
            <a:solidFill>
              <a:srgbClr val="3B332C"/>
            </a:solidFill>
            <a:prstDash val="solid"/>
          </a:ln>
        </p:spPr>
      </p:sp>
      <p:sp>
        <p:nvSpPr>
          <p:cNvPr id="49" name="Text 47"/>
          <p:cNvSpPr txBox="1"/>
          <p:nvPr/>
        </p:nvSpPr>
        <p:spPr>
          <a:xfrm>
            <a:off x="10675334"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50" name="Text 48"/>
          <p:cNvSpPr txBox="1"/>
          <p:nvPr/>
        </p:nvSpPr>
        <p:spPr>
          <a:xfrm>
            <a:off x="10347693" y="3108960"/>
            <a:ext cx="1203922" cy="594360"/>
          </a:xfrm>
          <a:prstGeom prst="rect">
            <a:avLst/>
          </a:prstGeom>
          <a:noFill/>
          <a:ln/>
        </p:spPr>
        <p:txBody>
          <a:bodyPr wrap="square" lIns="0" tIns="0" rIns="0" bIns="0" rtlCol="0" anchor="t"/>
          <a:lstStyle/>
          <a:p>
            <a:pPr algn="ctr" indent="0" marL="0">
              <a:buNone/>
            </a:pPr>
            <a:r>
              <a:rPr lang="en-US" sz="1400" b="1" dirty="0">
                <a:solidFill>
                  <a:srgbClr val="3B332C"/>
                </a:solidFill>
                <a:latin typeface="Calibri" pitchFamily="34" charset="0"/>
                <a:ea typeface="Calibri" pitchFamily="34" charset="-122"/>
                <a:cs typeface="Calibri" pitchFamily="34" charset="-120"/>
              </a:rPr>
              <a:t>Business Output</a:t>
            </a:r>
            <a:endParaRPr lang="en-US" sz="1400" dirty="0"/>
          </a:p>
        </p:txBody>
      </p:sp>
      <p:sp>
        <p:nvSpPr>
          <p:cNvPr id="51" name="Text 49"/>
          <p:cNvSpPr txBox="1"/>
          <p:nvPr/>
        </p:nvSpPr>
        <p:spPr>
          <a:xfrm>
            <a:off x="10347693" y="3703320"/>
            <a:ext cx="1203922" cy="594360"/>
          </a:xfrm>
          <a:prstGeom prst="rect">
            <a:avLst/>
          </a:prstGeom>
          <a:noFill/>
          <a:ln/>
        </p:spPr>
        <p:txBody>
          <a:bodyPr wrap="square" lIns="0" tIns="0" rIns="0" bIns="0" rtlCol="0" anchor="t"/>
          <a:lstStyle/>
          <a:p>
            <a:pPr algn="ctr" indent="0" marL="0">
              <a:buNone/>
            </a:pPr>
            <a:r>
              <a:rPr lang="en-US" sz="1200" dirty="0">
                <a:solidFill>
                  <a:srgbClr val="7A6F64"/>
                </a:solidFill>
                <a:latin typeface="Calibri" pitchFamily="34" charset="0"/>
                <a:ea typeface="Calibri" pitchFamily="34" charset="-122"/>
                <a:cs typeface="Calibri" pitchFamily="34" charset="-120"/>
              </a:rPr>
              <a:t>Risk bands in SQL</a:t>
            </a:r>
            <a:endParaRPr lang="en-US" sz="1200" dirty="0"/>
          </a:p>
        </p:txBody>
      </p:sp>
      <p:sp>
        <p:nvSpPr>
          <p:cNvPr id="52" name="Text 50"/>
          <p:cNvSpPr txBox="1"/>
          <p:nvPr/>
        </p:nvSpPr>
        <p:spPr>
          <a:xfrm>
            <a:off x="10347693" y="4434840"/>
            <a:ext cx="1203922" cy="274320"/>
          </a:xfrm>
          <a:prstGeom prst="rect">
            <a:avLst/>
          </a:prstGeom>
          <a:noFill/>
          <a:ln/>
        </p:spPr>
        <p:txBody>
          <a:bodyPr wrap="square" lIns="0" tIns="0" rIns="0" bIns="0" rtlCol="0" anchor="t"/>
          <a:lstStyle/>
          <a:p>
            <a:pPr algn="ctr" indent="0" marL="0">
              <a:buNone/>
            </a:pPr>
            <a:r>
              <a:rPr lang="en-US" sz="1100" b="1" dirty="0">
                <a:solidFill>
                  <a:srgbClr val="3B332C"/>
                </a:solidFill>
                <a:latin typeface="Calibri" pitchFamily="34" charset="0"/>
                <a:ea typeface="Calibri" pitchFamily="34" charset="-122"/>
                <a:cs typeface="Calibri" pitchFamily="34" charset="-120"/>
              </a:rPr>
              <a:t>Python + SQL</a:t>
            </a:r>
            <a:endParaRPr lang="en-US" sz="1100" dirty="0"/>
          </a:p>
        </p:txBody>
      </p:sp>
      <p:sp>
        <p:nvSpPr>
          <p:cNvPr id="53" name="Text 51"/>
          <p:cNvSpPr txBox="1"/>
          <p:nvPr/>
        </p:nvSpPr>
        <p:spPr>
          <a:xfrm>
            <a:off x="640080" y="5440680"/>
            <a:ext cx="10911535" cy="365760"/>
          </a:xfrm>
          <a:prstGeom prst="rect">
            <a:avLst/>
          </a:prstGeom>
          <a:noFill/>
          <a:ln/>
        </p:spPr>
        <p:txBody>
          <a:bodyPr wrap="square" lIns="0" tIns="0" rIns="0" bIns="0" rtlCol="0" anchor="t"/>
          <a:lstStyle/>
          <a:p>
            <a:pPr algn="ctr" indent="0" marL="0">
              <a:buNone/>
            </a:pPr>
            <a:r>
              <a:rPr lang="en-US" sz="1400" i="1" dirty="0">
                <a:solidFill>
                  <a:srgbClr val="7A6F64"/>
                </a:solidFill>
                <a:latin typeface="Calibri" pitchFamily="34" charset="0"/>
                <a:ea typeface="Calibri" pitchFamily="34" charset="-122"/>
                <a:cs typeface="Calibri" pitchFamily="34" charset="-120"/>
              </a:rPr>
              <a:t>R prepares the data and builds the database; Python reads it, trains the models and writes predictions back.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03  FEATURE ENGINEERING</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Turning transactions into customer records</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640080" y="1783080"/>
            <a:ext cx="2194560" cy="274320"/>
          </a:xfrm>
          <a:prstGeom prst="rect">
            <a:avLst/>
          </a:prstGeom>
          <a:noFill/>
          <a:ln/>
        </p:spPr>
        <p:txBody>
          <a:bodyPr wrap="square" lIns="0" tIns="0" rIns="0" bIns="0" rtlCol="0" anchor="t"/>
          <a:lstStyle/>
          <a:p>
            <a:pPr indent="0" marL="0">
              <a:buNone/>
            </a:pPr>
            <a:r>
              <a:rPr lang="en-US" sz="1200" b="1" dirty="0">
                <a:solidFill>
                  <a:srgbClr val="7A6F64"/>
                </a:solidFill>
                <a:latin typeface="Calibri" pitchFamily="34" charset="0"/>
                <a:ea typeface="Calibri" pitchFamily="34" charset="-122"/>
                <a:cs typeface="Calibri" pitchFamily="34" charset="-120"/>
              </a:rPr>
              <a:t>Transaction rows</a:t>
            </a:r>
            <a:endParaRPr lang="en-US" sz="1200" dirty="0"/>
          </a:p>
        </p:txBody>
      </p:sp>
      <p:sp>
        <p:nvSpPr>
          <p:cNvPr id="7" name="Shape 5"/>
          <p:cNvSpPr/>
          <p:nvPr/>
        </p:nvSpPr>
        <p:spPr>
          <a:xfrm>
            <a:off x="640080" y="2148840"/>
            <a:ext cx="2194560" cy="182880"/>
          </a:xfrm>
          <a:prstGeom prst="rect">
            <a:avLst/>
          </a:prstGeom>
          <a:solidFill>
            <a:srgbClr val="E9E0D0"/>
          </a:solidFill>
          <a:ln w="12700">
            <a:solidFill>
              <a:srgbClr val="E9E0D0"/>
            </a:solidFill>
            <a:prstDash val="solid"/>
          </a:ln>
        </p:spPr>
      </p:sp>
      <p:sp>
        <p:nvSpPr>
          <p:cNvPr id="8" name="Shape 6"/>
          <p:cNvSpPr/>
          <p:nvPr/>
        </p:nvSpPr>
        <p:spPr>
          <a:xfrm>
            <a:off x="640080" y="2423160"/>
            <a:ext cx="2194560" cy="182880"/>
          </a:xfrm>
          <a:prstGeom prst="rect">
            <a:avLst/>
          </a:prstGeom>
          <a:solidFill>
            <a:srgbClr val="F0E9DC"/>
          </a:solidFill>
          <a:ln w="12700">
            <a:solidFill>
              <a:srgbClr val="F0E9DC"/>
            </a:solidFill>
            <a:prstDash val="solid"/>
          </a:ln>
        </p:spPr>
      </p:sp>
      <p:sp>
        <p:nvSpPr>
          <p:cNvPr id="9" name="Shape 7"/>
          <p:cNvSpPr/>
          <p:nvPr/>
        </p:nvSpPr>
        <p:spPr>
          <a:xfrm>
            <a:off x="640080" y="2697480"/>
            <a:ext cx="2194560" cy="182880"/>
          </a:xfrm>
          <a:prstGeom prst="rect">
            <a:avLst/>
          </a:prstGeom>
          <a:solidFill>
            <a:srgbClr val="E9E0D0"/>
          </a:solidFill>
          <a:ln w="12700">
            <a:solidFill>
              <a:srgbClr val="E9E0D0"/>
            </a:solidFill>
            <a:prstDash val="solid"/>
          </a:ln>
        </p:spPr>
      </p:sp>
      <p:sp>
        <p:nvSpPr>
          <p:cNvPr id="10" name="Shape 8"/>
          <p:cNvSpPr/>
          <p:nvPr/>
        </p:nvSpPr>
        <p:spPr>
          <a:xfrm>
            <a:off x="640080" y="2971800"/>
            <a:ext cx="2194560" cy="182880"/>
          </a:xfrm>
          <a:prstGeom prst="rect">
            <a:avLst/>
          </a:prstGeom>
          <a:solidFill>
            <a:srgbClr val="F0E9DC"/>
          </a:solidFill>
          <a:ln w="12700">
            <a:solidFill>
              <a:srgbClr val="F0E9DC"/>
            </a:solidFill>
            <a:prstDash val="solid"/>
          </a:ln>
        </p:spPr>
      </p:sp>
      <p:sp>
        <p:nvSpPr>
          <p:cNvPr id="11" name="Shape 9"/>
          <p:cNvSpPr/>
          <p:nvPr/>
        </p:nvSpPr>
        <p:spPr>
          <a:xfrm>
            <a:off x="640080" y="3246120"/>
            <a:ext cx="2194560" cy="182880"/>
          </a:xfrm>
          <a:prstGeom prst="rect">
            <a:avLst/>
          </a:prstGeom>
          <a:solidFill>
            <a:srgbClr val="E9E0D0"/>
          </a:solidFill>
          <a:ln w="12700">
            <a:solidFill>
              <a:srgbClr val="E9E0D0"/>
            </a:solidFill>
            <a:prstDash val="solid"/>
          </a:ln>
        </p:spPr>
      </p:sp>
      <p:sp>
        <p:nvSpPr>
          <p:cNvPr id="12" name="Shape 10"/>
          <p:cNvSpPr/>
          <p:nvPr/>
        </p:nvSpPr>
        <p:spPr>
          <a:xfrm>
            <a:off x="640080" y="3520440"/>
            <a:ext cx="2194560" cy="182880"/>
          </a:xfrm>
          <a:prstGeom prst="rect">
            <a:avLst/>
          </a:prstGeom>
          <a:solidFill>
            <a:srgbClr val="F0E9DC"/>
          </a:solidFill>
          <a:ln w="12700">
            <a:solidFill>
              <a:srgbClr val="F0E9DC"/>
            </a:solidFill>
            <a:prstDash val="solid"/>
          </a:ln>
        </p:spPr>
      </p:sp>
      <p:sp>
        <p:nvSpPr>
          <p:cNvPr id="13" name="Shape 11"/>
          <p:cNvSpPr/>
          <p:nvPr/>
        </p:nvSpPr>
        <p:spPr>
          <a:xfrm>
            <a:off x="640080" y="3794760"/>
            <a:ext cx="2194560" cy="182880"/>
          </a:xfrm>
          <a:prstGeom prst="rect">
            <a:avLst/>
          </a:prstGeom>
          <a:solidFill>
            <a:srgbClr val="E9E0D0"/>
          </a:solidFill>
          <a:ln w="12700">
            <a:solidFill>
              <a:srgbClr val="E9E0D0"/>
            </a:solidFill>
            <a:prstDash val="solid"/>
          </a:ln>
        </p:spPr>
      </p:sp>
      <p:sp>
        <p:nvSpPr>
          <p:cNvPr id="14" name="Shape 12"/>
          <p:cNvSpPr/>
          <p:nvPr/>
        </p:nvSpPr>
        <p:spPr>
          <a:xfrm>
            <a:off x="640080" y="4069080"/>
            <a:ext cx="2194560" cy="182880"/>
          </a:xfrm>
          <a:prstGeom prst="rect">
            <a:avLst/>
          </a:prstGeom>
          <a:solidFill>
            <a:srgbClr val="F0E9DC"/>
          </a:solidFill>
          <a:ln w="12700">
            <a:solidFill>
              <a:srgbClr val="F0E9DC"/>
            </a:solidFill>
            <a:prstDash val="solid"/>
          </a:ln>
        </p:spPr>
      </p:sp>
      <p:sp>
        <p:nvSpPr>
          <p:cNvPr id="15" name="Shape 13"/>
          <p:cNvSpPr/>
          <p:nvPr/>
        </p:nvSpPr>
        <p:spPr>
          <a:xfrm>
            <a:off x="640080" y="4343400"/>
            <a:ext cx="2194560" cy="182880"/>
          </a:xfrm>
          <a:prstGeom prst="rect">
            <a:avLst/>
          </a:prstGeom>
          <a:solidFill>
            <a:srgbClr val="E9E0D0"/>
          </a:solidFill>
          <a:ln w="12700">
            <a:solidFill>
              <a:srgbClr val="E9E0D0"/>
            </a:solidFill>
            <a:prstDash val="solid"/>
          </a:ln>
        </p:spPr>
      </p:sp>
      <p:sp>
        <p:nvSpPr>
          <p:cNvPr id="16" name="Shape 14"/>
          <p:cNvSpPr/>
          <p:nvPr/>
        </p:nvSpPr>
        <p:spPr>
          <a:xfrm>
            <a:off x="640080" y="4617720"/>
            <a:ext cx="2194560" cy="182880"/>
          </a:xfrm>
          <a:prstGeom prst="rect">
            <a:avLst/>
          </a:prstGeom>
          <a:solidFill>
            <a:srgbClr val="F0E9DC"/>
          </a:solidFill>
          <a:ln w="12700">
            <a:solidFill>
              <a:srgbClr val="F0E9DC"/>
            </a:solidFill>
            <a:prstDash val="solid"/>
          </a:ln>
        </p:spPr>
      </p:sp>
      <p:sp>
        <p:nvSpPr>
          <p:cNvPr id="17" name="Shape 15"/>
          <p:cNvSpPr/>
          <p:nvPr/>
        </p:nvSpPr>
        <p:spPr>
          <a:xfrm>
            <a:off x="640080" y="4892040"/>
            <a:ext cx="2194560" cy="182880"/>
          </a:xfrm>
          <a:prstGeom prst="rect">
            <a:avLst/>
          </a:prstGeom>
          <a:solidFill>
            <a:srgbClr val="E9E0D0"/>
          </a:solidFill>
          <a:ln w="12700">
            <a:solidFill>
              <a:srgbClr val="E9E0D0"/>
            </a:solidFill>
            <a:prstDash val="solid"/>
          </a:ln>
        </p:spPr>
      </p:sp>
      <p:sp>
        <p:nvSpPr>
          <p:cNvPr id="18" name="Text 16"/>
          <p:cNvSpPr txBox="1"/>
          <p:nvPr/>
        </p:nvSpPr>
        <p:spPr>
          <a:xfrm>
            <a:off x="640080" y="5212080"/>
            <a:ext cx="2194560" cy="274320"/>
          </a:xfrm>
          <a:prstGeom prst="rect">
            <a:avLst/>
          </a:prstGeom>
          <a:noFill/>
          <a:ln/>
        </p:spPr>
        <p:txBody>
          <a:bodyPr wrap="square" lIns="0" tIns="0" rIns="0" bIns="0" rtlCol="0" anchor="t"/>
          <a:lstStyle/>
          <a:p>
            <a:pPr indent="0" marL="0">
              <a:buNone/>
            </a:pPr>
            <a:r>
              <a:rPr lang="en-US" sz="1300" b="1" dirty="0">
                <a:solidFill>
                  <a:srgbClr val="5E6B4E"/>
                </a:solidFill>
                <a:latin typeface="Calibri" pitchFamily="34" charset="0"/>
                <a:ea typeface="Calibri" pitchFamily="34" charset="-122"/>
                <a:cs typeface="Calibri" pitchFamily="34" charset="-120"/>
              </a:rPr>
              <a:t>779,425 rows</a:t>
            </a:r>
            <a:endParaRPr lang="en-US" sz="1300" dirty="0"/>
          </a:p>
        </p:txBody>
      </p:sp>
      <p:sp>
        <p:nvSpPr>
          <p:cNvPr id="19" name="Shape 17"/>
          <p:cNvSpPr/>
          <p:nvPr/>
        </p:nvSpPr>
        <p:spPr>
          <a:xfrm>
            <a:off x="3017520" y="3611880"/>
            <a:ext cx="731520" cy="0"/>
          </a:xfrm>
          <a:prstGeom prst="line">
            <a:avLst/>
          </a:prstGeom>
          <a:noFill/>
          <a:ln w="19050">
            <a:solidFill>
              <a:srgbClr val="B5694A"/>
            </a:solidFill>
            <a:prstDash val="solid"/>
            <a:tailEnd type="triangle"/>
          </a:ln>
        </p:spPr>
      </p:sp>
      <p:sp>
        <p:nvSpPr>
          <p:cNvPr id="20" name="Text 18"/>
          <p:cNvSpPr txBox="1"/>
          <p:nvPr/>
        </p:nvSpPr>
        <p:spPr>
          <a:xfrm>
            <a:off x="2880360" y="3749040"/>
            <a:ext cx="1005840" cy="457200"/>
          </a:xfrm>
          <a:prstGeom prst="rect">
            <a:avLst/>
          </a:prstGeom>
          <a:noFill/>
          <a:ln/>
        </p:spPr>
        <p:txBody>
          <a:bodyPr wrap="square" lIns="0" tIns="0" rIns="0" bIns="0" rtlCol="0" anchor="t"/>
          <a:lstStyle/>
          <a:p>
            <a:pPr algn="ctr" indent="0" marL="0">
              <a:buNone/>
            </a:pPr>
            <a:r>
              <a:rPr lang="en-US" sz="1000" dirty="0">
                <a:solidFill>
                  <a:srgbClr val="7A6F64"/>
                </a:solidFill>
                <a:latin typeface="Calibri" pitchFamily="34" charset="0"/>
                <a:ea typeface="Calibri" pitchFamily="34" charset="-122"/>
                <a:cs typeface="Calibri" pitchFamily="34" charset="-120"/>
              </a:rPr>
              <a:t>group by customer</a:t>
            </a:r>
            <a:endParaRPr lang="en-US" sz="1000" dirty="0"/>
          </a:p>
        </p:txBody>
      </p:sp>
      <p:sp>
        <p:nvSpPr>
          <p:cNvPr id="21" name="Text 19"/>
          <p:cNvSpPr txBox="1"/>
          <p:nvPr/>
        </p:nvSpPr>
        <p:spPr>
          <a:xfrm>
            <a:off x="3931920" y="1783080"/>
            <a:ext cx="2011680" cy="274320"/>
          </a:xfrm>
          <a:prstGeom prst="rect">
            <a:avLst/>
          </a:prstGeom>
          <a:noFill/>
          <a:ln/>
        </p:spPr>
        <p:txBody>
          <a:bodyPr wrap="square" lIns="0" tIns="0" rIns="0" bIns="0" rtlCol="0" anchor="t"/>
          <a:lstStyle/>
          <a:p>
            <a:pPr indent="0" marL="0">
              <a:buNone/>
            </a:pPr>
            <a:r>
              <a:rPr lang="en-US" sz="1200" b="1" dirty="0">
                <a:solidFill>
                  <a:srgbClr val="7A6F64"/>
                </a:solidFill>
                <a:latin typeface="Calibri" pitchFamily="34" charset="0"/>
                <a:ea typeface="Calibri" pitchFamily="34" charset="-122"/>
                <a:cs typeface="Calibri" pitchFamily="34" charset="-120"/>
              </a:rPr>
              <a:t>Customer record</a:t>
            </a:r>
            <a:endParaRPr lang="en-US" sz="1200" dirty="0"/>
          </a:p>
        </p:txBody>
      </p:sp>
      <p:sp>
        <p:nvSpPr>
          <p:cNvPr id="22" name="Shape 20"/>
          <p:cNvSpPr/>
          <p:nvPr/>
        </p:nvSpPr>
        <p:spPr>
          <a:xfrm>
            <a:off x="3931920" y="3429000"/>
            <a:ext cx="2011680" cy="365760"/>
          </a:xfrm>
          <a:prstGeom prst="rect">
            <a:avLst/>
          </a:prstGeom>
          <a:solidFill>
            <a:srgbClr val="7D8C6A"/>
          </a:solidFill>
          <a:ln w="12700">
            <a:solidFill>
              <a:srgbClr val="7D8C6A"/>
            </a:solidFill>
            <a:prstDash val="solid"/>
          </a:ln>
        </p:spPr>
      </p:sp>
      <p:sp>
        <p:nvSpPr>
          <p:cNvPr id="23" name="Text 21"/>
          <p:cNvSpPr txBox="1"/>
          <p:nvPr/>
        </p:nvSpPr>
        <p:spPr>
          <a:xfrm>
            <a:off x="3931920" y="3429000"/>
            <a:ext cx="20116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row per customer</a:t>
            </a:r>
            <a:endParaRPr lang="en-US" sz="1100" dirty="0"/>
          </a:p>
        </p:txBody>
      </p:sp>
      <p:sp>
        <p:nvSpPr>
          <p:cNvPr id="24" name="Text 22"/>
          <p:cNvSpPr txBox="1"/>
          <p:nvPr/>
        </p:nvSpPr>
        <p:spPr>
          <a:xfrm>
            <a:off x="3931920" y="5212080"/>
            <a:ext cx="2011680" cy="274320"/>
          </a:xfrm>
          <a:prstGeom prst="rect">
            <a:avLst/>
          </a:prstGeom>
          <a:noFill/>
          <a:ln/>
        </p:spPr>
        <p:txBody>
          <a:bodyPr wrap="square" lIns="0" tIns="0" rIns="0" bIns="0" rtlCol="0" anchor="t"/>
          <a:lstStyle/>
          <a:p>
            <a:pPr indent="0" marL="0">
              <a:buNone/>
            </a:pPr>
            <a:r>
              <a:rPr lang="en-US" sz="1300" b="1" dirty="0">
                <a:solidFill>
                  <a:srgbClr val="B5694A"/>
                </a:solidFill>
                <a:latin typeface="Calibri" pitchFamily="34" charset="0"/>
                <a:ea typeface="Calibri" pitchFamily="34" charset="-122"/>
                <a:cs typeface="Calibri" pitchFamily="34" charset="-120"/>
              </a:rPr>
              <a:t>5,281 customers</a:t>
            </a:r>
            <a:endParaRPr lang="en-US" sz="1300" dirty="0"/>
          </a:p>
        </p:txBody>
      </p:sp>
      <p:sp>
        <p:nvSpPr>
          <p:cNvPr id="25" name="Text 23"/>
          <p:cNvSpPr txBox="1"/>
          <p:nvPr/>
        </p:nvSpPr>
        <p:spPr>
          <a:xfrm>
            <a:off x="6583680" y="1783080"/>
            <a:ext cx="640080" cy="731520"/>
          </a:xfrm>
          <a:prstGeom prst="rect">
            <a:avLst/>
          </a:prstGeom>
          <a:noFill/>
          <a:ln/>
        </p:spPr>
        <p:txBody>
          <a:bodyPr wrap="square" lIns="0" tIns="0" rIns="0" bIns="0" rtlCol="0" anchor="t"/>
          <a:lstStyle/>
          <a:p>
            <a:pPr indent="0" marL="0">
              <a:buNone/>
            </a:pPr>
            <a:r>
              <a:rPr lang="en-US" sz="4000" b="1" dirty="0">
                <a:solidFill>
                  <a:srgbClr val="5E6B4E"/>
                </a:solidFill>
                <a:latin typeface="Calibri" pitchFamily="34" charset="0"/>
                <a:ea typeface="Calibri" pitchFamily="34" charset="-122"/>
                <a:cs typeface="Calibri" pitchFamily="34" charset="-120"/>
              </a:rPr>
              <a:t>R</a:t>
            </a:r>
            <a:endParaRPr lang="en-US" sz="4000" dirty="0"/>
          </a:p>
        </p:txBody>
      </p:sp>
      <p:sp>
        <p:nvSpPr>
          <p:cNvPr id="26" name="Text 24"/>
          <p:cNvSpPr txBox="1"/>
          <p:nvPr/>
        </p:nvSpPr>
        <p:spPr>
          <a:xfrm>
            <a:off x="7315200" y="1828800"/>
            <a:ext cx="4206240" cy="320040"/>
          </a:xfrm>
          <a:prstGeom prst="rect">
            <a:avLst/>
          </a:prstGeom>
          <a:noFill/>
          <a:ln/>
        </p:spPr>
        <p:txBody>
          <a:bodyPr wrap="square" lIns="0" tIns="0" rIns="0" bIns="0" rtlCol="0" anchor="t"/>
          <a:lstStyle/>
          <a:p>
            <a:pPr indent="0" marL="0">
              <a:buNone/>
            </a:pPr>
            <a:r>
              <a:rPr lang="en-US" sz="1700" b="1" dirty="0">
                <a:solidFill>
                  <a:srgbClr val="3B332C"/>
                </a:solidFill>
                <a:latin typeface="Calibri" pitchFamily="34" charset="0"/>
                <a:ea typeface="Calibri" pitchFamily="34" charset="-122"/>
                <a:cs typeface="Calibri" pitchFamily="34" charset="-120"/>
              </a:rPr>
              <a:t>Recency</a:t>
            </a:r>
            <a:endParaRPr lang="en-US" sz="1700" dirty="0"/>
          </a:p>
        </p:txBody>
      </p:sp>
      <p:sp>
        <p:nvSpPr>
          <p:cNvPr id="27" name="Text 25"/>
          <p:cNvSpPr txBox="1"/>
          <p:nvPr/>
        </p:nvSpPr>
        <p:spPr>
          <a:xfrm>
            <a:off x="7315200" y="2148840"/>
            <a:ext cx="42062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How recently the customer purchased (days before cutoff)</a:t>
            </a:r>
            <a:endParaRPr lang="en-US" sz="1300" dirty="0"/>
          </a:p>
        </p:txBody>
      </p:sp>
      <p:sp>
        <p:nvSpPr>
          <p:cNvPr id="28" name="Text 26"/>
          <p:cNvSpPr txBox="1"/>
          <p:nvPr/>
        </p:nvSpPr>
        <p:spPr>
          <a:xfrm>
            <a:off x="6583680" y="2697480"/>
            <a:ext cx="640080" cy="731520"/>
          </a:xfrm>
          <a:prstGeom prst="rect">
            <a:avLst/>
          </a:prstGeom>
          <a:noFill/>
          <a:ln/>
        </p:spPr>
        <p:txBody>
          <a:bodyPr wrap="square" lIns="0" tIns="0" rIns="0" bIns="0" rtlCol="0" anchor="t"/>
          <a:lstStyle/>
          <a:p>
            <a:pPr indent="0" marL="0">
              <a:buNone/>
            </a:pPr>
            <a:r>
              <a:rPr lang="en-US" sz="4000" b="1" dirty="0">
                <a:solidFill>
                  <a:srgbClr val="C9A44C"/>
                </a:solidFill>
                <a:latin typeface="Calibri" pitchFamily="34" charset="0"/>
                <a:ea typeface="Calibri" pitchFamily="34" charset="-122"/>
                <a:cs typeface="Calibri" pitchFamily="34" charset="-120"/>
              </a:rPr>
              <a:t>F</a:t>
            </a:r>
            <a:endParaRPr lang="en-US" sz="4000" dirty="0"/>
          </a:p>
        </p:txBody>
      </p:sp>
      <p:sp>
        <p:nvSpPr>
          <p:cNvPr id="29" name="Text 27"/>
          <p:cNvSpPr txBox="1"/>
          <p:nvPr/>
        </p:nvSpPr>
        <p:spPr>
          <a:xfrm>
            <a:off x="7315200" y="2743200"/>
            <a:ext cx="4206240" cy="320040"/>
          </a:xfrm>
          <a:prstGeom prst="rect">
            <a:avLst/>
          </a:prstGeom>
          <a:noFill/>
          <a:ln/>
        </p:spPr>
        <p:txBody>
          <a:bodyPr wrap="square" lIns="0" tIns="0" rIns="0" bIns="0" rtlCol="0" anchor="t"/>
          <a:lstStyle/>
          <a:p>
            <a:pPr indent="0" marL="0">
              <a:buNone/>
            </a:pPr>
            <a:r>
              <a:rPr lang="en-US" sz="1700" b="1" dirty="0">
                <a:solidFill>
                  <a:srgbClr val="3B332C"/>
                </a:solidFill>
                <a:latin typeface="Calibri" pitchFamily="34" charset="0"/>
                <a:ea typeface="Calibri" pitchFamily="34" charset="-122"/>
                <a:cs typeface="Calibri" pitchFamily="34" charset="-120"/>
              </a:rPr>
              <a:t>Frequency</a:t>
            </a:r>
            <a:endParaRPr lang="en-US" sz="1700" dirty="0"/>
          </a:p>
        </p:txBody>
      </p:sp>
      <p:sp>
        <p:nvSpPr>
          <p:cNvPr id="30" name="Text 28"/>
          <p:cNvSpPr txBox="1"/>
          <p:nvPr/>
        </p:nvSpPr>
        <p:spPr>
          <a:xfrm>
            <a:off x="7315200" y="3063240"/>
            <a:ext cx="42062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How often the customer buys (distinct invoices)</a:t>
            </a:r>
            <a:endParaRPr lang="en-US" sz="1300" dirty="0"/>
          </a:p>
        </p:txBody>
      </p:sp>
      <p:sp>
        <p:nvSpPr>
          <p:cNvPr id="31" name="Text 29"/>
          <p:cNvSpPr txBox="1"/>
          <p:nvPr/>
        </p:nvSpPr>
        <p:spPr>
          <a:xfrm>
            <a:off x="6583680" y="3611880"/>
            <a:ext cx="640080" cy="731520"/>
          </a:xfrm>
          <a:prstGeom prst="rect">
            <a:avLst/>
          </a:prstGeom>
          <a:noFill/>
          <a:ln/>
        </p:spPr>
        <p:txBody>
          <a:bodyPr wrap="square" lIns="0" tIns="0" rIns="0" bIns="0" rtlCol="0" anchor="t"/>
          <a:lstStyle/>
          <a:p>
            <a:pPr indent="0" marL="0">
              <a:buNone/>
            </a:pPr>
            <a:r>
              <a:rPr lang="en-US" sz="4000" b="1" dirty="0">
                <a:solidFill>
                  <a:srgbClr val="B5694A"/>
                </a:solidFill>
                <a:latin typeface="Calibri" pitchFamily="34" charset="0"/>
                <a:ea typeface="Calibri" pitchFamily="34" charset="-122"/>
                <a:cs typeface="Calibri" pitchFamily="34" charset="-120"/>
              </a:rPr>
              <a:t>M</a:t>
            </a:r>
            <a:endParaRPr lang="en-US" sz="4000" dirty="0"/>
          </a:p>
        </p:txBody>
      </p:sp>
      <p:sp>
        <p:nvSpPr>
          <p:cNvPr id="32" name="Text 30"/>
          <p:cNvSpPr txBox="1"/>
          <p:nvPr/>
        </p:nvSpPr>
        <p:spPr>
          <a:xfrm>
            <a:off x="7315200" y="3657600"/>
            <a:ext cx="4206240" cy="320040"/>
          </a:xfrm>
          <a:prstGeom prst="rect">
            <a:avLst/>
          </a:prstGeom>
          <a:noFill/>
          <a:ln/>
        </p:spPr>
        <p:txBody>
          <a:bodyPr wrap="square" lIns="0" tIns="0" rIns="0" bIns="0" rtlCol="0" anchor="t"/>
          <a:lstStyle/>
          <a:p>
            <a:pPr indent="0" marL="0">
              <a:buNone/>
            </a:pPr>
            <a:r>
              <a:rPr lang="en-US" sz="1700" b="1" dirty="0">
                <a:solidFill>
                  <a:srgbClr val="3B332C"/>
                </a:solidFill>
                <a:latin typeface="Calibri" pitchFamily="34" charset="0"/>
                <a:ea typeface="Calibri" pitchFamily="34" charset="-122"/>
                <a:cs typeface="Calibri" pitchFamily="34" charset="-120"/>
              </a:rPr>
              <a:t>Monetary</a:t>
            </a:r>
            <a:endParaRPr lang="en-US" sz="1700" dirty="0"/>
          </a:p>
        </p:txBody>
      </p:sp>
      <p:sp>
        <p:nvSpPr>
          <p:cNvPr id="33" name="Text 31"/>
          <p:cNvSpPr txBox="1"/>
          <p:nvPr/>
        </p:nvSpPr>
        <p:spPr>
          <a:xfrm>
            <a:off x="7315200" y="3977640"/>
            <a:ext cx="42062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How much the customer spends (quantity x price)</a:t>
            </a:r>
            <a:endParaRPr lang="en-US" sz="1300" dirty="0"/>
          </a:p>
        </p:txBody>
      </p:sp>
      <p:sp>
        <p:nvSpPr>
          <p:cNvPr id="34" name="Text 32"/>
          <p:cNvSpPr txBox="1"/>
          <p:nvPr/>
        </p:nvSpPr>
        <p:spPr>
          <a:xfrm>
            <a:off x="6583680" y="4572000"/>
            <a:ext cx="4572000" cy="274320"/>
          </a:xfrm>
          <a:prstGeom prst="rect">
            <a:avLst/>
          </a:prstGeom>
          <a:noFill/>
          <a:ln/>
        </p:spPr>
        <p:txBody>
          <a:bodyPr wrap="square" lIns="0" tIns="0" rIns="0" bIns="0" rtlCol="0" anchor="t"/>
          <a:lstStyle/>
          <a:p>
            <a:pPr indent="0" marL="0">
              <a:buNone/>
            </a:pPr>
            <a:r>
              <a:rPr lang="en-US" sz="1200" b="1" dirty="0">
                <a:solidFill>
                  <a:srgbClr val="7A6F64"/>
                </a:solidFill>
                <a:latin typeface="Calibri" pitchFamily="34" charset="0"/>
                <a:ea typeface="Calibri" pitchFamily="34" charset="-122"/>
                <a:cs typeface="Calibri" pitchFamily="34" charset="-120"/>
              </a:rPr>
              <a:t>Also derived</a:t>
            </a:r>
            <a:endParaRPr lang="en-US" sz="1200" dirty="0"/>
          </a:p>
        </p:txBody>
      </p:sp>
      <p:sp>
        <p:nvSpPr>
          <p:cNvPr id="35" name="Text 33"/>
          <p:cNvSpPr txBox="1"/>
          <p:nvPr/>
        </p:nvSpPr>
        <p:spPr>
          <a:xfrm>
            <a:off x="6583680" y="4892040"/>
            <a:ext cx="5029200" cy="640080"/>
          </a:xfrm>
          <a:prstGeom prst="rect">
            <a:avLst/>
          </a:prstGeom>
          <a:noFill/>
          <a:ln/>
        </p:spPr>
        <p:txBody>
          <a:bodyPr wrap="square" lIns="0" tIns="0" rIns="0" bIns="0" rtlCol="0" anchor="t"/>
          <a:lstStyle/>
          <a:p>
            <a:pPr indent="0" marL="0">
              <a:buNone/>
            </a:pPr>
            <a:r>
              <a:rPr lang="en-US" sz="1400" dirty="0">
                <a:solidFill>
                  <a:srgbClr val="3B332C"/>
                </a:solidFill>
                <a:latin typeface="Calibri" pitchFamily="34" charset="0"/>
                <a:ea typeface="Calibri" pitchFamily="34" charset="-122"/>
                <a:cs typeface="Calibri" pitchFamily="34" charset="-120"/>
              </a:rPr>
              <a:t>AvgOrderValue  ·  AvgQuantity  ·  TotalQuantity  ·  OutlierOrders  ·  Country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04  PREDICTION TASKS</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Three questions, three targets</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640080" y="1783080"/>
            <a:ext cx="548640" cy="548640"/>
          </a:xfrm>
          <a:prstGeom prst="rect">
            <a:avLst/>
          </a:prstGeom>
          <a:noFill/>
          <a:ln/>
        </p:spPr>
        <p:txBody>
          <a:bodyPr wrap="square" lIns="0" tIns="0" rIns="0" bIns="0" rtlCol="0" anchor="t"/>
          <a:lstStyle/>
          <a:p>
            <a:pPr indent="0" marL="0">
              <a:buNone/>
            </a:pPr>
            <a:r>
              <a:rPr lang="en-US" sz="3000" b="1" dirty="0">
                <a:solidFill>
                  <a:srgbClr val="D6CCBB"/>
                </a:solidFill>
                <a:latin typeface="Calibri" pitchFamily="34" charset="0"/>
                <a:ea typeface="Calibri" pitchFamily="34" charset="-122"/>
                <a:cs typeface="Calibri" pitchFamily="34" charset="-120"/>
              </a:rPr>
              <a:t>1</a:t>
            </a:r>
            <a:endParaRPr lang="en-US" sz="3000" dirty="0"/>
          </a:p>
        </p:txBody>
      </p:sp>
      <p:sp>
        <p:nvSpPr>
          <p:cNvPr id="7" name="Text 5"/>
          <p:cNvSpPr txBox="1"/>
          <p:nvPr/>
        </p:nvSpPr>
        <p:spPr>
          <a:xfrm>
            <a:off x="640080" y="2331720"/>
            <a:ext cx="3383280" cy="411480"/>
          </a:xfrm>
          <a:prstGeom prst="rect">
            <a:avLst/>
          </a:prstGeom>
          <a:noFill/>
          <a:ln/>
        </p:spPr>
        <p:txBody>
          <a:bodyPr wrap="square" lIns="0" tIns="0" rIns="0" bIns="0" rtlCol="0" anchor="t"/>
          <a:lstStyle/>
          <a:p>
            <a:pPr indent="0" marL="0">
              <a:buNone/>
            </a:pPr>
            <a:r>
              <a:rPr lang="en-US" sz="2000" b="1" dirty="0">
                <a:solidFill>
                  <a:srgbClr val="3B332C"/>
                </a:solidFill>
                <a:latin typeface="Calibri" pitchFamily="34" charset="0"/>
                <a:ea typeface="Calibri" pitchFamily="34" charset="-122"/>
                <a:cs typeface="Calibri" pitchFamily="34" charset="-120"/>
              </a:rPr>
              <a:t>Churn</a:t>
            </a:r>
            <a:endParaRPr lang="en-US" sz="2000" dirty="0"/>
          </a:p>
        </p:txBody>
      </p:sp>
      <p:sp>
        <p:nvSpPr>
          <p:cNvPr id="8" name="Text 6"/>
          <p:cNvSpPr txBox="1"/>
          <p:nvPr/>
        </p:nvSpPr>
        <p:spPr>
          <a:xfrm>
            <a:off x="640080" y="2788920"/>
            <a:ext cx="3383280" cy="68580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No purchase in the 90 days after the cutoff</a:t>
            </a:r>
            <a:endParaRPr lang="en-US" sz="1400" dirty="0"/>
          </a:p>
        </p:txBody>
      </p:sp>
      <p:sp>
        <p:nvSpPr>
          <p:cNvPr id="9" name="Shape 7"/>
          <p:cNvSpPr/>
          <p:nvPr/>
        </p:nvSpPr>
        <p:spPr>
          <a:xfrm>
            <a:off x="640080" y="3703320"/>
            <a:ext cx="1914907" cy="411480"/>
          </a:xfrm>
          <a:prstGeom prst="rect">
            <a:avLst/>
          </a:prstGeom>
          <a:solidFill>
            <a:srgbClr val="B5694A"/>
          </a:solidFill>
          <a:ln w="12700">
            <a:solidFill>
              <a:srgbClr val="B5694A"/>
            </a:solidFill>
            <a:prstDash val="solid"/>
          </a:ln>
        </p:spPr>
      </p:sp>
      <p:sp>
        <p:nvSpPr>
          <p:cNvPr id="10" name="Shape 8"/>
          <p:cNvSpPr/>
          <p:nvPr/>
        </p:nvSpPr>
        <p:spPr>
          <a:xfrm>
            <a:off x="2554987" y="3703320"/>
            <a:ext cx="1468373" cy="411480"/>
          </a:xfrm>
          <a:prstGeom prst="rect">
            <a:avLst/>
          </a:prstGeom>
          <a:solidFill>
            <a:srgbClr val="7D8C6A"/>
          </a:solidFill>
          <a:ln w="12700">
            <a:solidFill>
              <a:srgbClr val="7D8C6A"/>
            </a:solidFill>
            <a:prstDash val="solid"/>
          </a:ln>
        </p:spPr>
      </p:sp>
      <p:sp>
        <p:nvSpPr>
          <p:cNvPr id="11" name="Text 9"/>
          <p:cNvSpPr txBox="1"/>
          <p:nvPr/>
        </p:nvSpPr>
        <p:spPr>
          <a:xfrm>
            <a:off x="640080" y="4297680"/>
            <a:ext cx="3383280" cy="1097280"/>
          </a:xfrm>
          <a:prstGeom prst="rect">
            <a:avLst/>
          </a:prstGeom>
          <a:noFill/>
          <a:ln/>
        </p:spPr>
        <p:txBody>
          <a:bodyPr wrap="square" lIns="0" tIns="0" rIns="0" bIns="0" rtlCol="0" anchor="t"/>
          <a:lstStyle/>
          <a:p>
            <a:pPr indent="0" marL="0">
              <a:spcAft>
                <a:spcPts val="200"/>
              </a:spcAft>
              <a:buNone/>
            </a:pPr>
            <a:r>
              <a:rPr lang="en-US" sz="1300" dirty="0">
                <a:solidFill>
                  <a:srgbClr val="3B332C"/>
                </a:solidFill>
                <a:latin typeface="Calibri" pitchFamily="34" charset="0"/>
                <a:ea typeface="Calibri" pitchFamily="34" charset="-122"/>
                <a:cs typeface="Calibri" pitchFamily="34" charset="-120"/>
              </a:rPr>
              <a:t>Churned: 2,989</a:t>
            </a:r>
            <a:endParaRPr lang="en-US" sz="1300" dirty="0"/>
          </a:p>
          <a:p>
            <a:pPr indent="0" marL="0">
              <a:spcAft>
                <a:spcPts val="200"/>
              </a:spcAft>
              <a:buNone/>
            </a:pPr>
            <a:r>
              <a:rPr lang="en-US" sz="1300" dirty="0">
                <a:solidFill>
                  <a:srgbClr val="3B332C"/>
                </a:solidFill>
                <a:latin typeface="Calibri" pitchFamily="34" charset="0"/>
                <a:ea typeface="Calibri" pitchFamily="34" charset="-122"/>
                <a:cs typeface="Calibri" pitchFamily="34" charset="-120"/>
              </a:rPr>
              <a:t>Retained: 2,292</a:t>
            </a:r>
            <a:endParaRPr lang="en-US" sz="1300" dirty="0"/>
          </a:p>
        </p:txBody>
      </p:sp>
      <p:sp>
        <p:nvSpPr>
          <p:cNvPr id="12" name="Text 10"/>
          <p:cNvSpPr txBox="1"/>
          <p:nvPr/>
        </p:nvSpPr>
        <p:spPr>
          <a:xfrm>
            <a:off x="640080" y="5440680"/>
            <a:ext cx="3383280" cy="320040"/>
          </a:xfrm>
          <a:prstGeom prst="rect">
            <a:avLst/>
          </a:prstGeom>
          <a:noFill/>
          <a:ln/>
        </p:spPr>
        <p:txBody>
          <a:bodyPr wrap="square" lIns="0" tIns="0" rIns="0" bIns="0" rtlCol="0" anchor="t"/>
          <a:lstStyle/>
          <a:p>
            <a:pPr indent="0" marL="0">
              <a:buNone/>
            </a:pPr>
            <a:r>
              <a:rPr lang="en-US" sz="1200" i="1" dirty="0">
                <a:solidFill>
                  <a:srgbClr val="B5694A"/>
                </a:solidFill>
                <a:latin typeface="Calibri" pitchFamily="34" charset="0"/>
                <a:ea typeface="Calibri" pitchFamily="34" charset="-122"/>
                <a:cs typeface="Calibri" pitchFamily="34" charset="-120"/>
              </a:rPr>
              <a:t>Close to balanced</a:t>
            </a:r>
            <a:endParaRPr lang="en-US" sz="1200" dirty="0"/>
          </a:p>
        </p:txBody>
      </p:sp>
      <p:sp>
        <p:nvSpPr>
          <p:cNvPr id="13" name="Text 11"/>
          <p:cNvSpPr txBox="1"/>
          <p:nvPr/>
        </p:nvSpPr>
        <p:spPr>
          <a:xfrm>
            <a:off x="4389120" y="1783080"/>
            <a:ext cx="548640" cy="548640"/>
          </a:xfrm>
          <a:prstGeom prst="rect">
            <a:avLst/>
          </a:prstGeom>
          <a:noFill/>
          <a:ln/>
        </p:spPr>
        <p:txBody>
          <a:bodyPr wrap="square" lIns="0" tIns="0" rIns="0" bIns="0" rtlCol="0" anchor="t"/>
          <a:lstStyle/>
          <a:p>
            <a:pPr indent="0" marL="0">
              <a:buNone/>
            </a:pPr>
            <a:r>
              <a:rPr lang="en-US" sz="3000" b="1" dirty="0">
                <a:solidFill>
                  <a:srgbClr val="D6CCBB"/>
                </a:solidFill>
                <a:latin typeface="Calibri" pitchFamily="34" charset="0"/>
                <a:ea typeface="Calibri" pitchFamily="34" charset="-122"/>
                <a:cs typeface="Calibri" pitchFamily="34" charset="-120"/>
              </a:rPr>
              <a:t>2</a:t>
            </a:r>
            <a:endParaRPr lang="en-US" sz="3000" dirty="0"/>
          </a:p>
        </p:txBody>
      </p:sp>
      <p:sp>
        <p:nvSpPr>
          <p:cNvPr id="14" name="Text 12"/>
          <p:cNvSpPr txBox="1"/>
          <p:nvPr/>
        </p:nvSpPr>
        <p:spPr>
          <a:xfrm>
            <a:off x="4389120" y="2331720"/>
            <a:ext cx="3383280" cy="411480"/>
          </a:xfrm>
          <a:prstGeom prst="rect">
            <a:avLst/>
          </a:prstGeom>
          <a:noFill/>
          <a:ln/>
        </p:spPr>
        <p:txBody>
          <a:bodyPr wrap="square" lIns="0" tIns="0" rIns="0" bIns="0" rtlCol="0" anchor="t"/>
          <a:lstStyle/>
          <a:p>
            <a:pPr indent="0" marL="0">
              <a:buNone/>
            </a:pPr>
            <a:r>
              <a:rPr lang="en-US" sz="2000" b="1" dirty="0">
                <a:solidFill>
                  <a:srgbClr val="3B332C"/>
                </a:solidFill>
                <a:latin typeface="Calibri" pitchFamily="34" charset="0"/>
                <a:ea typeface="Calibri" pitchFamily="34" charset="-122"/>
                <a:cs typeface="Calibri" pitchFamily="34" charset="-120"/>
              </a:rPr>
              <a:t>High-value customer</a:t>
            </a:r>
            <a:endParaRPr lang="en-US" sz="2000" dirty="0"/>
          </a:p>
        </p:txBody>
      </p:sp>
      <p:sp>
        <p:nvSpPr>
          <p:cNvPr id="15" name="Text 13"/>
          <p:cNvSpPr txBox="1"/>
          <p:nvPr/>
        </p:nvSpPr>
        <p:spPr>
          <a:xfrm>
            <a:off x="4389120" y="2788920"/>
            <a:ext cx="3383280" cy="68580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Top 20% of customers by Monetary value</a:t>
            </a:r>
            <a:endParaRPr lang="en-US" sz="1400" dirty="0"/>
          </a:p>
        </p:txBody>
      </p:sp>
      <p:sp>
        <p:nvSpPr>
          <p:cNvPr id="16" name="Shape 14"/>
          <p:cNvSpPr/>
          <p:nvPr/>
        </p:nvSpPr>
        <p:spPr>
          <a:xfrm>
            <a:off x="4389120" y="3703320"/>
            <a:ext cx="677169" cy="411480"/>
          </a:xfrm>
          <a:prstGeom prst="rect">
            <a:avLst/>
          </a:prstGeom>
          <a:solidFill>
            <a:srgbClr val="C9A44C"/>
          </a:solidFill>
          <a:ln w="12700">
            <a:solidFill>
              <a:srgbClr val="C9A44C"/>
            </a:solidFill>
            <a:prstDash val="solid"/>
          </a:ln>
        </p:spPr>
      </p:sp>
      <p:sp>
        <p:nvSpPr>
          <p:cNvPr id="17" name="Shape 15"/>
          <p:cNvSpPr/>
          <p:nvPr/>
        </p:nvSpPr>
        <p:spPr>
          <a:xfrm>
            <a:off x="5066289" y="3703320"/>
            <a:ext cx="2706111" cy="411480"/>
          </a:xfrm>
          <a:prstGeom prst="rect">
            <a:avLst/>
          </a:prstGeom>
          <a:solidFill>
            <a:srgbClr val="E9E0D0"/>
          </a:solidFill>
          <a:ln w="12700">
            <a:solidFill>
              <a:srgbClr val="E9E0D0"/>
            </a:solidFill>
            <a:prstDash val="solid"/>
          </a:ln>
        </p:spPr>
      </p:sp>
      <p:sp>
        <p:nvSpPr>
          <p:cNvPr id="18" name="Text 16"/>
          <p:cNvSpPr txBox="1"/>
          <p:nvPr/>
        </p:nvSpPr>
        <p:spPr>
          <a:xfrm>
            <a:off x="4389120" y="4297680"/>
            <a:ext cx="3383280" cy="1097280"/>
          </a:xfrm>
          <a:prstGeom prst="rect">
            <a:avLst/>
          </a:prstGeom>
          <a:noFill/>
          <a:ln/>
        </p:spPr>
        <p:txBody>
          <a:bodyPr wrap="square" lIns="0" tIns="0" rIns="0" bIns="0" rtlCol="0" anchor="t"/>
          <a:lstStyle/>
          <a:p>
            <a:pPr indent="0" marL="0">
              <a:spcAft>
                <a:spcPts val="200"/>
              </a:spcAft>
              <a:buNone/>
            </a:pPr>
            <a:r>
              <a:rPr lang="en-US" sz="1300" dirty="0">
                <a:solidFill>
                  <a:srgbClr val="3B332C"/>
                </a:solidFill>
                <a:latin typeface="Calibri" pitchFamily="34" charset="0"/>
                <a:ea typeface="Calibri" pitchFamily="34" charset="-122"/>
                <a:cs typeface="Calibri" pitchFamily="34" charset="-120"/>
              </a:rPr>
              <a:t>High-value: 1,057</a:t>
            </a:r>
            <a:endParaRPr lang="en-US" sz="1300" dirty="0"/>
          </a:p>
          <a:p>
            <a:pPr indent="0" marL="0">
              <a:spcAft>
                <a:spcPts val="200"/>
              </a:spcAft>
              <a:buNone/>
            </a:pPr>
            <a:r>
              <a:rPr lang="en-US" sz="1300" dirty="0">
                <a:solidFill>
                  <a:srgbClr val="3B332C"/>
                </a:solidFill>
                <a:latin typeface="Calibri" pitchFamily="34" charset="0"/>
                <a:ea typeface="Calibri" pitchFamily="34" charset="-122"/>
                <a:cs typeface="Calibri" pitchFamily="34" charset="-120"/>
              </a:rPr>
              <a:t>Standard: 4,224</a:t>
            </a:r>
            <a:endParaRPr lang="en-US" sz="1300" dirty="0"/>
          </a:p>
        </p:txBody>
      </p:sp>
      <p:sp>
        <p:nvSpPr>
          <p:cNvPr id="19" name="Text 17"/>
          <p:cNvSpPr txBox="1"/>
          <p:nvPr/>
        </p:nvSpPr>
        <p:spPr>
          <a:xfrm>
            <a:off x="4389120" y="5440680"/>
            <a:ext cx="3383280" cy="320040"/>
          </a:xfrm>
          <a:prstGeom prst="rect">
            <a:avLst/>
          </a:prstGeom>
          <a:noFill/>
          <a:ln/>
        </p:spPr>
        <p:txBody>
          <a:bodyPr wrap="square" lIns="0" tIns="0" rIns="0" bIns="0" rtlCol="0" anchor="t"/>
          <a:lstStyle/>
          <a:p>
            <a:pPr indent="0" marL="0">
              <a:buNone/>
            </a:pPr>
            <a:r>
              <a:rPr lang="en-US" sz="1200" i="1" dirty="0">
                <a:solidFill>
                  <a:srgbClr val="B5694A"/>
                </a:solidFill>
                <a:latin typeface="Calibri" pitchFamily="34" charset="0"/>
                <a:ea typeface="Calibri" pitchFamily="34" charset="-122"/>
                <a:cs typeface="Calibri" pitchFamily="34" charset="-120"/>
              </a:rPr>
              <a:t>About 1 : 4</a:t>
            </a:r>
            <a:endParaRPr lang="en-US" sz="1200" dirty="0"/>
          </a:p>
        </p:txBody>
      </p:sp>
      <p:sp>
        <p:nvSpPr>
          <p:cNvPr id="20" name="Text 18"/>
          <p:cNvSpPr txBox="1"/>
          <p:nvPr/>
        </p:nvSpPr>
        <p:spPr>
          <a:xfrm>
            <a:off x="8138160" y="1783080"/>
            <a:ext cx="548640" cy="548640"/>
          </a:xfrm>
          <a:prstGeom prst="rect">
            <a:avLst/>
          </a:prstGeom>
          <a:noFill/>
          <a:ln/>
        </p:spPr>
        <p:txBody>
          <a:bodyPr wrap="square" lIns="0" tIns="0" rIns="0" bIns="0" rtlCol="0" anchor="t"/>
          <a:lstStyle/>
          <a:p>
            <a:pPr indent="0" marL="0">
              <a:buNone/>
            </a:pPr>
            <a:r>
              <a:rPr lang="en-US" sz="3000" b="1" dirty="0">
                <a:solidFill>
                  <a:srgbClr val="D6CCBB"/>
                </a:solidFill>
                <a:latin typeface="Calibri" pitchFamily="34" charset="0"/>
                <a:ea typeface="Calibri" pitchFamily="34" charset="-122"/>
                <a:cs typeface="Calibri" pitchFamily="34" charset="-120"/>
              </a:rPr>
              <a:t>3</a:t>
            </a:r>
            <a:endParaRPr lang="en-US" sz="3000" dirty="0"/>
          </a:p>
        </p:txBody>
      </p:sp>
      <p:sp>
        <p:nvSpPr>
          <p:cNvPr id="21" name="Text 19"/>
          <p:cNvSpPr txBox="1"/>
          <p:nvPr/>
        </p:nvSpPr>
        <p:spPr>
          <a:xfrm>
            <a:off x="8138160" y="2331720"/>
            <a:ext cx="3383280" cy="411480"/>
          </a:xfrm>
          <a:prstGeom prst="rect">
            <a:avLst/>
          </a:prstGeom>
          <a:noFill/>
          <a:ln/>
        </p:spPr>
        <p:txBody>
          <a:bodyPr wrap="square" lIns="0" tIns="0" rIns="0" bIns="0" rtlCol="0" anchor="t"/>
          <a:lstStyle/>
          <a:p>
            <a:pPr indent="0" marL="0">
              <a:buNone/>
            </a:pPr>
            <a:r>
              <a:rPr lang="en-US" sz="2000" b="1" dirty="0">
                <a:solidFill>
                  <a:srgbClr val="3B332C"/>
                </a:solidFill>
                <a:latin typeface="Calibri" pitchFamily="34" charset="0"/>
                <a:ea typeface="Calibri" pitchFamily="34" charset="-122"/>
                <a:cs typeface="Calibri" pitchFamily="34" charset="-120"/>
              </a:rPr>
              <a:t>Customer segment</a:t>
            </a:r>
            <a:endParaRPr lang="en-US" sz="2000" dirty="0"/>
          </a:p>
        </p:txBody>
      </p:sp>
      <p:sp>
        <p:nvSpPr>
          <p:cNvPr id="22" name="Text 20"/>
          <p:cNvSpPr txBox="1"/>
          <p:nvPr/>
        </p:nvSpPr>
        <p:spPr>
          <a:xfrm>
            <a:off x="8138160" y="2788920"/>
            <a:ext cx="3383280" cy="68580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K-Means clustering on scaled RFM, k = 4</a:t>
            </a:r>
            <a:endParaRPr lang="en-US" sz="1400" dirty="0"/>
          </a:p>
        </p:txBody>
      </p:sp>
      <p:sp>
        <p:nvSpPr>
          <p:cNvPr id="23" name="Shape 21"/>
          <p:cNvSpPr/>
          <p:nvPr/>
        </p:nvSpPr>
        <p:spPr>
          <a:xfrm>
            <a:off x="8138160" y="3703320"/>
            <a:ext cx="1373557" cy="411480"/>
          </a:xfrm>
          <a:prstGeom prst="rect">
            <a:avLst/>
          </a:prstGeom>
          <a:solidFill>
            <a:srgbClr val="5E6B4E"/>
          </a:solidFill>
          <a:ln w="12700">
            <a:solidFill>
              <a:srgbClr val="5E6B4E"/>
            </a:solidFill>
            <a:prstDash val="solid"/>
          </a:ln>
        </p:spPr>
      </p:sp>
      <p:sp>
        <p:nvSpPr>
          <p:cNvPr id="24" name="Shape 22"/>
          <p:cNvSpPr/>
          <p:nvPr/>
        </p:nvSpPr>
        <p:spPr>
          <a:xfrm>
            <a:off x="9511717" y="3703320"/>
            <a:ext cx="157600" cy="411480"/>
          </a:xfrm>
          <a:prstGeom prst="rect">
            <a:avLst/>
          </a:prstGeom>
          <a:solidFill>
            <a:srgbClr val="C9A44C"/>
          </a:solidFill>
          <a:ln w="12700">
            <a:solidFill>
              <a:srgbClr val="C9A44C"/>
            </a:solidFill>
            <a:prstDash val="solid"/>
          </a:ln>
        </p:spPr>
      </p:sp>
      <p:sp>
        <p:nvSpPr>
          <p:cNvPr id="25" name="Shape 23"/>
          <p:cNvSpPr/>
          <p:nvPr/>
        </p:nvSpPr>
        <p:spPr>
          <a:xfrm>
            <a:off x="9669317" y="3703320"/>
            <a:ext cx="1842513" cy="411480"/>
          </a:xfrm>
          <a:prstGeom prst="rect">
            <a:avLst/>
          </a:prstGeom>
          <a:solidFill>
            <a:srgbClr val="7D8C6A"/>
          </a:solidFill>
          <a:ln w="12700">
            <a:solidFill>
              <a:srgbClr val="7D8C6A"/>
            </a:solidFill>
            <a:prstDash val="solid"/>
          </a:ln>
        </p:spPr>
      </p:sp>
      <p:sp>
        <p:nvSpPr>
          <p:cNvPr id="26" name="Shape 24"/>
          <p:cNvSpPr/>
          <p:nvPr/>
        </p:nvSpPr>
        <p:spPr>
          <a:xfrm>
            <a:off x="11511830" y="3703320"/>
            <a:ext cx="36576" cy="411480"/>
          </a:xfrm>
          <a:prstGeom prst="rect">
            <a:avLst/>
          </a:prstGeom>
          <a:solidFill>
            <a:srgbClr val="B5694A"/>
          </a:solidFill>
          <a:ln w="12700">
            <a:solidFill>
              <a:srgbClr val="B5694A"/>
            </a:solidFill>
            <a:prstDash val="solid"/>
          </a:ln>
        </p:spPr>
      </p:sp>
      <p:sp>
        <p:nvSpPr>
          <p:cNvPr id="27" name="Text 25"/>
          <p:cNvSpPr txBox="1"/>
          <p:nvPr/>
        </p:nvSpPr>
        <p:spPr>
          <a:xfrm>
            <a:off x="8138160" y="4297680"/>
            <a:ext cx="3383280" cy="1097280"/>
          </a:xfrm>
          <a:prstGeom prst="rect">
            <a:avLst/>
          </a:prstGeom>
          <a:noFill/>
          <a:ln/>
        </p:spPr>
        <p:txBody>
          <a:bodyPr wrap="square" lIns="0" tIns="0" rIns="0" bIns="0" rtlCol="0" anchor="t"/>
          <a:lstStyle/>
          <a:p>
            <a:pPr indent="0" marL="0">
              <a:spcAft>
                <a:spcPts val="200"/>
              </a:spcAft>
              <a:buNone/>
            </a:pPr>
            <a:r>
              <a:rPr lang="en-US" sz="1300" dirty="0">
                <a:solidFill>
                  <a:srgbClr val="3B332C"/>
                </a:solidFill>
                <a:latin typeface="Calibri" pitchFamily="34" charset="0"/>
                <a:ea typeface="Calibri" pitchFamily="34" charset="-122"/>
                <a:cs typeface="Calibri" pitchFamily="34" charset="-120"/>
              </a:rPr>
              <a:t>S1: 2,144</a:t>
            </a:r>
            <a:endParaRPr lang="en-US" sz="1300" dirty="0"/>
          </a:p>
          <a:p>
            <a:pPr indent="0" marL="0">
              <a:spcAft>
                <a:spcPts val="200"/>
              </a:spcAft>
              <a:buNone/>
            </a:pPr>
            <a:r>
              <a:rPr lang="en-US" sz="1300" dirty="0">
                <a:solidFill>
                  <a:srgbClr val="3B332C"/>
                </a:solidFill>
                <a:latin typeface="Calibri" pitchFamily="34" charset="0"/>
                <a:ea typeface="Calibri" pitchFamily="34" charset="-122"/>
                <a:cs typeface="Calibri" pitchFamily="34" charset="-120"/>
              </a:rPr>
              <a:t>S2: 246</a:t>
            </a:r>
            <a:endParaRPr lang="en-US" sz="1300" dirty="0"/>
          </a:p>
          <a:p>
            <a:pPr indent="0" marL="0">
              <a:spcAft>
                <a:spcPts val="200"/>
              </a:spcAft>
              <a:buNone/>
            </a:pPr>
            <a:r>
              <a:rPr lang="en-US" sz="1300" dirty="0">
                <a:solidFill>
                  <a:srgbClr val="3B332C"/>
                </a:solidFill>
                <a:latin typeface="Calibri" pitchFamily="34" charset="0"/>
                <a:ea typeface="Calibri" pitchFamily="34" charset="-122"/>
                <a:cs typeface="Calibri" pitchFamily="34" charset="-120"/>
              </a:rPr>
              <a:t>S3: 2,876</a:t>
            </a:r>
            <a:endParaRPr lang="en-US" sz="1300" dirty="0"/>
          </a:p>
          <a:p>
            <a:pPr indent="0" marL="0">
              <a:spcAft>
                <a:spcPts val="200"/>
              </a:spcAft>
              <a:buNone/>
            </a:pPr>
            <a:r>
              <a:rPr lang="en-US" sz="1300" dirty="0">
                <a:solidFill>
                  <a:srgbClr val="3B332C"/>
                </a:solidFill>
                <a:latin typeface="Calibri" pitchFamily="34" charset="0"/>
                <a:ea typeface="Calibri" pitchFamily="34" charset="-122"/>
                <a:cs typeface="Calibri" pitchFamily="34" charset="-120"/>
              </a:rPr>
              <a:t>S4: 15</a:t>
            </a:r>
            <a:endParaRPr lang="en-US" sz="1300" dirty="0"/>
          </a:p>
        </p:txBody>
      </p:sp>
      <p:sp>
        <p:nvSpPr>
          <p:cNvPr id="28" name="Text 26"/>
          <p:cNvSpPr txBox="1"/>
          <p:nvPr/>
        </p:nvSpPr>
        <p:spPr>
          <a:xfrm>
            <a:off x="8138160" y="5440680"/>
            <a:ext cx="3383280" cy="320040"/>
          </a:xfrm>
          <a:prstGeom prst="rect">
            <a:avLst/>
          </a:prstGeom>
          <a:noFill/>
          <a:ln/>
        </p:spPr>
        <p:txBody>
          <a:bodyPr wrap="square" lIns="0" tIns="0" rIns="0" bIns="0" rtlCol="0" anchor="t"/>
          <a:lstStyle/>
          <a:p>
            <a:pPr indent="0" marL="0">
              <a:buNone/>
            </a:pPr>
            <a:r>
              <a:rPr lang="en-US" sz="1200" i="1" dirty="0">
                <a:solidFill>
                  <a:srgbClr val="B5694A"/>
                </a:solidFill>
                <a:latin typeface="Calibri" pitchFamily="34" charset="0"/>
                <a:ea typeface="Calibri" pitchFamily="34" charset="-122"/>
                <a:cs typeface="Calibri" pitchFamily="34" charset="-120"/>
              </a:rPr>
              <a:t>Highly uneven (S4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05  A MISTAKE WE FIXED</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Data leakage: an important correction</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640080" y="1764792"/>
            <a:ext cx="201168" cy="201168"/>
          </a:xfrm>
          <a:prstGeom prst="ellipse">
            <a:avLst/>
          </a:prstGeom>
          <a:solidFill>
            <a:srgbClr val="B5694A"/>
          </a:solidFill>
          <a:ln w="12700">
            <a:solidFill>
              <a:srgbClr val="B5694A"/>
            </a:solidFill>
            <a:prstDash val="solid"/>
          </a:ln>
        </p:spPr>
      </p:sp>
      <p:sp>
        <p:nvSpPr>
          <p:cNvPr id="7" name="Text 5"/>
          <p:cNvSpPr txBox="1"/>
          <p:nvPr/>
        </p:nvSpPr>
        <p:spPr>
          <a:xfrm>
            <a:off x="1005840" y="1673352"/>
            <a:ext cx="4754880" cy="320040"/>
          </a:xfrm>
          <a:prstGeom prst="rect">
            <a:avLst/>
          </a:prstGeom>
          <a:noFill/>
          <a:ln/>
        </p:spPr>
        <p:txBody>
          <a:bodyPr wrap="square" lIns="0" tIns="0" rIns="0" bIns="0" rtlCol="0" anchor="t"/>
          <a:lstStyle/>
          <a:p>
            <a:pPr indent="0" marL="0">
              <a:buNone/>
            </a:pPr>
            <a:r>
              <a:rPr lang="en-US" sz="1700" b="1" dirty="0">
                <a:solidFill>
                  <a:srgbClr val="3B332C"/>
                </a:solidFill>
                <a:latin typeface="Calibri" pitchFamily="34" charset="0"/>
                <a:ea typeface="Calibri" pitchFamily="34" charset="-122"/>
                <a:cs typeface="Calibri" pitchFamily="34" charset="-120"/>
              </a:rPr>
              <a:t>Initial churn label</a:t>
            </a:r>
            <a:endParaRPr lang="en-US" sz="1700" dirty="0"/>
          </a:p>
        </p:txBody>
      </p:sp>
      <p:sp>
        <p:nvSpPr>
          <p:cNvPr id="8" name="Text 6"/>
          <p:cNvSpPr txBox="1"/>
          <p:nvPr/>
        </p:nvSpPr>
        <p:spPr>
          <a:xfrm>
            <a:off x="1005840" y="1984248"/>
            <a:ext cx="4754880" cy="292608"/>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Churn = Recency &gt; 90 days</a:t>
            </a:r>
            <a:endParaRPr lang="en-US" sz="1300" dirty="0"/>
          </a:p>
        </p:txBody>
      </p:sp>
      <p:sp>
        <p:nvSpPr>
          <p:cNvPr id="9" name="Shape 7"/>
          <p:cNvSpPr/>
          <p:nvPr/>
        </p:nvSpPr>
        <p:spPr>
          <a:xfrm>
            <a:off x="740664" y="2057400"/>
            <a:ext cx="0" cy="566928"/>
          </a:xfrm>
          <a:prstGeom prst="line">
            <a:avLst/>
          </a:prstGeom>
          <a:noFill/>
          <a:ln w="19050">
            <a:solidFill>
              <a:srgbClr val="D6CCBB"/>
            </a:solidFill>
            <a:prstDash val="solid"/>
            <a:tailEnd type="triangle"/>
          </a:ln>
        </p:spPr>
      </p:sp>
      <p:sp>
        <p:nvSpPr>
          <p:cNvPr id="10" name="Shape 8"/>
          <p:cNvSpPr/>
          <p:nvPr/>
        </p:nvSpPr>
        <p:spPr>
          <a:xfrm>
            <a:off x="640080" y="2660904"/>
            <a:ext cx="201168" cy="201168"/>
          </a:xfrm>
          <a:prstGeom prst="ellipse">
            <a:avLst/>
          </a:prstGeom>
          <a:solidFill>
            <a:srgbClr val="B5694A"/>
          </a:solidFill>
          <a:ln w="12700">
            <a:solidFill>
              <a:srgbClr val="B5694A"/>
            </a:solidFill>
            <a:prstDash val="solid"/>
          </a:ln>
        </p:spPr>
      </p:sp>
      <p:sp>
        <p:nvSpPr>
          <p:cNvPr id="11" name="Text 9"/>
          <p:cNvSpPr txBox="1"/>
          <p:nvPr/>
        </p:nvSpPr>
        <p:spPr>
          <a:xfrm>
            <a:off x="1005840" y="2569464"/>
            <a:ext cx="4754880" cy="320040"/>
          </a:xfrm>
          <a:prstGeom prst="rect">
            <a:avLst/>
          </a:prstGeom>
          <a:noFill/>
          <a:ln/>
        </p:spPr>
        <p:txBody>
          <a:bodyPr wrap="square" lIns="0" tIns="0" rIns="0" bIns="0" rtlCol="0" anchor="t"/>
          <a:lstStyle/>
          <a:p>
            <a:pPr indent="0" marL="0">
              <a:buNone/>
            </a:pPr>
            <a:r>
              <a:rPr lang="en-US" sz="1700" b="1" dirty="0">
                <a:solidFill>
                  <a:srgbClr val="3B332C"/>
                </a:solidFill>
                <a:latin typeface="Calibri" pitchFamily="34" charset="0"/>
                <a:ea typeface="Calibri" pitchFamily="34" charset="-122"/>
                <a:cs typeface="Calibri" pitchFamily="34" charset="-120"/>
              </a:rPr>
              <a:t>100% accuracy</a:t>
            </a:r>
            <a:endParaRPr lang="en-US" sz="1700" dirty="0"/>
          </a:p>
        </p:txBody>
      </p:sp>
      <p:sp>
        <p:nvSpPr>
          <p:cNvPr id="12" name="Text 10"/>
          <p:cNvSpPr txBox="1"/>
          <p:nvPr/>
        </p:nvSpPr>
        <p:spPr>
          <a:xfrm>
            <a:off x="1005840" y="2880360"/>
            <a:ext cx="4754880" cy="292608"/>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Every model, suspiciously perfect</a:t>
            </a:r>
            <a:endParaRPr lang="en-US" sz="1300" dirty="0"/>
          </a:p>
        </p:txBody>
      </p:sp>
      <p:sp>
        <p:nvSpPr>
          <p:cNvPr id="13" name="Shape 11"/>
          <p:cNvSpPr/>
          <p:nvPr/>
        </p:nvSpPr>
        <p:spPr>
          <a:xfrm>
            <a:off x="740664" y="2953512"/>
            <a:ext cx="0" cy="566928"/>
          </a:xfrm>
          <a:prstGeom prst="line">
            <a:avLst/>
          </a:prstGeom>
          <a:noFill/>
          <a:ln w="19050">
            <a:solidFill>
              <a:srgbClr val="D6CCBB"/>
            </a:solidFill>
            <a:prstDash val="solid"/>
            <a:tailEnd type="triangle"/>
          </a:ln>
        </p:spPr>
      </p:sp>
      <p:sp>
        <p:nvSpPr>
          <p:cNvPr id="14" name="Shape 12"/>
          <p:cNvSpPr/>
          <p:nvPr/>
        </p:nvSpPr>
        <p:spPr>
          <a:xfrm>
            <a:off x="640080" y="3557016"/>
            <a:ext cx="201168" cy="201168"/>
          </a:xfrm>
          <a:prstGeom prst="ellipse">
            <a:avLst/>
          </a:prstGeom>
          <a:solidFill>
            <a:srgbClr val="C9A44C"/>
          </a:solidFill>
          <a:ln w="12700">
            <a:solidFill>
              <a:srgbClr val="C9A44C"/>
            </a:solidFill>
            <a:prstDash val="solid"/>
          </a:ln>
        </p:spPr>
      </p:sp>
      <p:sp>
        <p:nvSpPr>
          <p:cNvPr id="15" name="Text 13"/>
          <p:cNvSpPr txBox="1"/>
          <p:nvPr/>
        </p:nvSpPr>
        <p:spPr>
          <a:xfrm>
            <a:off x="1005840" y="3465576"/>
            <a:ext cx="4754880" cy="320040"/>
          </a:xfrm>
          <a:prstGeom prst="rect">
            <a:avLst/>
          </a:prstGeom>
          <a:noFill/>
          <a:ln/>
        </p:spPr>
        <p:txBody>
          <a:bodyPr wrap="square" lIns="0" tIns="0" rIns="0" bIns="0" rtlCol="0" anchor="t"/>
          <a:lstStyle/>
          <a:p>
            <a:pPr indent="0" marL="0">
              <a:buNone/>
            </a:pPr>
            <a:r>
              <a:rPr lang="en-US" sz="1700" b="1" dirty="0">
                <a:solidFill>
                  <a:srgbClr val="3B332C"/>
                </a:solidFill>
                <a:latin typeface="Calibri" pitchFamily="34" charset="0"/>
                <a:ea typeface="Calibri" pitchFamily="34" charset="-122"/>
                <a:cs typeface="Calibri" pitchFamily="34" charset="-120"/>
              </a:rPr>
              <a:t>Leakage identified</a:t>
            </a:r>
            <a:endParaRPr lang="en-US" sz="1700" dirty="0"/>
          </a:p>
        </p:txBody>
      </p:sp>
      <p:sp>
        <p:nvSpPr>
          <p:cNvPr id="16" name="Text 14"/>
          <p:cNvSpPr txBox="1"/>
          <p:nvPr/>
        </p:nvSpPr>
        <p:spPr>
          <a:xfrm>
            <a:off x="1005840" y="3776472"/>
            <a:ext cx="4754880" cy="292608"/>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Recency was both the label rule and a feature</a:t>
            </a:r>
            <a:endParaRPr lang="en-US" sz="1300" dirty="0"/>
          </a:p>
        </p:txBody>
      </p:sp>
      <p:sp>
        <p:nvSpPr>
          <p:cNvPr id="17" name="Shape 15"/>
          <p:cNvSpPr/>
          <p:nvPr/>
        </p:nvSpPr>
        <p:spPr>
          <a:xfrm>
            <a:off x="740664" y="3849624"/>
            <a:ext cx="0" cy="566928"/>
          </a:xfrm>
          <a:prstGeom prst="line">
            <a:avLst/>
          </a:prstGeom>
          <a:noFill/>
          <a:ln w="19050">
            <a:solidFill>
              <a:srgbClr val="D6CCBB"/>
            </a:solidFill>
            <a:prstDash val="solid"/>
            <a:tailEnd type="triangle"/>
          </a:ln>
        </p:spPr>
      </p:sp>
      <p:sp>
        <p:nvSpPr>
          <p:cNvPr id="18" name="Shape 16"/>
          <p:cNvSpPr/>
          <p:nvPr/>
        </p:nvSpPr>
        <p:spPr>
          <a:xfrm>
            <a:off x="640080" y="4453128"/>
            <a:ext cx="201168" cy="201168"/>
          </a:xfrm>
          <a:prstGeom prst="ellipse">
            <a:avLst/>
          </a:prstGeom>
          <a:solidFill>
            <a:srgbClr val="7D8C6A"/>
          </a:solidFill>
          <a:ln w="12700">
            <a:solidFill>
              <a:srgbClr val="7D8C6A"/>
            </a:solidFill>
            <a:prstDash val="solid"/>
          </a:ln>
        </p:spPr>
      </p:sp>
      <p:sp>
        <p:nvSpPr>
          <p:cNvPr id="19" name="Text 17"/>
          <p:cNvSpPr txBox="1"/>
          <p:nvPr/>
        </p:nvSpPr>
        <p:spPr>
          <a:xfrm>
            <a:off x="1005840" y="4361688"/>
            <a:ext cx="4754880" cy="320040"/>
          </a:xfrm>
          <a:prstGeom prst="rect">
            <a:avLst/>
          </a:prstGeom>
          <a:noFill/>
          <a:ln/>
        </p:spPr>
        <p:txBody>
          <a:bodyPr wrap="square" lIns="0" tIns="0" rIns="0" bIns="0" rtlCol="0" anchor="t"/>
          <a:lstStyle/>
          <a:p>
            <a:pPr indent="0" marL="0">
              <a:buNone/>
            </a:pPr>
            <a:r>
              <a:rPr lang="en-US" sz="1700" b="1" dirty="0">
                <a:solidFill>
                  <a:srgbClr val="3B332C"/>
                </a:solidFill>
                <a:latin typeface="Calibri" pitchFamily="34" charset="0"/>
                <a:ea typeface="Calibri" pitchFamily="34" charset="-122"/>
                <a:cs typeface="Calibri" pitchFamily="34" charset="-120"/>
              </a:rPr>
              <a:t>90-day time-based holdout</a:t>
            </a:r>
            <a:endParaRPr lang="en-US" sz="1700" dirty="0"/>
          </a:p>
        </p:txBody>
      </p:sp>
      <p:sp>
        <p:nvSpPr>
          <p:cNvPr id="20" name="Text 18"/>
          <p:cNvSpPr txBox="1"/>
          <p:nvPr/>
        </p:nvSpPr>
        <p:spPr>
          <a:xfrm>
            <a:off x="1005840" y="4672584"/>
            <a:ext cx="4754880" cy="292608"/>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Features before cutoff, label after it</a:t>
            </a:r>
            <a:endParaRPr lang="en-US" sz="1300" dirty="0"/>
          </a:p>
        </p:txBody>
      </p:sp>
      <p:sp>
        <p:nvSpPr>
          <p:cNvPr id="21" name="Shape 19"/>
          <p:cNvSpPr/>
          <p:nvPr/>
        </p:nvSpPr>
        <p:spPr>
          <a:xfrm>
            <a:off x="740664" y="4745736"/>
            <a:ext cx="0" cy="566928"/>
          </a:xfrm>
          <a:prstGeom prst="line">
            <a:avLst/>
          </a:prstGeom>
          <a:noFill/>
          <a:ln w="19050">
            <a:solidFill>
              <a:srgbClr val="D6CCBB"/>
            </a:solidFill>
            <a:prstDash val="solid"/>
            <a:tailEnd type="triangle"/>
          </a:ln>
        </p:spPr>
      </p:sp>
      <p:sp>
        <p:nvSpPr>
          <p:cNvPr id="22" name="Shape 20"/>
          <p:cNvSpPr/>
          <p:nvPr/>
        </p:nvSpPr>
        <p:spPr>
          <a:xfrm>
            <a:off x="640080" y="5349240"/>
            <a:ext cx="201168" cy="201168"/>
          </a:xfrm>
          <a:prstGeom prst="ellipse">
            <a:avLst/>
          </a:prstGeom>
          <a:solidFill>
            <a:srgbClr val="5E6B4E"/>
          </a:solidFill>
          <a:ln w="12700">
            <a:solidFill>
              <a:srgbClr val="5E6B4E"/>
            </a:solidFill>
            <a:prstDash val="solid"/>
          </a:ln>
        </p:spPr>
      </p:sp>
      <p:sp>
        <p:nvSpPr>
          <p:cNvPr id="23" name="Text 21"/>
          <p:cNvSpPr txBox="1"/>
          <p:nvPr/>
        </p:nvSpPr>
        <p:spPr>
          <a:xfrm>
            <a:off x="1005840" y="5257800"/>
            <a:ext cx="4754880" cy="320040"/>
          </a:xfrm>
          <a:prstGeom prst="rect">
            <a:avLst/>
          </a:prstGeom>
          <a:noFill/>
          <a:ln/>
        </p:spPr>
        <p:txBody>
          <a:bodyPr wrap="square" lIns="0" tIns="0" rIns="0" bIns="0" rtlCol="0" anchor="t"/>
          <a:lstStyle/>
          <a:p>
            <a:pPr indent="0" marL="0">
              <a:buNone/>
            </a:pPr>
            <a:r>
              <a:rPr lang="en-US" sz="1700" b="1" dirty="0">
                <a:solidFill>
                  <a:srgbClr val="3B332C"/>
                </a:solidFill>
                <a:latin typeface="Calibri" pitchFamily="34" charset="0"/>
                <a:ea typeface="Calibri" pitchFamily="34" charset="-122"/>
                <a:cs typeface="Calibri" pitchFamily="34" charset="-120"/>
              </a:rPr>
              <a:t>Realistic evaluation</a:t>
            </a:r>
            <a:endParaRPr lang="en-US" sz="1700" dirty="0"/>
          </a:p>
        </p:txBody>
      </p:sp>
      <p:sp>
        <p:nvSpPr>
          <p:cNvPr id="24" name="Text 22"/>
          <p:cNvSpPr txBox="1"/>
          <p:nvPr/>
        </p:nvSpPr>
        <p:spPr>
          <a:xfrm>
            <a:off x="1005840" y="5568696"/>
            <a:ext cx="4754880" cy="292608"/>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Accuracy about 70-74%</a:t>
            </a:r>
            <a:endParaRPr lang="en-US" sz="1300" dirty="0"/>
          </a:p>
        </p:txBody>
      </p:sp>
      <p:sp>
        <p:nvSpPr>
          <p:cNvPr id="25" name="Shape 23"/>
          <p:cNvSpPr/>
          <p:nvPr/>
        </p:nvSpPr>
        <p:spPr>
          <a:xfrm>
            <a:off x="6583680" y="1737360"/>
            <a:ext cx="4965192" cy="4206240"/>
          </a:xfrm>
          <a:prstGeom prst="rect">
            <a:avLst/>
          </a:prstGeom>
          <a:solidFill>
            <a:srgbClr val="F0E9DC"/>
          </a:solidFill>
          <a:ln w="12700">
            <a:solidFill>
              <a:srgbClr val="F0E9DC"/>
            </a:solidFill>
            <a:prstDash val="solid"/>
          </a:ln>
        </p:spPr>
      </p:sp>
      <p:sp>
        <p:nvSpPr>
          <p:cNvPr id="26" name="Text 24"/>
          <p:cNvSpPr txBox="1"/>
          <p:nvPr/>
        </p:nvSpPr>
        <p:spPr>
          <a:xfrm>
            <a:off x="6903720" y="1965960"/>
            <a:ext cx="4389120" cy="320040"/>
          </a:xfrm>
          <a:prstGeom prst="rect">
            <a:avLst/>
          </a:prstGeom>
          <a:noFill/>
          <a:ln/>
        </p:spPr>
        <p:txBody>
          <a:bodyPr wrap="square" lIns="0" tIns="0" rIns="0" bIns="0" rtlCol="0" anchor="t"/>
          <a:lstStyle/>
          <a:p>
            <a:pPr indent="0" marL="0">
              <a:buNone/>
            </a:pPr>
            <a:r>
              <a:rPr lang="en-US" sz="1600" b="1" dirty="0">
                <a:solidFill>
                  <a:srgbClr val="B5694A"/>
                </a:solidFill>
                <a:latin typeface="Calibri" pitchFamily="34" charset="0"/>
                <a:ea typeface="Calibri" pitchFamily="34" charset="-122"/>
                <a:cs typeface="Calibri" pitchFamily="34" charset="-120"/>
              </a:rPr>
              <a:t>What went wrong</a:t>
            </a:r>
            <a:endParaRPr lang="en-US" sz="1600" dirty="0"/>
          </a:p>
        </p:txBody>
      </p:sp>
      <p:sp>
        <p:nvSpPr>
          <p:cNvPr id="27" name="Text 25"/>
          <p:cNvSpPr txBox="1"/>
          <p:nvPr/>
        </p:nvSpPr>
        <p:spPr>
          <a:xfrm>
            <a:off x="6903720" y="2331720"/>
            <a:ext cx="4389120" cy="1188720"/>
          </a:xfrm>
          <a:prstGeom prst="rect">
            <a:avLst/>
          </a:prstGeom>
          <a:noFill/>
          <a:ln/>
        </p:spPr>
        <p:txBody>
          <a:bodyPr wrap="square" lIns="0" tIns="0" rIns="0" bIns="0" rtlCol="0" anchor="t"/>
          <a:lstStyle/>
          <a:p>
            <a:pPr indent="0" marL="0">
              <a:buNone/>
            </a:pPr>
            <a:r>
              <a:rPr lang="en-US" sz="1400" dirty="0">
                <a:solidFill>
                  <a:srgbClr val="3B332C"/>
                </a:solidFill>
                <a:latin typeface="Calibri" pitchFamily="34" charset="0"/>
                <a:ea typeface="Calibri" pitchFamily="34" charset="-122"/>
                <a:cs typeface="Calibri" pitchFamily="34" charset="-120"/>
              </a:rPr>
              <a:t>The first churn label was built from Recency, and Recency was also given to the model. The model was just reading back the rule, not predicting anything.</a:t>
            </a:r>
            <a:endParaRPr lang="en-US" sz="1400" dirty="0"/>
          </a:p>
        </p:txBody>
      </p:sp>
      <p:sp>
        <p:nvSpPr>
          <p:cNvPr id="28" name="Text 26"/>
          <p:cNvSpPr txBox="1"/>
          <p:nvPr/>
        </p:nvSpPr>
        <p:spPr>
          <a:xfrm>
            <a:off x="6903720" y="3611880"/>
            <a:ext cx="4389120" cy="320040"/>
          </a:xfrm>
          <a:prstGeom prst="rect">
            <a:avLst/>
          </a:prstGeom>
          <a:noFill/>
          <a:ln/>
        </p:spPr>
        <p:txBody>
          <a:bodyPr wrap="square" lIns="0" tIns="0" rIns="0" bIns="0" rtlCol="0" anchor="t"/>
          <a:lstStyle/>
          <a:p>
            <a:pPr indent="0" marL="0">
              <a:buNone/>
            </a:pPr>
            <a:r>
              <a:rPr lang="en-US" sz="1600" b="1" dirty="0">
                <a:solidFill>
                  <a:srgbClr val="5E6B4E"/>
                </a:solidFill>
                <a:latin typeface="Calibri" pitchFamily="34" charset="0"/>
                <a:ea typeface="Calibri" pitchFamily="34" charset="-122"/>
                <a:cs typeface="Calibri" pitchFamily="34" charset="-120"/>
              </a:rPr>
              <a:t>How it was fixed</a:t>
            </a:r>
            <a:endParaRPr lang="en-US" sz="1600" dirty="0"/>
          </a:p>
        </p:txBody>
      </p:sp>
      <p:sp>
        <p:nvSpPr>
          <p:cNvPr id="29" name="Text 27"/>
          <p:cNvSpPr txBox="1"/>
          <p:nvPr/>
        </p:nvSpPr>
        <p:spPr>
          <a:xfrm>
            <a:off x="6903720" y="3977640"/>
            <a:ext cx="4389120" cy="1463040"/>
          </a:xfrm>
          <a:prstGeom prst="rect">
            <a:avLst/>
          </a:prstGeom>
          <a:noFill/>
          <a:ln/>
        </p:spPr>
        <p:txBody>
          <a:bodyPr wrap="square" lIns="0" tIns="0" rIns="0" bIns="0" rtlCol="0" anchor="t"/>
          <a:lstStyle/>
          <a:p>
            <a:pPr indent="0" marL="0">
              <a:buNone/>
            </a:pPr>
            <a:r>
              <a:rPr lang="en-US" sz="1400" dirty="0">
                <a:solidFill>
                  <a:srgbClr val="3B332C"/>
                </a:solidFill>
                <a:latin typeface="Calibri" pitchFamily="34" charset="0"/>
                <a:ea typeface="Calibri" pitchFamily="34" charset="-122"/>
                <a:cs typeface="Calibri" pitchFamily="34" charset="-120"/>
              </a:rPr>
              <a:t>Features use only transactions up to 90 days before the end of the data. The label checks whether the customer actually bought again after that. Customers dropped from 5,878 to 5,281.</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06  DATABASE DESIGN</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SQLite database connecting R and Python</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640080" y="1737360"/>
            <a:ext cx="1234440" cy="548640"/>
          </a:xfrm>
          <a:prstGeom prst="rect">
            <a:avLst/>
          </a:prstGeom>
          <a:solidFill>
            <a:srgbClr val="5E6B4E"/>
          </a:solidFill>
          <a:ln w="12700">
            <a:solidFill>
              <a:srgbClr val="5E6B4E"/>
            </a:solidFill>
            <a:prstDash val="solid"/>
          </a:ln>
        </p:spPr>
      </p:sp>
      <p:sp>
        <p:nvSpPr>
          <p:cNvPr id="7" name="Text 5"/>
          <p:cNvSpPr txBox="1"/>
          <p:nvPr/>
        </p:nvSpPr>
        <p:spPr>
          <a:xfrm>
            <a:off x="640080" y="1737360"/>
            <a:ext cx="12344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8" name="Text 6"/>
          <p:cNvSpPr txBox="1"/>
          <p:nvPr/>
        </p:nvSpPr>
        <p:spPr>
          <a:xfrm>
            <a:off x="2011680" y="1810512"/>
            <a:ext cx="2103120" cy="457200"/>
          </a:xfrm>
          <a:prstGeom prst="rect">
            <a:avLst/>
          </a:prstGeom>
          <a:noFill/>
          <a:ln/>
        </p:spPr>
        <p:txBody>
          <a:bodyPr wrap="square" lIns="0" tIns="0" rIns="0" bIns="0" rtlCol="0" anchor="t"/>
          <a:lstStyle/>
          <a:p>
            <a:pPr indent="0" marL="0">
              <a:buNone/>
            </a:pPr>
            <a:r>
              <a:rPr lang="en-US" sz="1100" dirty="0">
                <a:solidFill>
                  <a:srgbClr val="7A6F64"/>
                </a:solidFill>
                <a:latin typeface="Calibri" pitchFamily="34" charset="0"/>
                <a:ea typeface="Calibri" pitchFamily="34" charset="-122"/>
                <a:cs typeface="Calibri" pitchFamily="34" charset="-120"/>
              </a:rPr>
              <a:t>writes customers, products, transactions</a:t>
            </a:r>
            <a:endParaRPr lang="en-US" sz="1100" dirty="0"/>
          </a:p>
        </p:txBody>
      </p:sp>
      <p:sp>
        <p:nvSpPr>
          <p:cNvPr id="9" name="Shape 7"/>
          <p:cNvSpPr/>
          <p:nvPr/>
        </p:nvSpPr>
        <p:spPr>
          <a:xfrm>
            <a:off x="1257300" y="2322576"/>
            <a:ext cx="0" cy="384048"/>
          </a:xfrm>
          <a:prstGeom prst="line">
            <a:avLst/>
          </a:prstGeom>
          <a:noFill/>
          <a:ln w="19050">
            <a:solidFill>
              <a:srgbClr val="7A6F64"/>
            </a:solidFill>
            <a:prstDash val="solid"/>
            <a:tailEnd type="triangle"/>
          </a:ln>
        </p:spPr>
      </p:sp>
      <p:sp>
        <p:nvSpPr>
          <p:cNvPr id="10" name="Shape 8"/>
          <p:cNvSpPr/>
          <p:nvPr/>
        </p:nvSpPr>
        <p:spPr>
          <a:xfrm>
            <a:off x="640080" y="2761488"/>
            <a:ext cx="1234440" cy="548640"/>
          </a:xfrm>
          <a:prstGeom prst="rect">
            <a:avLst/>
          </a:prstGeom>
          <a:solidFill>
            <a:srgbClr val="C9A44C"/>
          </a:solidFill>
          <a:ln w="12700">
            <a:solidFill>
              <a:srgbClr val="C9A44C"/>
            </a:solidFill>
            <a:prstDash val="solid"/>
          </a:ln>
        </p:spPr>
      </p:sp>
      <p:sp>
        <p:nvSpPr>
          <p:cNvPr id="11" name="Text 9"/>
          <p:cNvSpPr txBox="1"/>
          <p:nvPr/>
        </p:nvSpPr>
        <p:spPr>
          <a:xfrm>
            <a:off x="640080" y="2761488"/>
            <a:ext cx="12344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SQLite</a:t>
            </a:r>
            <a:endParaRPr lang="en-US" sz="1500" dirty="0"/>
          </a:p>
        </p:txBody>
      </p:sp>
      <p:sp>
        <p:nvSpPr>
          <p:cNvPr id="12" name="Text 10"/>
          <p:cNvSpPr txBox="1"/>
          <p:nvPr/>
        </p:nvSpPr>
        <p:spPr>
          <a:xfrm>
            <a:off x="2011680" y="2834640"/>
            <a:ext cx="2103120" cy="457200"/>
          </a:xfrm>
          <a:prstGeom prst="rect">
            <a:avLst/>
          </a:prstGeom>
          <a:noFill/>
          <a:ln/>
        </p:spPr>
        <p:txBody>
          <a:bodyPr wrap="square" lIns="0" tIns="0" rIns="0" bIns="0" rtlCol="0" anchor="t"/>
          <a:lstStyle/>
          <a:p>
            <a:pPr indent="0" marL="0">
              <a:buNone/>
            </a:pPr>
            <a:r>
              <a:rPr lang="en-US" sz="1100" dirty="0">
                <a:solidFill>
                  <a:srgbClr val="7A6F64"/>
                </a:solidFill>
                <a:latin typeface="Calibri" pitchFamily="34" charset="0"/>
                <a:ea typeface="Calibri" pitchFamily="34" charset="-122"/>
                <a:cs typeface="Calibri" pitchFamily="34" charset="-120"/>
              </a:rPr>
              <a:t>da2_retail_normalized.sqlite</a:t>
            </a:r>
            <a:endParaRPr lang="en-US" sz="1100" dirty="0"/>
          </a:p>
        </p:txBody>
      </p:sp>
      <p:sp>
        <p:nvSpPr>
          <p:cNvPr id="13" name="Shape 11"/>
          <p:cNvSpPr/>
          <p:nvPr/>
        </p:nvSpPr>
        <p:spPr>
          <a:xfrm>
            <a:off x="1257300" y="3346704"/>
            <a:ext cx="0" cy="384048"/>
          </a:xfrm>
          <a:prstGeom prst="line">
            <a:avLst/>
          </a:prstGeom>
          <a:noFill/>
          <a:ln w="19050">
            <a:solidFill>
              <a:srgbClr val="7A6F64"/>
            </a:solidFill>
            <a:prstDash val="solid"/>
            <a:tailEnd type="triangle"/>
          </a:ln>
        </p:spPr>
      </p:sp>
      <p:sp>
        <p:nvSpPr>
          <p:cNvPr id="14" name="Shape 12"/>
          <p:cNvSpPr/>
          <p:nvPr/>
        </p:nvSpPr>
        <p:spPr>
          <a:xfrm>
            <a:off x="640080" y="3785616"/>
            <a:ext cx="1234440" cy="548640"/>
          </a:xfrm>
          <a:prstGeom prst="rect">
            <a:avLst/>
          </a:prstGeom>
          <a:solidFill>
            <a:srgbClr val="B5694A"/>
          </a:solidFill>
          <a:ln w="12700">
            <a:solidFill>
              <a:srgbClr val="B5694A"/>
            </a:solidFill>
            <a:prstDash val="solid"/>
          </a:ln>
        </p:spPr>
      </p:sp>
      <p:sp>
        <p:nvSpPr>
          <p:cNvPr id="15" name="Text 13"/>
          <p:cNvSpPr txBox="1"/>
          <p:nvPr/>
        </p:nvSpPr>
        <p:spPr>
          <a:xfrm>
            <a:off x="640080" y="3785616"/>
            <a:ext cx="12344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Python</a:t>
            </a:r>
            <a:endParaRPr lang="en-US" sz="1500" dirty="0"/>
          </a:p>
        </p:txBody>
      </p:sp>
      <p:sp>
        <p:nvSpPr>
          <p:cNvPr id="16" name="Text 14"/>
          <p:cNvSpPr txBox="1"/>
          <p:nvPr/>
        </p:nvSpPr>
        <p:spPr>
          <a:xfrm>
            <a:off x="2011680" y="3858768"/>
            <a:ext cx="2103120" cy="457200"/>
          </a:xfrm>
          <a:prstGeom prst="rect">
            <a:avLst/>
          </a:prstGeom>
          <a:noFill/>
          <a:ln/>
        </p:spPr>
        <p:txBody>
          <a:bodyPr wrap="square" lIns="0" tIns="0" rIns="0" bIns="0" rtlCol="0" anchor="t"/>
          <a:lstStyle/>
          <a:p>
            <a:pPr indent="0" marL="0">
              <a:buNone/>
            </a:pPr>
            <a:r>
              <a:rPr lang="en-US" sz="1100" dirty="0">
                <a:solidFill>
                  <a:srgbClr val="7A6F64"/>
                </a:solidFill>
                <a:latin typeface="Calibri" pitchFamily="34" charset="0"/>
                <a:ea typeface="Calibri" pitchFamily="34" charset="-122"/>
                <a:cs typeface="Calibri" pitchFamily="34" charset="-120"/>
              </a:rPr>
              <a:t>reads data, trains models</a:t>
            </a:r>
            <a:endParaRPr lang="en-US" sz="1100" dirty="0"/>
          </a:p>
        </p:txBody>
      </p:sp>
      <p:sp>
        <p:nvSpPr>
          <p:cNvPr id="17" name="Shape 15"/>
          <p:cNvSpPr/>
          <p:nvPr/>
        </p:nvSpPr>
        <p:spPr>
          <a:xfrm>
            <a:off x="1257300" y="4370832"/>
            <a:ext cx="0" cy="384048"/>
          </a:xfrm>
          <a:prstGeom prst="line">
            <a:avLst/>
          </a:prstGeom>
          <a:noFill/>
          <a:ln w="19050">
            <a:solidFill>
              <a:srgbClr val="7A6F64"/>
            </a:solidFill>
            <a:prstDash val="solid"/>
            <a:tailEnd type="triangle"/>
          </a:ln>
        </p:spPr>
      </p:sp>
      <p:sp>
        <p:nvSpPr>
          <p:cNvPr id="18" name="Shape 16"/>
          <p:cNvSpPr/>
          <p:nvPr/>
        </p:nvSpPr>
        <p:spPr>
          <a:xfrm>
            <a:off x="640080" y="4809744"/>
            <a:ext cx="1234440" cy="548640"/>
          </a:xfrm>
          <a:prstGeom prst="rect">
            <a:avLst/>
          </a:prstGeom>
          <a:solidFill>
            <a:srgbClr val="C9A44C"/>
          </a:solidFill>
          <a:ln w="12700">
            <a:solidFill>
              <a:srgbClr val="C9A44C"/>
            </a:solidFill>
            <a:prstDash val="solid"/>
          </a:ln>
        </p:spPr>
      </p:sp>
      <p:sp>
        <p:nvSpPr>
          <p:cNvPr id="19" name="Text 17"/>
          <p:cNvSpPr txBox="1"/>
          <p:nvPr/>
        </p:nvSpPr>
        <p:spPr>
          <a:xfrm>
            <a:off x="640080" y="4809744"/>
            <a:ext cx="12344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SQLite</a:t>
            </a:r>
            <a:endParaRPr lang="en-US" sz="1500" dirty="0"/>
          </a:p>
        </p:txBody>
      </p:sp>
      <p:sp>
        <p:nvSpPr>
          <p:cNvPr id="20" name="Text 18"/>
          <p:cNvSpPr txBox="1"/>
          <p:nvPr/>
        </p:nvSpPr>
        <p:spPr>
          <a:xfrm>
            <a:off x="2011680" y="4882896"/>
            <a:ext cx="2103120" cy="457200"/>
          </a:xfrm>
          <a:prstGeom prst="rect">
            <a:avLst/>
          </a:prstGeom>
          <a:noFill/>
          <a:ln/>
        </p:spPr>
        <p:txBody>
          <a:bodyPr wrap="square" lIns="0" tIns="0" rIns="0" bIns="0" rtlCol="0" anchor="t"/>
          <a:lstStyle/>
          <a:p>
            <a:pPr indent="0" marL="0">
              <a:buNone/>
            </a:pPr>
            <a:r>
              <a:rPr lang="en-US" sz="1100" dirty="0">
                <a:solidFill>
                  <a:srgbClr val="7A6F64"/>
                </a:solidFill>
                <a:latin typeface="Calibri" pitchFamily="34" charset="0"/>
                <a:ea typeface="Calibri" pitchFamily="34" charset="-122"/>
                <a:cs typeface="Calibri" pitchFamily="34" charset="-120"/>
              </a:rPr>
              <a:t>ml_predictions written back</a:t>
            </a:r>
            <a:endParaRPr lang="en-US" sz="1100" dirty="0"/>
          </a:p>
        </p:txBody>
      </p:sp>
      <p:sp>
        <p:nvSpPr>
          <p:cNvPr id="21" name="Text 19"/>
          <p:cNvSpPr txBox="1"/>
          <p:nvPr/>
        </p:nvSpPr>
        <p:spPr>
          <a:xfrm>
            <a:off x="4572000" y="1737360"/>
            <a:ext cx="2743200" cy="274320"/>
          </a:xfrm>
          <a:prstGeom prst="rect">
            <a:avLst/>
          </a:prstGeom>
          <a:noFill/>
          <a:ln/>
        </p:spPr>
        <p:txBody>
          <a:bodyPr wrap="square" lIns="0" tIns="0" rIns="0" bIns="0" rtlCol="0" anchor="t"/>
          <a:lstStyle/>
          <a:p>
            <a:pPr indent="0" marL="0">
              <a:buNone/>
            </a:pPr>
            <a:r>
              <a:rPr lang="en-US" sz="1200" b="1" dirty="0">
                <a:solidFill>
                  <a:srgbClr val="7A6F64"/>
                </a:solidFill>
                <a:latin typeface="Calibri" pitchFamily="34" charset="0"/>
                <a:ea typeface="Calibri" pitchFamily="34" charset="-122"/>
                <a:cs typeface="Calibri" pitchFamily="34" charset="-120"/>
              </a:rPr>
              <a:t>Tables</a:t>
            </a:r>
            <a:endParaRPr lang="en-US" sz="1200" dirty="0"/>
          </a:p>
        </p:txBody>
      </p:sp>
      <p:sp>
        <p:nvSpPr>
          <p:cNvPr id="22" name="Text 20"/>
          <p:cNvSpPr txBox="1"/>
          <p:nvPr/>
        </p:nvSpPr>
        <p:spPr>
          <a:xfrm>
            <a:off x="4572000" y="2103120"/>
            <a:ext cx="1737360" cy="320040"/>
          </a:xfrm>
          <a:prstGeom prst="rect">
            <a:avLst/>
          </a:prstGeom>
          <a:noFill/>
          <a:ln/>
        </p:spPr>
        <p:txBody>
          <a:bodyPr wrap="square" lIns="0" tIns="0" rIns="0" bIns="0" rtlCol="0" anchor="t"/>
          <a:lstStyle/>
          <a:p>
            <a:pPr indent="0" marL="0">
              <a:buNone/>
            </a:pPr>
            <a:r>
              <a:rPr lang="en-US" sz="1400" b="1" dirty="0">
                <a:solidFill>
                  <a:srgbClr val="3B332C"/>
                </a:solidFill>
                <a:latin typeface="Calibri" pitchFamily="34" charset="0"/>
                <a:ea typeface="Calibri" pitchFamily="34" charset="-122"/>
                <a:cs typeface="Calibri" pitchFamily="34" charset="-120"/>
              </a:rPr>
              <a:t>customers</a:t>
            </a:r>
            <a:endParaRPr lang="en-US" sz="1400" dirty="0"/>
          </a:p>
        </p:txBody>
      </p:sp>
      <p:sp>
        <p:nvSpPr>
          <p:cNvPr id="23" name="Text 21"/>
          <p:cNvSpPr txBox="1"/>
          <p:nvPr/>
        </p:nvSpPr>
        <p:spPr>
          <a:xfrm>
            <a:off x="6217920" y="2103120"/>
            <a:ext cx="1280160" cy="320040"/>
          </a:xfrm>
          <a:prstGeom prst="rect">
            <a:avLst/>
          </a:prstGeom>
          <a:noFill/>
          <a:ln/>
        </p:spPr>
        <p:txBody>
          <a:bodyPr wrap="square" lIns="0" tIns="0" rIns="0" bIns="0" rtlCol="0" anchor="t"/>
          <a:lstStyle/>
          <a:p>
            <a:pPr algn="r" indent="0" marL="0">
              <a:buNone/>
            </a:pPr>
            <a:r>
              <a:rPr lang="en-US" sz="1400" dirty="0">
                <a:solidFill>
                  <a:srgbClr val="7A6F64"/>
                </a:solidFill>
                <a:latin typeface="Calibri" pitchFamily="34" charset="0"/>
                <a:ea typeface="Calibri" pitchFamily="34" charset="-122"/>
                <a:cs typeface="Calibri" pitchFamily="34" charset="-120"/>
              </a:rPr>
              <a:t>5,281 rows</a:t>
            </a:r>
            <a:endParaRPr lang="en-US" sz="1400" dirty="0"/>
          </a:p>
        </p:txBody>
      </p:sp>
      <p:sp>
        <p:nvSpPr>
          <p:cNvPr id="24" name="Shape 22"/>
          <p:cNvSpPr/>
          <p:nvPr/>
        </p:nvSpPr>
        <p:spPr>
          <a:xfrm>
            <a:off x="4572000" y="2487168"/>
            <a:ext cx="2926080" cy="0"/>
          </a:xfrm>
          <a:prstGeom prst="line">
            <a:avLst/>
          </a:prstGeom>
          <a:noFill/>
          <a:ln w="9525">
            <a:solidFill>
              <a:srgbClr val="D6CCBB"/>
            </a:solidFill>
            <a:prstDash val="solid"/>
          </a:ln>
        </p:spPr>
      </p:sp>
      <p:sp>
        <p:nvSpPr>
          <p:cNvPr id="25" name="Text 23"/>
          <p:cNvSpPr txBox="1"/>
          <p:nvPr/>
        </p:nvSpPr>
        <p:spPr>
          <a:xfrm>
            <a:off x="4572000" y="2560320"/>
            <a:ext cx="1737360" cy="320040"/>
          </a:xfrm>
          <a:prstGeom prst="rect">
            <a:avLst/>
          </a:prstGeom>
          <a:noFill/>
          <a:ln/>
        </p:spPr>
        <p:txBody>
          <a:bodyPr wrap="square" lIns="0" tIns="0" rIns="0" bIns="0" rtlCol="0" anchor="t"/>
          <a:lstStyle/>
          <a:p>
            <a:pPr indent="0" marL="0">
              <a:buNone/>
            </a:pPr>
            <a:r>
              <a:rPr lang="en-US" sz="1400" b="1" dirty="0">
                <a:solidFill>
                  <a:srgbClr val="3B332C"/>
                </a:solidFill>
                <a:latin typeface="Calibri" pitchFamily="34" charset="0"/>
                <a:ea typeface="Calibri" pitchFamily="34" charset="-122"/>
                <a:cs typeface="Calibri" pitchFamily="34" charset="-120"/>
              </a:rPr>
              <a:t>products</a:t>
            </a:r>
            <a:endParaRPr lang="en-US" sz="1400" dirty="0"/>
          </a:p>
        </p:txBody>
      </p:sp>
      <p:sp>
        <p:nvSpPr>
          <p:cNvPr id="26" name="Text 24"/>
          <p:cNvSpPr txBox="1"/>
          <p:nvPr/>
        </p:nvSpPr>
        <p:spPr>
          <a:xfrm>
            <a:off x="6217920" y="2560320"/>
            <a:ext cx="1280160" cy="320040"/>
          </a:xfrm>
          <a:prstGeom prst="rect">
            <a:avLst/>
          </a:prstGeom>
          <a:noFill/>
          <a:ln/>
        </p:spPr>
        <p:txBody>
          <a:bodyPr wrap="square" lIns="0" tIns="0" rIns="0" bIns="0" rtlCol="0" anchor="t"/>
          <a:lstStyle/>
          <a:p>
            <a:pPr algn="r" indent="0" marL="0">
              <a:buNone/>
            </a:pPr>
            <a:r>
              <a:rPr lang="en-US" sz="1400" dirty="0">
                <a:solidFill>
                  <a:srgbClr val="7A6F64"/>
                </a:solidFill>
                <a:latin typeface="Calibri" pitchFamily="34" charset="0"/>
                <a:ea typeface="Calibri" pitchFamily="34" charset="-122"/>
                <a:cs typeface="Calibri" pitchFamily="34" charset="-120"/>
              </a:rPr>
              <a:t>4,631 rows</a:t>
            </a:r>
            <a:endParaRPr lang="en-US" sz="1400" dirty="0"/>
          </a:p>
        </p:txBody>
      </p:sp>
      <p:sp>
        <p:nvSpPr>
          <p:cNvPr id="27" name="Shape 25"/>
          <p:cNvSpPr/>
          <p:nvPr/>
        </p:nvSpPr>
        <p:spPr>
          <a:xfrm>
            <a:off x="4572000" y="2944368"/>
            <a:ext cx="2926080" cy="0"/>
          </a:xfrm>
          <a:prstGeom prst="line">
            <a:avLst/>
          </a:prstGeom>
          <a:noFill/>
          <a:ln w="9525">
            <a:solidFill>
              <a:srgbClr val="D6CCBB"/>
            </a:solidFill>
            <a:prstDash val="solid"/>
          </a:ln>
        </p:spPr>
      </p:sp>
      <p:sp>
        <p:nvSpPr>
          <p:cNvPr id="28" name="Text 26"/>
          <p:cNvSpPr txBox="1"/>
          <p:nvPr/>
        </p:nvSpPr>
        <p:spPr>
          <a:xfrm>
            <a:off x="4572000" y="3017520"/>
            <a:ext cx="1737360" cy="320040"/>
          </a:xfrm>
          <a:prstGeom prst="rect">
            <a:avLst/>
          </a:prstGeom>
          <a:noFill/>
          <a:ln/>
        </p:spPr>
        <p:txBody>
          <a:bodyPr wrap="square" lIns="0" tIns="0" rIns="0" bIns="0" rtlCol="0" anchor="t"/>
          <a:lstStyle/>
          <a:p>
            <a:pPr indent="0" marL="0">
              <a:buNone/>
            </a:pPr>
            <a:r>
              <a:rPr lang="en-US" sz="1400" b="1" dirty="0">
                <a:solidFill>
                  <a:srgbClr val="3B332C"/>
                </a:solidFill>
                <a:latin typeface="Calibri" pitchFamily="34" charset="0"/>
                <a:ea typeface="Calibri" pitchFamily="34" charset="-122"/>
                <a:cs typeface="Calibri" pitchFamily="34" charset="-120"/>
              </a:rPr>
              <a:t>transactions</a:t>
            </a:r>
            <a:endParaRPr lang="en-US" sz="1400" dirty="0"/>
          </a:p>
        </p:txBody>
      </p:sp>
      <p:sp>
        <p:nvSpPr>
          <p:cNvPr id="29" name="Text 27"/>
          <p:cNvSpPr txBox="1"/>
          <p:nvPr/>
        </p:nvSpPr>
        <p:spPr>
          <a:xfrm>
            <a:off x="6217920" y="3017520"/>
            <a:ext cx="1280160" cy="320040"/>
          </a:xfrm>
          <a:prstGeom prst="rect">
            <a:avLst/>
          </a:prstGeom>
          <a:noFill/>
          <a:ln/>
        </p:spPr>
        <p:txBody>
          <a:bodyPr wrap="square" lIns="0" tIns="0" rIns="0" bIns="0" rtlCol="0" anchor="t"/>
          <a:lstStyle/>
          <a:p>
            <a:pPr algn="r" indent="0" marL="0">
              <a:buNone/>
            </a:pPr>
            <a:r>
              <a:rPr lang="en-US" sz="1400" dirty="0">
                <a:solidFill>
                  <a:srgbClr val="7A6F64"/>
                </a:solidFill>
                <a:latin typeface="Calibri" pitchFamily="34" charset="0"/>
                <a:ea typeface="Calibri" pitchFamily="34" charset="-122"/>
                <a:cs typeface="Calibri" pitchFamily="34" charset="-120"/>
              </a:rPr>
              <a:t>752,407 rows</a:t>
            </a:r>
            <a:endParaRPr lang="en-US" sz="1400" dirty="0"/>
          </a:p>
        </p:txBody>
      </p:sp>
      <p:sp>
        <p:nvSpPr>
          <p:cNvPr id="30" name="Shape 28"/>
          <p:cNvSpPr/>
          <p:nvPr/>
        </p:nvSpPr>
        <p:spPr>
          <a:xfrm>
            <a:off x="4572000" y="3401568"/>
            <a:ext cx="2926080" cy="0"/>
          </a:xfrm>
          <a:prstGeom prst="line">
            <a:avLst/>
          </a:prstGeom>
          <a:noFill/>
          <a:ln w="9525">
            <a:solidFill>
              <a:srgbClr val="D6CCBB"/>
            </a:solidFill>
            <a:prstDash val="solid"/>
          </a:ln>
        </p:spPr>
      </p:sp>
      <p:sp>
        <p:nvSpPr>
          <p:cNvPr id="31" name="Text 29"/>
          <p:cNvSpPr txBox="1"/>
          <p:nvPr/>
        </p:nvSpPr>
        <p:spPr>
          <a:xfrm>
            <a:off x="4572000" y="3474720"/>
            <a:ext cx="1737360" cy="320040"/>
          </a:xfrm>
          <a:prstGeom prst="rect">
            <a:avLst/>
          </a:prstGeom>
          <a:noFill/>
          <a:ln/>
        </p:spPr>
        <p:txBody>
          <a:bodyPr wrap="square" lIns="0" tIns="0" rIns="0" bIns="0" rtlCol="0" anchor="t"/>
          <a:lstStyle/>
          <a:p>
            <a:pPr indent="0" marL="0">
              <a:buNone/>
            </a:pPr>
            <a:r>
              <a:rPr lang="en-US" sz="1400" b="1" dirty="0">
                <a:solidFill>
                  <a:srgbClr val="3B332C"/>
                </a:solidFill>
                <a:latin typeface="Calibri" pitchFamily="34" charset="0"/>
                <a:ea typeface="Calibri" pitchFamily="34" charset="-122"/>
                <a:cs typeface="Calibri" pitchFamily="34" charset="-120"/>
              </a:rPr>
              <a:t>ml_predictions</a:t>
            </a:r>
            <a:endParaRPr lang="en-US" sz="1400" dirty="0"/>
          </a:p>
        </p:txBody>
      </p:sp>
      <p:sp>
        <p:nvSpPr>
          <p:cNvPr id="32" name="Text 30"/>
          <p:cNvSpPr txBox="1"/>
          <p:nvPr/>
        </p:nvSpPr>
        <p:spPr>
          <a:xfrm>
            <a:off x="6217920" y="3474720"/>
            <a:ext cx="1280160" cy="320040"/>
          </a:xfrm>
          <a:prstGeom prst="rect">
            <a:avLst/>
          </a:prstGeom>
          <a:noFill/>
          <a:ln/>
        </p:spPr>
        <p:txBody>
          <a:bodyPr wrap="square" lIns="0" tIns="0" rIns="0" bIns="0" rtlCol="0" anchor="t"/>
          <a:lstStyle/>
          <a:p>
            <a:pPr algn="r" indent="0" marL="0">
              <a:buNone/>
            </a:pPr>
            <a:r>
              <a:rPr lang="en-US" sz="1400" dirty="0">
                <a:solidFill>
                  <a:srgbClr val="7A6F64"/>
                </a:solidFill>
                <a:latin typeface="Calibri" pitchFamily="34" charset="0"/>
                <a:ea typeface="Calibri" pitchFamily="34" charset="-122"/>
                <a:cs typeface="Calibri" pitchFamily="34" charset="-120"/>
              </a:rPr>
              <a:t>5,281 rows</a:t>
            </a:r>
            <a:endParaRPr lang="en-US" sz="1400" dirty="0"/>
          </a:p>
        </p:txBody>
      </p:sp>
      <p:sp>
        <p:nvSpPr>
          <p:cNvPr id="33" name="Shape 31"/>
          <p:cNvSpPr/>
          <p:nvPr/>
        </p:nvSpPr>
        <p:spPr>
          <a:xfrm>
            <a:off x="4572000" y="3858768"/>
            <a:ext cx="2926080" cy="0"/>
          </a:xfrm>
          <a:prstGeom prst="line">
            <a:avLst/>
          </a:prstGeom>
          <a:noFill/>
          <a:ln w="9525">
            <a:solidFill>
              <a:srgbClr val="D6CCBB"/>
            </a:solidFill>
            <a:prstDash val="solid"/>
          </a:ln>
        </p:spPr>
      </p:sp>
      <p:sp>
        <p:nvSpPr>
          <p:cNvPr id="34" name="Text 32"/>
          <p:cNvSpPr txBox="1"/>
          <p:nvPr/>
        </p:nvSpPr>
        <p:spPr>
          <a:xfrm>
            <a:off x="4572000" y="4160520"/>
            <a:ext cx="3017520" cy="1737360"/>
          </a:xfrm>
          <a:prstGeom prst="rect">
            <a:avLst/>
          </a:prstGeom>
          <a:noFill/>
          <a:ln/>
        </p:spPr>
        <p:txBody>
          <a:bodyPr wrap="square" lIns="0" tIns="0" rIns="0" bIns="0" rtlCol="0" anchor="t"/>
          <a:lstStyle/>
          <a:p>
            <a:pPr marL="228600" indent="-228600">
              <a:spcAft>
                <a:spcPts val="600"/>
              </a:spcAft>
              <a:buSzPct val="100000"/>
              <a:buChar char="•"/>
            </a:pPr>
            <a:r>
              <a:rPr lang="en-US" sz="1300" dirty="0">
                <a:solidFill>
                  <a:srgbClr val="3B332C"/>
                </a:solidFill>
                <a:latin typeface="Calibri" pitchFamily="34" charset="0"/>
                <a:ea typeface="Calibri" pitchFamily="34" charset="-122"/>
                <a:cs typeface="Calibri" pitchFamily="34" charset="-120"/>
              </a:rPr>
              <a:t>Primary keys on every table</a:t>
            </a:r>
            <a:endParaRPr lang="en-US" sz="1300" dirty="0"/>
          </a:p>
          <a:p>
            <a:pPr marL="228600" indent="-228600">
              <a:spcAft>
                <a:spcPts val="600"/>
              </a:spcAft>
              <a:buSzPct val="100000"/>
              <a:buChar char="•"/>
            </a:pPr>
            <a:r>
              <a:rPr lang="en-US" sz="1300" dirty="0">
                <a:solidFill>
                  <a:srgbClr val="3B332C"/>
                </a:solidFill>
                <a:latin typeface="Calibri" pitchFamily="34" charset="0"/>
                <a:ea typeface="Calibri" pitchFamily="34" charset="-122"/>
                <a:cs typeface="Calibri" pitchFamily="34" charset="-120"/>
              </a:rPr>
              <a:t>Foreign keys to customers and products</a:t>
            </a:r>
            <a:endParaRPr lang="en-US" sz="1300" dirty="0"/>
          </a:p>
          <a:p>
            <a:pPr marL="228600" indent="-228600">
              <a:spcAft>
                <a:spcPts val="600"/>
              </a:spcAft>
              <a:buSzPct val="100000"/>
              <a:buChar char="•"/>
            </a:pPr>
            <a:r>
              <a:rPr lang="en-US" sz="1300" dirty="0">
                <a:solidFill>
                  <a:srgbClr val="3B332C"/>
                </a:solidFill>
                <a:latin typeface="Calibri" pitchFamily="34" charset="0"/>
                <a:ea typeface="Calibri" pitchFamily="34" charset="-122"/>
                <a:cs typeface="Calibri" pitchFamily="34" charset="-120"/>
              </a:rPr>
              <a:t>CHECK constraints on targets, quantity, price</a:t>
            </a:r>
            <a:endParaRPr lang="en-US" sz="1300" dirty="0"/>
          </a:p>
          <a:p>
            <a:pPr marL="228600" indent="-228600">
              <a:spcAft>
                <a:spcPts val="600"/>
              </a:spcAft>
              <a:buSzPct val="100000"/>
              <a:buChar char="•"/>
            </a:pPr>
            <a:r>
              <a:rPr lang="en-US" sz="1300" dirty="0">
                <a:solidFill>
                  <a:srgbClr val="3B332C"/>
                </a:solidFill>
                <a:latin typeface="Calibri" pitchFamily="34" charset="0"/>
                <a:ea typeface="Calibri" pitchFamily="34" charset="-122"/>
                <a:cs typeface="Calibri" pitchFamily="34" charset="-120"/>
              </a:rPr>
              <a:t>7 indexes on join and filter columns</a:t>
            </a:r>
            <a:endParaRPr lang="en-US" sz="1300" dirty="0"/>
          </a:p>
        </p:txBody>
      </p:sp>
      <p:pic>
        <p:nvPicPr>
          <p:cNvPr id="35" name="Image 0" descr="preencoded.png">    </p:cNvPr>
          <p:cNvPicPr>
            <a:picLocks noChangeAspect="1"/>
          </p:cNvPicPr>
          <p:nvPr/>
        </p:nvPicPr>
        <p:blipFill>
          <a:blip r:embed="rId1"/>
          <a:stretch>
            <a:fillRect/>
          </a:stretch>
        </p:blipFill>
        <p:spPr>
          <a:xfrm>
            <a:off x="7662672" y="1828800"/>
            <a:ext cx="3886200" cy="1969107"/>
          </a:xfrm>
          <a:prstGeom prst="rect">
            <a:avLst/>
          </a:prstGeom>
        </p:spPr>
      </p:pic>
      <p:sp>
        <p:nvSpPr>
          <p:cNvPr id="36" name="Text 33"/>
          <p:cNvSpPr txBox="1"/>
          <p:nvPr/>
        </p:nvSpPr>
        <p:spPr>
          <a:xfrm>
            <a:off x="7662672" y="3843627"/>
            <a:ext cx="3886200" cy="274320"/>
          </a:xfrm>
          <a:prstGeom prst="rect">
            <a:avLst/>
          </a:prstGeom>
          <a:noFill/>
          <a:ln/>
        </p:spPr>
        <p:txBody>
          <a:bodyPr wrap="square" lIns="0" tIns="0" rIns="0" bIns="0" rtlCol="0" anchor="t"/>
          <a:lstStyle/>
          <a:p>
            <a:pPr indent="0" marL="0">
              <a:buNone/>
            </a:pPr>
            <a:r>
              <a:rPr lang="en-US" sz="1000" i="1" dirty="0">
                <a:solidFill>
                  <a:srgbClr val="7A6F64"/>
                </a:solidFill>
                <a:latin typeface="Calibri" pitchFamily="34" charset="0"/>
                <a:ea typeface="Calibri" pitchFamily="34" charset="-122"/>
                <a:cs typeface="Calibri" pitchFamily="34" charset="-120"/>
              </a:rPr>
              <a:t>Final database check from the Colab notebook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07  SQL ANALYSIS</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Nine analytical SQL queries</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8</a:t>
            </a:r>
            <a:endParaRPr lang="en-US" sz="900" dirty="0"/>
          </a:p>
        </p:txBody>
      </p:sp>
      <p:sp>
        <p:nvSpPr>
          <p:cNvPr id="6" name="Text 4"/>
          <p:cNvSpPr txBox="1"/>
          <p:nvPr/>
        </p:nvSpPr>
        <p:spPr>
          <a:xfrm>
            <a:off x="640080" y="1737360"/>
            <a:ext cx="4480560" cy="640080"/>
          </a:xfrm>
          <a:prstGeom prst="rect">
            <a:avLst/>
          </a:prstGeom>
          <a:noFill/>
          <a:ln/>
        </p:spPr>
        <p:txBody>
          <a:bodyPr wrap="square" lIns="0" tIns="0" rIns="0" bIns="0" rtlCol="0" anchor="t"/>
          <a:lstStyle/>
          <a:p>
            <a:pPr indent="0" marL="0">
              <a:buNone/>
            </a:pPr>
            <a:r>
              <a:rPr lang="en-US" sz="1500" dirty="0">
                <a:solidFill>
                  <a:srgbClr val="7A6F64"/>
                </a:solidFill>
                <a:latin typeface="Calibri" pitchFamily="34" charset="0"/>
                <a:ea typeface="Calibri" pitchFamily="34" charset="-122"/>
                <a:cs typeface="Calibri" pitchFamily="34" charset="-120"/>
              </a:rPr>
              <a:t>Queries were run from Python on the normalized database. Together they cover:</a:t>
            </a:r>
            <a:endParaRPr lang="en-US" sz="1500" dirty="0"/>
          </a:p>
        </p:txBody>
      </p:sp>
      <p:sp>
        <p:nvSpPr>
          <p:cNvPr id="7" name="Text 5"/>
          <p:cNvSpPr txBox="1"/>
          <p:nvPr/>
        </p:nvSpPr>
        <p:spPr>
          <a:xfrm>
            <a:off x="640080" y="2514600"/>
            <a:ext cx="2103120" cy="365760"/>
          </a:xfrm>
          <a:prstGeom prst="rect">
            <a:avLst/>
          </a:prstGeom>
          <a:noFill/>
          <a:ln/>
        </p:spPr>
        <p:txBody>
          <a:bodyPr wrap="square" lIns="0" tIns="0" rIns="0" bIns="0" rtlCol="0" anchor="t"/>
          <a:lstStyle/>
          <a:p>
            <a:pPr indent="0" marL="0">
              <a:buNone/>
            </a:pPr>
            <a:r>
              <a:rPr lang="en-US" sz="1500" b="1" dirty="0">
                <a:solidFill>
                  <a:srgbClr val="5E6B4E"/>
                </a:solidFill>
                <a:latin typeface="Calibri" pitchFamily="34" charset="0"/>
                <a:ea typeface="Calibri" pitchFamily="34" charset="-122"/>
                <a:cs typeface="Calibri" pitchFamily="34" charset="-120"/>
              </a:rPr>
              <a:t>JOIN + GROUP BY</a:t>
            </a:r>
            <a:endParaRPr lang="en-US" sz="1500" dirty="0"/>
          </a:p>
        </p:txBody>
      </p:sp>
      <p:sp>
        <p:nvSpPr>
          <p:cNvPr id="8" name="Text 6"/>
          <p:cNvSpPr txBox="1"/>
          <p:nvPr/>
        </p:nvSpPr>
        <p:spPr>
          <a:xfrm>
            <a:off x="2788920" y="2532888"/>
            <a:ext cx="23774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revenue per segment</a:t>
            </a:r>
            <a:endParaRPr lang="en-US" sz="1300" dirty="0"/>
          </a:p>
        </p:txBody>
      </p:sp>
      <p:sp>
        <p:nvSpPr>
          <p:cNvPr id="9" name="Text 7"/>
          <p:cNvSpPr txBox="1"/>
          <p:nvPr/>
        </p:nvSpPr>
        <p:spPr>
          <a:xfrm>
            <a:off x="640080" y="3063240"/>
            <a:ext cx="2103120" cy="365760"/>
          </a:xfrm>
          <a:prstGeom prst="rect">
            <a:avLst/>
          </a:prstGeom>
          <a:noFill/>
          <a:ln/>
        </p:spPr>
        <p:txBody>
          <a:bodyPr wrap="square" lIns="0" tIns="0" rIns="0" bIns="0" rtlCol="0" anchor="t"/>
          <a:lstStyle/>
          <a:p>
            <a:pPr indent="0" marL="0">
              <a:buNone/>
            </a:pPr>
            <a:r>
              <a:rPr lang="en-US" sz="1500" b="1" dirty="0">
                <a:solidFill>
                  <a:srgbClr val="B5694A"/>
                </a:solidFill>
                <a:latin typeface="Calibri" pitchFamily="34" charset="0"/>
                <a:ea typeface="Calibri" pitchFamily="34" charset="-122"/>
                <a:cs typeface="Calibri" pitchFamily="34" charset="-120"/>
              </a:rPr>
              <a:t>Aggregation</a:t>
            </a:r>
            <a:endParaRPr lang="en-US" sz="1500" dirty="0"/>
          </a:p>
        </p:txBody>
      </p:sp>
      <p:sp>
        <p:nvSpPr>
          <p:cNvPr id="10" name="Text 8"/>
          <p:cNvSpPr txBox="1"/>
          <p:nvPr/>
        </p:nvSpPr>
        <p:spPr>
          <a:xfrm>
            <a:off x="2788920" y="3081528"/>
            <a:ext cx="23774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churn rate by country</a:t>
            </a:r>
            <a:endParaRPr lang="en-US" sz="1300" dirty="0"/>
          </a:p>
        </p:txBody>
      </p:sp>
      <p:sp>
        <p:nvSpPr>
          <p:cNvPr id="11" name="Text 9"/>
          <p:cNvSpPr txBox="1"/>
          <p:nvPr/>
        </p:nvSpPr>
        <p:spPr>
          <a:xfrm>
            <a:off x="640080" y="3611880"/>
            <a:ext cx="2103120" cy="365760"/>
          </a:xfrm>
          <a:prstGeom prst="rect">
            <a:avLst/>
          </a:prstGeom>
          <a:noFill/>
          <a:ln/>
        </p:spPr>
        <p:txBody>
          <a:bodyPr wrap="square" lIns="0" tIns="0" rIns="0" bIns="0" rtlCol="0" anchor="t"/>
          <a:lstStyle/>
          <a:p>
            <a:pPr indent="0" marL="0">
              <a:buNone/>
            </a:pPr>
            <a:r>
              <a:rPr lang="en-US" sz="1500" b="1" dirty="0">
                <a:solidFill>
                  <a:srgbClr val="5E6B4E"/>
                </a:solidFill>
                <a:latin typeface="Calibri" pitchFamily="34" charset="0"/>
                <a:ea typeface="Calibri" pitchFamily="34" charset="-122"/>
                <a:cs typeface="Calibri" pitchFamily="34" charset="-120"/>
              </a:rPr>
              <a:t>Subquery</a:t>
            </a:r>
            <a:endParaRPr lang="en-US" sz="1500" dirty="0"/>
          </a:p>
        </p:txBody>
      </p:sp>
      <p:sp>
        <p:nvSpPr>
          <p:cNvPr id="12" name="Text 10"/>
          <p:cNvSpPr txBox="1"/>
          <p:nvPr/>
        </p:nvSpPr>
        <p:spPr>
          <a:xfrm>
            <a:off x="2788920" y="3630168"/>
            <a:ext cx="23774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customers above 2x average spend</a:t>
            </a:r>
            <a:endParaRPr lang="en-US" sz="1300" dirty="0"/>
          </a:p>
        </p:txBody>
      </p:sp>
      <p:sp>
        <p:nvSpPr>
          <p:cNvPr id="13" name="Text 11"/>
          <p:cNvSpPr txBox="1"/>
          <p:nvPr/>
        </p:nvSpPr>
        <p:spPr>
          <a:xfrm>
            <a:off x="640080" y="4160520"/>
            <a:ext cx="2103120" cy="365760"/>
          </a:xfrm>
          <a:prstGeom prst="rect">
            <a:avLst/>
          </a:prstGeom>
          <a:noFill/>
          <a:ln/>
        </p:spPr>
        <p:txBody>
          <a:bodyPr wrap="square" lIns="0" tIns="0" rIns="0" bIns="0" rtlCol="0" anchor="t"/>
          <a:lstStyle/>
          <a:p>
            <a:pPr indent="0" marL="0">
              <a:buNone/>
            </a:pPr>
            <a:r>
              <a:rPr lang="en-US" sz="1500" b="1" dirty="0">
                <a:solidFill>
                  <a:srgbClr val="B5694A"/>
                </a:solidFill>
                <a:latin typeface="Calibri" pitchFamily="34" charset="0"/>
                <a:ea typeface="Calibri" pitchFamily="34" charset="-122"/>
                <a:cs typeface="Calibri" pitchFamily="34" charset="-120"/>
              </a:rPr>
              <a:t>Window function</a:t>
            </a:r>
            <a:endParaRPr lang="en-US" sz="1500" dirty="0"/>
          </a:p>
        </p:txBody>
      </p:sp>
      <p:sp>
        <p:nvSpPr>
          <p:cNvPr id="14" name="Text 12"/>
          <p:cNvSpPr txBox="1"/>
          <p:nvPr/>
        </p:nvSpPr>
        <p:spPr>
          <a:xfrm>
            <a:off x="2788920" y="4178808"/>
            <a:ext cx="23774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top products per segment</a:t>
            </a:r>
            <a:endParaRPr lang="en-US" sz="1300" dirty="0"/>
          </a:p>
        </p:txBody>
      </p:sp>
      <p:sp>
        <p:nvSpPr>
          <p:cNvPr id="15" name="Text 13"/>
          <p:cNvSpPr txBox="1"/>
          <p:nvPr/>
        </p:nvSpPr>
        <p:spPr>
          <a:xfrm>
            <a:off x="640080" y="4709160"/>
            <a:ext cx="2103120" cy="365760"/>
          </a:xfrm>
          <a:prstGeom prst="rect">
            <a:avLst/>
          </a:prstGeom>
          <a:noFill/>
          <a:ln/>
        </p:spPr>
        <p:txBody>
          <a:bodyPr wrap="square" lIns="0" tIns="0" rIns="0" bIns="0" rtlCol="0" anchor="t"/>
          <a:lstStyle/>
          <a:p>
            <a:pPr indent="0" marL="0">
              <a:buNone/>
            </a:pPr>
            <a:r>
              <a:rPr lang="en-US" sz="1500" b="1" dirty="0">
                <a:solidFill>
                  <a:srgbClr val="5E6B4E"/>
                </a:solidFill>
                <a:latin typeface="Calibri" pitchFamily="34" charset="0"/>
                <a:ea typeface="Calibri" pitchFamily="34" charset="-122"/>
                <a:cs typeface="Calibri" pitchFamily="34" charset="-120"/>
              </a:rPr>
              <a:t>Parameterised query</a:t>
            </a:r>
            <a:endParaRPr lang="en-US" sz="1500" dirty="0"/>
          </a:p>
        </p:txBody>
      </p:sp>
      <p:sp>
        <p:nvSpPr>
          <p:cNvPr id="16" name="Text 14"/>
          <p:cNvSpPr txBox="1"/>
          <p:nvPr/>
        </p:nvSpPr>
        <p:spPr>
          <a:xfrm>
            <a:off x="2788920" y="4727448"/>
            <a:ext cx="23774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safe input, no SQL injection</a:t>
            </a:r>
            <a:endParaRPr lang="en-US" sz="1300" dirty="0"/>
          </a:p>
        </p:txBody>
      </p:sp>
      <p:sp>
        <p:nvSpPr>
          <p:cNvPr id="17" name="Text 15"/>
          <p:cNvSpPr txBox="1"/>
          <p:nvPr/>
        </p:nvSpPr>
        <p:spPr>
          <a:xfrm>
            <a:off x="640080" y="5257800"/>
            <a:ext cx="2103120" cy="365760"/>
          </a:xfrm>
          <a:prstGeom prst="rect">
            <a:avLst/>
          </a:prstGeom>
          <a:noFill/>
          <a:ln/>
        </p:spPr>
        <p:txBody>
          <a:bodyPr wrap="square" lIns="0" tIns="0" rIns="0" bIns="0" rtlCol="0" anchor="t"/>
          <a:lstStyle/>
          <a:p>
            <a:pPr indent="0" marL="0">
              <a:buNone/>
            </a:pPr>
            <a:r>
              <a:rPr lang="en-US" sz="1500" b="1" dirty="0">
                <a:solidFill>
                  <a:srgbClr val="B5694A"/>
                </a:solidFill>
                <a:latin typeface="Calibri" pitchFamily="34" charset="0"/>
                <a:ea typeface="Calibri" pitchFamily="34" charset="-122"/>
                <a:cs typeface="Calibri" pitchFamily="34" charset="-120"/>
              </a:rPr>
              <a:t>CASE expression</a:t>
            </a:r>
            <a:endParaRPr lang="en-US" sz="1500" dirty="0"/>
          </a:p>
        </p:txBody>
      </p:sp>
      <p:sp>
        <p:nvSpPr>
          <p:cNvPr id="18" name="Text 16"/>
          <p:cNvSpPr txBox="1"/>
          <p:nvPr/>
        </p:nvSpPr>
        <p:spPr>
          <a:xfrm>
            <a:off x="2788920" y="5276088"/>
            <a:ext cx="2377440" cy="3657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churned vs retained</a:t>
            </a:r>
            <a:endParaRPr lang="en-US" sz="1300" dirty="0"/>
          </a:p>
        </p:txBody>
      </p:sp>
      <p:pic>
        <p:nvPicPr>
          <p:cNvPr id="19" name="Image 0" descr="preencoded.png">    </p:cNvPr>
          <p:cNvPicPr>
            <a:picLocks noChangeAspect="1"/>
          </p:cNvPicPr>
          <p:nvPr/>
        </p:nvPicPr>
        <p:blipFill>
          <a:blip r:embed="rId1"/>
          <a:stretch>
            <a:fillRect/>
          </a:stretch>
        </p:blipFill>
        <p:spPr>
          <a:xfrm>
            <a:off x="5440680" y="1920240"/>
            <a:ext cx="6035040" cy="1961388"/>
          </a:xfrm>
          <a:prstGeom prst="rect">
            <a:avLst/>
          </a:prstGeom>
        </p:spPr>
      </p:pic>
      <p:sp>
        <p:nvSpPr>
          <p:cNvPr id="20" name="Text 17"/>
          <p:cNvSpPr txBox="1"/>
          <p:nvPr/>
        </p:nvSpPr>
        <p:spPr>
          <a:xfrm>
            <a:off x="5440680" y="3973068"/>
            <a:ext cx="6035040" cy="274320"/>
          </a:xfrm>
          <a:prstGeom prst="rect">
            <a:avLst/>
          </a:prstGeom>
          <a:noFill/>
          <a:ln/>
        </p:spPr>
        <p:txBody>
          <a:bodyPr wrap="square" lIns="0" tIns="0" rIns="0" bIns="0" rtlCol="0" anchor="t"/>
          <a:lstStyle/>
          <a:p>
            <a:pPr indent="0" marL="0">
              <a:buNone/>
            </a:pPr>
            <a:r>
              <a:rPr lang="en-US" sz="1100" i="1" dirty="0">
                <a:solidFill>
                  <a:srgbClr val="7A6F64"/>
                </a:solidFill>
                <a:latin typeface="Calibri" pitchFamily="34" charset="0"/>
                <a:ea typeface="Calibri" pitchFamily="34" charset="-122"/>
                <a:cs typeface="Calibri" pitchFamily="34" charset="-120"/>
              </a:rPr>
              <a:t>Query 7: ROW_NUMBER() ranks products separately inside each segment</a:t>
            </a:r>
            <a:endParaRPr lang="en-US" sz="1100" dirty="0"/>
          </a:p>
        </p:txBody>
      </p:sp>
      <p:sp>
        <p:nvSpPr>
          <p:cNvPr id="21" name="Text 18"/>
          <p:cNvSpPr txBox="1"/>
          <p:nvPr/>
        </p:nvSpPr>
        <p:spPr>
          <a:xfrm>
            <a:off x="5440680" y="4846320"/>
            <a:ext cx="6035040" cy="640080"/>
          </a:xfrm>
          <a:prstGeom prst="rect">
            <a:avLst/>
          </a:prstGeom>
          <a:noFill/>
          <a:ln/>
        </p:spPr>
        <p:txBody>
          <a:bodyPr wrap="square" lIns="0" tIns="0" rIns="0" bIns="0" rtlCol="0" anchor="t"/>
          <a:lstStyle/>
          <a:p>
            <a:pPr indent="0" marL="0">
              <a:buNone/>
            </a:pPr>
            <a:r>
              <a:rPr lang="en-US" sz="1400" dirty="0">
                <a:solidFill>
                  <a:srgbClr val="3B332C"/>
                </a:solidFill>
                <a:latin typeface="Calibri" pitchFamily="34" charset="0"/>
                <a:ea typeface="Calibri" pitchFamily="34" charset="-122"/>
                <a:cs typeface="Calibri" pitchFamily="34" charset="-120"/>
              </a:rPr>
              <a:t>Retained customers order about 3x as often and spend about 4x as much as churned customers (Query 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08  MACHINE LEARNING</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24 models across three tasks</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9</a:t>
            </a:r>
            <a:endParaRPr lang="en-US" sz="900" dirty="0"/>
          </a:p>
        </p:txBody>
      </p:sp>
      <p:sp>
        <p:nvSpPr>
          <p:cNvPr id="6" name="Text 4"/>
          <p:cNvSpPr txBox="1"/>
          <p:nvPr/>
        </p:nvSpPr>
        <p:spPr>
          <a:xfrm>
            <a:off x="640080" y="1691640"/>
            <a:ext cx="1737360" cy="777240"/>
          </a:xfrm>
          <a:prstGeom prst="rect">
            <a:avLst/>
          </a:prstGeom>
          <a:noFill/>
          <a:ln/>
        </p:spPr>
        <p:txBody>
          <a:bodyPr wrap="square" lIns="0" tIns="0" rIns="0" bIns="0" rtlCol="0" anchor="t"/>
          <a:lstStyle/>
          <a:p>
            <a:pPr indent="0" marL="0">
              <a:buNone/>
            </a:pPr>
            <a:r>
              <a:rPr lang="en-US" sz="4400" b="1" dirty="0">
                <a:solidFill>
                  <a:srgbClr val="B5694A"/>
                </a:solidFill>
                <a:latin typeface="Calibri" pitchFamily="34" charset="0"/>
                <a:ea typeface="Calibri" pitchFamily="34" charset="-122"/>
                <a:cs typeface="Calibri" pitchFamily="34" charset="-120"/>
              </a:rPr>
              <a:t>13</a:t>
            </a:r>
            <a:endParaRPr lang="en-US" sz="4400" dirty="0"/>
          </a:p>
        </p:txBody>
      </p:sp>
      <p:sp>
        <p:nvSpPr>
          <p:cNvPr id="7" name="Text 5"/>
          <p:cNvSpPr txBox="1"/>
          <p:nvPr/>
        </p:nvSpPr>
        <p:spPr>
          <a:xfrm>
            <a:off x="640080" y="2468880"/>
            <a:ext cx="1737360" cy="32004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Churn</a:t>
            </a:r>
            <a:endParaRPr lang="en-US" sz="1400" dirty="0"/>
          </a:p>
        </p:txBody>
      </p:sp>
      <p:sp>
        <p:nvSpPr>
          <p:cNvPr id="8" name="Text 6"/>
          <p:cNvSpPr txBox="1"/>
          <p:nvPr/>
        </p:nvSpPr>
        <p:spPr>
          <a:xfrm>
            <a:off x="2651760" y="1691640"/>
            <a:ext cx="1737360" cy="777240"/>
          </a:xfrm>
          <a:prstGeom prst="rect">
            <a:avLst/>
          </a:prstGeom>
          <a:noFill/>
          <a:ln/>
        </p:spPr>
        <p:txBody>
          <a:bodyPr wrap="square" lIns="0" tIns="0" rIns="0" bIns="0" rtlCol="0" anchor="t"/>
          <a:lstStyle/>
          <a:p>
            <a:pPr indent="0" marL="0">
              <a:buNone/>
            </a:pPr>
            <a:r>
              <a:rPr lang="en-US" sz="4400" b="1" dirty="0">
                <a:solidFill>
                  <a:srgbClr val="C9A44C"/>
                </a:solidFill>
                <a:latin typeface="Calibri" pitchFamily="34" charset="0"/>
                <a:ea typeface="Calibri" pitchFamily="34" charset="-122"/>
                <a:cs typeface="Calibri" pitchFamily="34" charset="-120"/>
              </a:rPr>
              <a:t>6</a:t>
            </a:r>
            <a:endParaRPr lang="en-US" sz="4400" dirty="0"/>
          </a:p>
        </p:txBody>
      </p:sp>
      <p:sp>
        <p:nvSpPr>
          <p:cNvPr id="9" name="Text 7"/>
          <p:cNvSpPr txBox="1"/>
          <p:nvPr/>
        </p:nvSpPr>
        <p:spPr>
          <a:xfrm>
            <a:off x="2651760" y="2468880"/>
            <a:ext cx="1737360" cy="32004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High-value</a:t>
            </a:r>
            <a:endParaRPr lang="en-US" sz="1400" dirty="0"/>
          </a:p>
        </p:txBody>
      </p:sp>
      <p:sp>
        <p:nvSpPr>
          <p:cNvPr id="10" name="Text 8"/>
          <p:cNvSpPr txBox="1"/>
          <p:nvPr/>
        </p:nvSpPr>
        <p:spPr>
          <a:xfrm>
            <a:off x="4663440" y="1691640"/>
            <a:ext cx="1737360" cy="777240"/>
          </a:xfrm>
          <a:prstGeom prst="rect">
            <a:avLst/>
          </a:prstGeom>
          <a:noFill/>
          <a:ln/>
        </p:spPr>
        <p:txBody>
          <a:bodyPr wrap="square" lIns="0" tIns="0" rIns="0" bIns="0" rtlCol="0" anchor="t"/>
          <a:lstStyle/>
          <a:p>
            <a:pPr indent="0" marL="0">
              <a:buNone/>
            </a:pPr>
            <a:r>
              <a:rPr lang="en-US" sz="4400" b="1" dirty="0">
                <a:solidFill>
                  <a:srgbClr val="7D8C6A"/>
                </a:solidFill>
                <a:latin typeface="Calibri" pitchFamily="34" charset="0"/>
                <a:ea typeface="Calibri" pitchFamily="34" charset="-122"/>
                <a:cs typeface="Calibri" pitchFamily="34" charset="-120"/>
              </a:rPr>
              <a:t>5</a:t>
            </a:r>
            <a:endParaRPr lang="en-US" sz="4400" dirty="0"/>
          </a:p>
        </p:txBody>
      </p:sp>
      <p:sp>
        <p:nvSpPr>
          <p:cNvPr id="11" name="Text 9"/>
          <p:cNvSpPr txBox="1"/>
          <p:nvPr/>
        </p:nvSpPr>
        <p:spPr>
          <a:xfrm>
            <a:off x="4663440" y="2468880"/>
            <a:ext cx="1737360" cy="32004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Segment</a:t>
            </a:r>
            <a:endParaRPr lang="en-US" sz="1400" dirty="0"/>
          </a:p>
        </p:txBody>
      </p:sp>
      <p:sp>
        <p:nvSpPr>
          <p:cNvPr id="12" name="Text 10"/>
          <p:cNvSpPr txBox="1"/>
          <p:nvPr/>
        </p:nvSpPr>
        <p:spPr>
          <a:xfrm>
            <a:off x="6858000" y="1920240"/>
            <a:ext cx="4663440" cy="731520"/>
          </a:xfrm>
          <a:prstGeom prst="rect">
            <a:avLst/>
          </a:prstGeom>
          <a:noFill/>
          <a:ln/>
        </p:spPr>
        <p:txBody>
          <a:bodyPr wrap="square" lIns="0" tIns="0" rIns="0" bIns="0" rtlCol="0" anchor="t"/>
          <a:lstStyle/>
          <a:p>
            <a:pPr indent="0" marL="0">
              <a:buNone/>
            </a:pPr>
            <a:r>
              <a:rPr lang="en-US" sz="1400" i="1" dirty="0">
                <a:solidFill>
                  <a:srgbClr val="7A6F64"/>
                </a:solidFill>
                <a:latin typeface="Calibri" pitchFamily="34" charset="0"/>
                <a:ea typeface="Calibri" pitchFamily="34" charset="-122"/>
                <a:cs typeface="Calibri" pitchFamily="34" charset="-120"/>
              </a:rPr>
              <a:t>Plus a stacking ensemble (MLP + Gradient Boosting + Random Forest)</a:t>
            </a:r>
            <a:endParaRPr lang="en-US" sz="1400" dirty="0"/>
          </a:p>
        </p:txBody>
      </p:sp>
      <p:sp>
        <p:nvSpPr>
          <p:cNvPr id="13" name="Text 11"/>
          <p:cNvSpPr txBox="1"/>
          <p:nvPr/>
        </p:nvSpPr>
        <p:spPr>
          <a:xfrm>
            <a:off x="640080" y="3246120"/>
            <a:ext cx="5486400" cy="320040"/>
          </a:xfrm>
          <a:prstGeom prst="rect">
            <a:avLst/>
          </a:prstGeom>
          <a:noFill/>
          <a:ln/>
        </p:spPr>
        <p:txBody>
          <a:bodyPr wrap="square" lIns="0" tIns="0" rIns="0" bIns="0" rtlCol="0" anchor="t"/>
          <a:lstStyle/>
          <a:p>
            <a:pPr indent="0" marL="0">
              <a:buNone/>
            </a:pPr>
            <a:r>
              <a:rPr lang="en-US" sz="1400" b="1" dirty="0">
                <a:solidFill>
                  <a:srgbClr val="3B332C"/>
                </a:solidFill>
                <a:latin typeface="Calibri" pitchFamily="34" charset="0"/>
                <a:ea typeface="Calibri" pitchFamily="34" charset="-122"/>
                <a:cs typeface="Calibri" pitchFamily="34" charset="-120"/>
              </a:rPr>
              <a:t>Churn models grouped by family</a:t>
            </a:r>
            <a:endParaRPr lang="en-US" sz="1400" dirty="0"/>
          </a:p>
        </p:txBody>
      </p:sp>
      <p:sp>
        <p:nvSpPr>
          <p:cNvPr id="14" name="Shape 12"/>
          <p:cNvSpPr/>
          <p:nvPr/>
        </p:nvSpPr>
        <p:spPr>
          <a:xfrm>
            <a:off x="640080" y="3657600"/>
            <a:ext cx="1999427" cy="2331720"/>
          </a:xfrm>
          <a:prstGeom prst="rect">
            <a:avLst/>
          </a:prstGeom>
          <a:solidFill>
            <a:srgbClr val="F0E9DC"/>
          </a:solidFill>
          <a:ln w="12700">
            <a:solidFill>
              <a:srgbClr val="F0E9DC"/>
            </a:solidFill>
            <a:prstDash val="solid"/>
          </a:ln>
        </p:spPr>
      </p:sp>
      <p:sp>
        <p:nvSpPr>
          <p:cNvPr id="15" name="Text 13"/>
          <p:cNvSpPr txBox="1"/>
          <p:nvPr/>
        </p:nvSpPr>
        <p:spPr>
          <a:xfrm>
            <a:off x="777240" y="3767328"/>
            <a:ext cx="1725107" cy="502920"/>
          </a:xfrm>
          <a:prstGeom prst="rect">
            <a:avLst/>
          </a:prstGeom>
          <a:noFill/>
          <a:ln/>
        </p:spPr>
        <p:txBody>
          <a:bodyPr wrap="square" lIns="0" tIns="0" rIns="0" bIns="0" rtlCol="0" anchor="t"/>
          <a:lstStyle/>
          <a:p>
            <a:pPr indent="0" marL="0">
              <a:buNone/>
            </a:pPr>
            <a:r>
              <a:rPr lang="en-US" sz="1300" b="1" dirty="0">
                <a:solidFill>
                  <a:srgbClr val="5E6B4E"/>
                </a:solidFill>
                <a:latin typeface="Calibri" pitchFamily="34" charset="0"/>
                <a:ea typeface="Calibri" pitchFamily="34" charset="-122"/>
                <a:cs typeface="Calibri" pitchFamily="34" charset="-120"/>
              </a:rPr>
              <a:t>Linear / Kernel</a:t>
            </a:r>
            <a:endParaRPr lang="en-US" sz="1300" dirty="0"/>
          </a:p>
        </p:txBody>
      </p:sp>
      <p:sp>
        <p:nvSpPr>
          <p:cNvPr id="16" name="Text 14"/>
          <p:cNvSpPr txBox="1"/>
          <p:nvPr/>
        </p:nvSpPr>
        <p:spPr>
          <a:xfrm>
            <a:off x="777240" y="4297680"/>
            <a:ext cx="1725107" cy="1645920"/>
          </a:xfrm>
          <a:prstGeom prst="rect">
            <a:avLst/>
          </a:prstGeom>
          <a:noFill/>
          <a:ln/>
        </p:spPr>
        <p:txBody>
          <a:bodyPr wrap="square" lIns="0" tIns="0" rIns="0" bIns="0" rtlCol="0" anchor="t"/>
          <a:lstStyle/>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Logistic Regression</a:t>
            </a:r>
            <a:endParaRPr lang="en-US" sz="1200" dirty="0"/>
          </a:p>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Linear Discriminant Analysis</a:t>
            </a:r>
            <a:endParaRPr lang="en-US" sz="1200" dirty="0"/>
          </a:p>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Support Vector Machine</a:t>
            </a:r>
            <a:endParaRPr lang="en-US" sz="1200" dirty="0"/>
          </a:p>
        </p:txBody>
      </p:sp>
      <p:sp>
        <p:nvSpPr>
          <p:cNvPr id="17" name="Shape 15"/>
          <p:cNvSpPr/>
          <p:nvPr/>
        </p:nvSpPr>
        <p:spPr>
          <a:xfrm>
            <a:off x="2868107" y="3657600"/>
            <a:ext cx="1999427" cy="2331720"/>
          </a:xfrm>
          <a:prstGeom prst="rect">
            <a:avLst/>
          </a:prstGeom>
          <a:solidFill>
            <a:srgbClr val="F0E9DC"/>
          </a:solidFill>
          <a:ln w="12700">
            <a:solidFill>
              <a:srgbClr val="F0E9DC"/>
            </a:solidFill>
            <a:prstDash val="solid"/>
          </a:ln>
        </p:spPr>
      </p:sp>
      <p:sp>
        <p:nvSpPr>
          <p:cNvPr id="18" name="Text 16"/>
          <p:cNvSpPr txBox="1"/>
          <p:nvPr/>
        </p:nvSpPr>
        <p:spPr>
          <a:xfrm>
            <a:off x="3005267" y="3767328"/>
            <a:ext cx="1725107" cy="502920"/>
          </a:xfrm>
          <a:prstGeom prst="rect">
            <a:avLst/>
          </a:prstGeom>
          <a:noFill/>
          <a:ln/>
        </p:spPr>
        <p:txBody>
          <a:bodyPr wrap="square" lIns="0" tIns="0" rIns="0" bIns="0" rtlCol="0" anchor="t"/>
          <a:lstStyle/>
          <a:p>
            <a:pPr indent="0" marL="0">
              <a:buNone/>
            </a:pPr>
            <a:r>
              <a:rPr lang="en-US" sz="1300" b="1" dirty="0">
                <a:solidFill>
                  <a:srgbClr val="C9A44C"/>
                </a:solidFill>
                <a:latin typeface="Calibri" pitchFamily="34" charset="0"/>
                <a:ea typeface="Calibri" pitchFamily="34" charset="-122"/>
                <a:cs typeface="Calibri" pitchFamily="34" charset="-120"/>
              </a:rPr>
              <a:t>Instance-based / Probabilistic</a:t>
            </a:r>
            <a:endParaRPr lang="en-US" sz="1300" dirty="0"/>
          </a:p>
        </p:txBody>
      </p:sp>
      <p:sp>
        <p:nvSpPr>
          <p:cNvPr id="19" name="Text 17"/>
          <p:cNvSpPr txBox="1"/>
          <p:nvPr/>
        </p:nvSpPr>
        <p:spPr>
          <a:xfrm>
            <a:off x="3005267" y="4297680"/>
            <a:ext cx="1725107" cy="1645920"/>
          </a:xfrm>
          <a:prstGeom prst="rect">
            <a:avLst/>
          </a:prstGeom>
          <a:noFill/>
          <a:ln/>
        </p:spPr>
        <p:txBody>
          <a:bodyPr wrap="square" lIns="0" tIns="0" rIns="0" bIns="0" rtlCol="0" anchor="t"/>
          <a:lstStyle/>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K-Nearest Neighbors</a:t>
            </a:r>
            <a:endParaRPr lang="en-US" sz="1200" dirty="0"/>
          </a:p>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Gaussian Naive Bayes</a:t>
            </a:r>
            <a:endParaRPr lang="en-US" sz="1200" dirty="0"/>
          </a:p>
        </p:txBody>
      </p:sp>
      <p:sp>
        <p:nvSpPr>
          <p:cNvPr id="20" name="Shape 18"/>
          <p:cNvSpPr/>
          <p:nvPr/>
        </p:nvSpPr>
        <p:spPr>
          <a:xfrm>
            <a:off x="5096134" y="3657600"/>
            <a:ext cx="1999427" cy="2331720"/>
          </a:xfrm>
          <a:prstGeom prst="rect">
            <a:avLst/>
          </a:prstGeom>
          <a:solidFill>
            <a:srgbClr val="F0E9DC"/>
          </a:solidFill>
          <a:ln w="12700">
            <a:solidFill>
              <a:srgbClr val="F0E9DC"/>
            </a:solidFill>
            <a:prstDash val="solid"/>
          </a:ln>
        </p:spPr>
      </p:sp>
      <p:sp>
        <p:nvSpPr>
          <p:cNvPr id="21" name="Text 19"/>
          <p:cNvSpPr txBox="1"/>
          <p:nvPr/>
        </p:nvSpPr>
        <p:spPr>
          <a:xfrm>
            <a:off x="5233294" y="3767328"/>
            <a:ext cx="1725107" cy="502920"/>
          </a:xfrm>
          <a:prstGeom prst="rect">
            <a:avLst/>
          </a:prstGeom>
          <a:noFill/>
          <a:ln/>
        </p:spPr>
        <p:txBody>
          <a:bodyPr wrap="square" lIns="0" tIns="0" rIns="0" bIns="0" rtlCol="0" anchor="t"/>
          <a:lstStyle/>
          <a:p>
            <a:pPr indent="0" marL="0">
              <a:buNone/>
            </a:pPr>
            <a:r>
              <a:rPr lang="en-US" sz="1300" b="1" dirty="0">
                <a:solidFill>
                  <a:srgbClr val="7D8C6A"/>
                </a:solidFill>
                <a:latin typeface="Calibri" pitchFamily="34" charset="0"/>
                <a:ea typeface="Calibri" pitchFamily="34" charset="-122"/>
                <a:cs typeface="Calibri" pitchFamily="34" charset="-120"/>
              </a:rPr>
              <a:t>Tree</a:t>
            </a:r>
            <a:endParaRPr lang="en-US" sz="1300" dirty="0"/>
          </a:p>
        </p:txBody>
      </p:sp>
      <p:sp>
        <p:nvSpPr>
          <p:cNvPr id="22" name="Text 20"/>
          <p:cNvSpPr txBox="1"/>
          <p:nvPr/>
        </p:nvSpPr>
        <p:spPr>
          <a:xfrm>
            <a:off x="5233294" y="4297680"/>
            <a:ext cx="1725107" cy="1645920"/>
          </a:xfrm>
          <a:prstGeom prst="rect">
            <a:avLst/>
          </a:prstGeom>
          <a:noFill/>
          <a:ln/>
        </p:spPr>
        <p:txBody>
          <a:bodyPr wrap="square" lIns="0" tIns="0" rIns="0" bIns="0" rtlCol="0" anchor="t"/>
          <a:lstStyle/>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Decision Tree</a:t>
            </a:r>
            <a:endParaRPr lang="en-US" sz="1200" dirty="0"/>
          </a:p>
        </p:txBody>
      </p:sp>
      <p:sp>
        <p:nvSpPr>
          <p:cNvPr id="23" name="Shape 21"/>
          <p:cNvSpPr/>
          <p:nvPr/>
        </p:nvSpPr>
        <p:spPr>
          <a:xfrm>
            <a:off x="7324161" y="3657600"/>
            <a:ext cx="1999427" cy="2331720"/>
          </a:xfrm>
          <a:prstGeom prst="rect">
            <a:avLst/>
          </a:prstGeom>
          <a:solidFill>
            <a:srgbClr val="F0E9DC"/>
          </a:solidFill>
          <a:ln w="12700">
            <a:solidFill>
              <a:srgbClr val="F0E9DC"/>
            </a:solidFill>
            <a:prstDash val="solid"/>
          </a:ln>
        </p:spPr>
      </p:sp>
      <p:sp>
        <p:nvSpPr>
          <p:cNvPr id="24" name="Text 22"/>
          <p:cNvSpPr txBox="1"/>
          <p:nvPr/>
        </p:nvSpPr>
        <p:spPr>
          <a:xfrm>
            <a:off x="7461321" y="3767328"/>
            <a:ext cx="1725107" cy="502920"/>
          </a:xfrm>
          <a:prstGeom prst="rect">
            <a:avLst/>
          </a:prstGeom>
          <a:noFill/>
          <a:ln/>
        </p:spPr>
        <p:txBody>
          <a:bodyPr wrap="square" lIns="0" tIns="0" rIns="0" bIns="0" rtlCol="0" anchor="t"/>
          <a:lstStyle/>
          <a:p>
            <a:pPr indent="0" marL="0">
              <a:buNone/>
            </a:pPr>
            <a:r>
              <a:rPr lang="en-US" sz="1300" b="1" dirty="0">
                <a:solidFill>
                  <a:srgbClr val="B5694A"/>
                </a:solidFill>
                <a:latin typeface="Calibri" pitchFamily="34" charset="0"/>
                <a:ea typeface="Calibri" pitchFamily="34" charset="-122"/>
                <a:cs typeface="Calibri" pitchFamily="34" charset="-120"/>
              </a:rPr>
              <a:t>Ensemble / Boosting</a:t>
            </a:r>
            <a:endParaRPr lang="en-US" sz="1300" dirty="0"/>
          </a:p>
        </p:txBody>
      </p:sp>
      <p:sp>
        <p:nvSpPr>
          <p:cNvPr id="25" name="Text 23"/>
          <p:cNvSpPr txBox="1"/>
          <p:nvPr/>
        </p:nvSpPr>
        <p:spPr>
          <a:xfrm>
            <a:off x="7461321" y="4297680"/>
            <a:ext cx="1725107" cy="1645920"/>
          </a:xfrm>
          <a:prstGeom prst="rect">
            <a:avLst/>
          </a:prstGeom>
          <a:noFill/>
          <a:ln/>
        </p:spPr>
        <p:txBody>
          <a:bodyPr wrap="square" lIns="0" tIns="0" rIns="0" bIns="0" rtlCol="0" anchor="t"/>
          <a:lstStyle/>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Random Forest</a:t>
            </a:r>
            <a:endParaRPr lang="en-US" sz="1200" dirty="0"/>
          </a:p>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Extra Trees</a:t>
            </a:r>
            <a:endParaRPr lang="en-US" sz="1200" dirty="0"/>
          </a:p>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AdaBoost</a:t>
            </a:r>
            <a:endParaRPr lang="en-US" sz="1200" dirty="0"/>
          </a:p>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Gradient Boosting</a:t>
            </a:r>
            <a:endParaRPr lang="en-US" sz="1200" dirty="0"/>
          </a:p>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XGBoost</a:t>
            </a:r>
            <a:endParaRPr lang="en-US" sz="1200" dirty="0"/>
          </a:p>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LightGBM</a:t>
            </a:r>
            <a:endParaRPr lang="en-US" sz="1200" dirty="0"/>
          </a:p>
        </p:txBody>
      </p:sp>
      <p:sp>
        <p:nvSpPr>
          <p:cNvPr id="26" name="Shape 24"/>
          <p:cNvSpPr/>
          <p:nvPr/>
        </p:nvSpPr>
        <p:spPr>
          <a:xfrm>
            <a:off x="9552188" y="3657600"/>
            <a:ext cx="1999427" cy="2331720"/>
          </a:xfrm>
          <a:prstGeom prst="rect">
            <a:avLst/>
          </a:prstGeom>
          <a:solidFill>
            <a:srgbClr val="F0E9DC"/>
          </a:solidFill>
          <a:ln w="12700">
            <a:solidFill>
              <a:srgbClr val="F0E9DC"/>
            </a:solidFill>
            <a:prstDash val="solid"/>
          </a:ln>
        </p:spPr>
      </p:sp>
      <p:sp>
        <p:nvSpPr>
          <p:cNvPr id="27" name="Text 25"/>
          <p:cNvSpPr txBox="1"/>
          <p:nvPr/>
        </p:nvSpPr>
        <p:spPr>
          <a:xfrm>
            <a:off x="9689348" y="3767328"/>
            <a:ext cx="1725107" cy="502920"/>
          </a:xfrm>
          <a:prstGeom prst="rect">
            <a:avLst/>
          </a:prstGeom>
          <a:noFill/>
          <a:ln/>
        </p:spPr>
        <p:txBody>
          <a:bodyPr wrap="square" lIns="0" tIns="0" rIns="0" bIns="0" rtlCol="0" anchor="t"/>
          <a:lstStyle/>
          <a:p>
            <a:pPr indent="0" marL="0">
              <a:buNone/>
            </a:pPr>
            <a:r>
              <a:rPr lang="en-US" sz="1300" b="1" dirty="0">
                <a:solidFill>
                  <a:srgbClr val="3B332C"/>
                </a:solidFill>
                <a:latin typeface="Calibri" pitchFamily="34" charset="0"/>
                <a:ea typeface="Calibri" pitchFamily="34" charset="-122"/>
                <a:cs typeface="Calibri" pitchFamily="34" charset="-120"/>
              </a:rPr>
              <a:t>Deep learning</a:t>
            </a:r>
            <a:endParaRPr lang="en-US" sz="1300" dirty="0"/>
          </a:p>
        </p:txBody>
      </p:sp>
      <p:sp>
        <p:nvSpPr>
          <p:cNvPr id="28" name="Text 26"/>
          <p:cNvSpPr txBox="1"/>
          <p:nvPr/>
        </p:nvSpPr>
        <p:spPr>
          <a:xfrm>
            <a:off x="9689348" y="4297680"/>
            <a:ext cx="1725107" cy="1645920"/>
          </a:xfrm>
          <a:prstGeom prst="rect">
            <a:avLst/>
          </a:prstGeom>
          <a:noFill/>
          <a:ln/>
        </p:spPr>
        <p:txBody>
          <a:bodyPr wrap="square" lIns="0" tIns="0" rIns="0" bIns="0" rtlCol="0" anchor="t"/>
          <a:lstStyle/>
          <a:p>
            <a:pPr indent="0" marL="0">
              <a:spcAft>
                <a:spcPts val="300"/>
              </a:spcAft>
              <a:buNone/>
            </a:pPr>
            <a:r>
              <a:rPr lang="en-US" sz="1200" dirty="0">
                <a:solidFill>
                  <a:srgbClr val="3B332C"/>
                </a:solidFill>
                <a:latin typeface="Calibri" pitchFamily="34" charset="0"/>
                <a:ea typeface="Calibri" pitchFamily="34" charset="-122"/>
                <a:cs typeface="Calibri" pitchFamily="34" charset="-120"/>
              </a:rPr>
              <a:t>Neural Network (MLP)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09  RESULTS</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Churn Prediction: Model Comparison</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10</a:t>
            </a:r>
            <a:endParaRPr lang="en-US" sz="900" dirty="0"/>
          </a:p>
        </p:txBody>
      </p:sp>
      <p:graphicFrame>
        <p:nvGraphicFramePr>
          <p:cNvPr id="6" name="Chart 0" descr=""/>
          <p:cNvGraphicFramePr/>
          <p:nvPr/>
        </p:nvGraphicFramePr>
        <p:xfrm>
          <a:off x="640080" y="1600200"/>
          <a:ext cx="7223760" cy="46177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229600" y="1783080"/>
            <a:ext cx="3337560" cy="320040"/>
          </a:xfrm>
          <a:prstGeom prst="rect">
            <a:avLst/>
          </a:prstGeom>
          <a:noFill/>
          <a:ln/>
        </p:spPr>
        <p:txBody>
          <a:bodyPr wrap="square" lIns="0" tIns="0" rIns="0" bIns="0" rtlCol="0" anchor="t"/>
          <a:lstStyle/>
          <a:p>
            <a:pPr indent="0" marL="0">
              <a:buNone/>
            </a:pPr>
            <a:r>
              <a:rPr lang="en-US" sz="1500" b="1" dirty="0">
                <a:solidFill>
                  <a:srgbClr val="5E6B4E"/>
                </a:solidFill>
                <a:latin typeface="Calibri" pitchFamily="34" charset="0"/>
                <a:ea typeface="Calibri" pitchFamily="34" charset="-122"/>
                <a:cs typeface="Calibri" pitchFamily="34" charset="-120"/>
              </a:rPr>
              <a:t>Top models are very close</a:t>
            </a:r>
            <a:endParaRPr lang="en-US" sz="1500" dirty="0"/>
          </a:p>
        </p:txBody>
      </p:sp>
      <p:sp>
        <p:nvSpPr>
          <p:cNvPr id="8" name="Text 5"/>
          <p:cNvSpPr txBox="1"/>
          <p:nvPr/>
        </p:nvSpPr>
        <p:spPr>
          <a:xfrm>
            <a:off x="8229600" y="2148840"/>
            <a:ext cx="3337560" cy="960120"/>
          </a:xfrm>
          <a:prstGeom prst="rect">
            <a:avLst/>
          </a:prstGeom>
          <a:noFill/>
          <a:ln/>
        </p:spPr>
        <p:txBody>
          <a:bodyPr wrap="square" lIns="0" tIns="0" rIns="0" bIns="0" rtlCol="0" anchor="t"/>
          <a:lstStyle/>
          <a:p>
            <a:pPr indent="0" marL="0">
              <a:buNone/>
            </a:pPr>
            <a:r>
              <a:rPr lang="en-US" sz="1300" dirty="0">
                <a:solidFill>
                  <a:srgbClr val="3B332C"/>
                </a:solidFill>
                <a:latin typeface="Calibri" pitchFamily="34" charset="0"/>
                <a:ea typeface="Calibri" pitchFamily="34" charset="-122"/>
                <a:cs typeface="Calibri" pitchFamily="34" charset="-120"/>
              </a:rPr>
              <a:t>Ten of 13 models are within about 4 points of each other, so the features set the limit more than the algorithm.</a:t>
            </a:r>
            <a:endParaRPr lang="en-US" sz="1300" dirty="0"/>
          </a:p>
        </p:txBody>
      </p:sp>
      <p:sp>
        <p:nvSpPr>
          <p:cNvPr id="9" name="Text 6"/>
          <p:cNvSpPr txBox="1"/>
          <p:nvPr/>
        </p:nvSpPr>
        <p:spPr>
          <a:xfrm>
            <a:off x="8229600" y="3200400"/>
            <a:ext cx="3337560" cy="320040"/>
          </a:xfrm>
          <a:prstGeom prst="rect">
            <a:avLst/>
          </a:prstGeom>
          <a:noFill/>
          <a:ln/>
        </p:spPr>
        <p:txBody>
          <a:bodyPr wrap="square" lIns="0" tIns="0" rIns="0" bIns="0" rtlCol="0" anchor="t"/>
          <a:lstStyle/>
          <a:p>
            <a:pPr indent="0" marL="0">
              <a:buNone/>
            </a:pPr>
            <a:r>
              <a:rPr lang="en-US" sz="1500" b="1" dirty="0">
                <a:solidFill>
                  <a:srgbClr val="B5694A"/>
                </a:solidFill>
                <a:latin typeface="Calibri" pitchFamily="34" charset="0"/>
                <a:ea typeface="Calibri" pitchFamily="34" charset="-122"/>
                <a:cs typeface="Calibri" pitchFamily="34" charset="-120"/>
              </a:rPr>
              <a:t>Small gain from stacking</a:t>
            </a:r>
            <a:endParaRPr lang="en-US" sz="1500" dirty="0"/>
          </a:p>
        </p:txBody>
      </p:sp>
      <p:sp>
        <p:nvSpPr>
          <p:cNvPr id="10" name="Text 7"/>
          <p:cNvSpPr txBox="1"/>
          <p:nvPr/>
        </p:nvSpPr>
        <p:spPr>
          <a:xfrm>
            <a:off x="8229600" y="3566160"/>
            <a:ext cx="3337560" cy="960120"/>
          </a:xfrm>
          <a:prstGeom prst="rect">
            <a:avLst/>
          </a:prstGeom>
          <a:noFill/>
          <a:ln/>
        </p:spPr>
        <p:txBody>
          <a:bodyPr wrap="square" lIns="0" tIns="0" rIns="0" bIns="0" rtlCol="0" anchor="t"/>
          <a:lstStyle/>
          <a:p>
            <a:pPr indent="0" marL="0">
              <a:buNone/>
            </a:pPr>
            <a:r>
              <a:rPr lang="en-US" sz="1300" dirty="0">
                <a:solidFill>
                  <a:srgbClr val="3B332C"/>
                </a:solidFill>
                <a:latin typeface="Calibri" pitchFamily="34" charset="0"/>
                <a:ea typeface="Calibri" pitchFamily="34" charset="-122"/>
                <a:cs typeface="Calibri" pitchFamily="34" charset="-120"/>
              </a:rPr>
              <a:t>0.809 vs 0.807 for the MLP alone.</a:t>
            </a:r>
            <a:endParaRPr lang="en-US" sz="1300" dirty="0"/>
          </a:p>
        </p:txBody>
      </p:sp>
      <p:sp>
        <p:nvSpPr>
          <p:cNvPr id="11" name="Text 8"/>
          <p:cNvSpPr txBox="1"/>
          <p:nvPr/>
        </p:nvSpPr>
        <p:spPr>
          <a:xfrm>
            <a:off x="8229600" y="4617720"/>
            <a:ext cx="3337560" cy="320040"/>
          </a:xfrm>
          <a:prstGeom prst="rect">
            <a:avLst/>
          </a:prstGeom>
          <a:noFill/>
          <a:ln/>
        </p:spPr>
        <p:txBody>
          <a:bodyPr wrap="square" lIns="0" tIns="0" rIns="0" bIns="0" rtlCol="0" anchor="t"/>
          <a:lstStyle/>
          <a:p>
            <a:pPr indent="0" marL="0">
              <a:buNone/>
            </a:pPr>
            <a:r>
              <a:rPr lang="en-US" sz="1500" b="1" dirty="0">
                <a:solidFill>
                  <a:srgbClr val="C9A44C"/>
                </a:solidFill>
                <a:latin typeface="Calibri" pitchFamily="34" charset="0"/>
                <a:ea typeface="Calibri" pitchFamily="34" charset="-122"/>
                <a:cs typeface="Calibri" pitchFamily="34" charset="-120"/>
              </a:rPr>
              <a:t>MLP vs Gradient Boosting</a:t>
            </a:r>
            <a:endParaRPr lang="en-US" sz="1500" dirty="0"/>
          </a:p>
        </p:txBody>
      </p:sp>
      <p:sp>
        <p:nvSpPr>
          <p:cNvPr id="12" name="Text 9"/>
          <p:cNvSpPr txBox="1"/>
          <p:nvPr/>
        </p:nvSpPr>
        <p:spPr>
          <a:xfrm>
            <a:off x="8229600" y="4983480"/>
            <a:ext cx="3337560" cy="960120"/>
          </a:xfrm>
          <a:prstGeom prst="rect">
            <a:avLst/>
          </a:prstGeom>
          <a:noFill/>
          <a:ln/>
        </p:spPr>
        <p:txBody>
          <a:bodyPr wrap="square" lIns="0" tIns="0" rIns="0" bIns="0" rtlCol="0" anchor="t"/>
          <a:lstStyle/>
          <a:p>
            <a:pPr indent="0" marL="0">
              <a:buNone/>
            </a:pPr>
            <a:r>
              <a:rPr lang="en-US" sz="1300" dirty="0">
                <a:solidFill>
                  <a:srgbClr val="3B332C"/>
                </a:solidFill>
                <a:latin typeface="Calibri" pitchFamily="34" charset="0"/>
                <a:ea typeface="Calibri" pitchFamily="34" charset="-122"/>
                <a:cs typeface="Calibri" pitchFamily="34" charset="-120"/>
              </a:rPr>
              <a:t>McNemar's test: p = 0.040, significant at 5% but not by a wide margin.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10  MODEL OPTIMIZATION</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Three ways the models were improved</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11</a:t>
            </a:r>
            <a:endParaRPr lang="en-US" sz="900" dirty="0"/>
          </a:p>
        </p:txBody>
      </p:sp>
      <p:sp>
        <p:nvSpPr>
          <p:cNvPr id="6" name="Text 4"/>
          <p:cNvSpPr txBox="1"/>
          <p:nvPr/>
        </p:nvSpPr>
        <p:spPr>
          <a:xfrm>
            <a:off x="640080" y="1737360"/>
            <a:ext cx="457200" cy="457200"/>
          </a:xfrm>
          <a:prstGeom prst="rect">
            <a:avLst/>
          </a:prstGeom>
          <a:noFill/>
          <a:ln/>
        </p:spPr>
        <p:txBody>
          <a:bodyPr wrap="square" lIns="0" tIns="0" rIns="0" bIns="0" rtlCol="0" anchor="t"/>
          <a:lstStyle/>
          <a:p>
            <a:pPr indent="0" marL="0">
              <a:buNone/>
            </a:pPr>
            <a:r>
              <a:rPr lang="en-US" sz="2600" b="1" dirty="0">
                <a:solidFill>
                  <a:srgbClr val="D6CCBB"/>
                </a:solidFill>
                <a:latin typeface="Calibri" pitchFamily="34" charset="0"/>
                <a:ea typeface="Calibri" pitchFamily="34" charset="-122"/>
                <a:cs typeface="Calibri" pitchFamily="34" charset="-120"/>
              </a:rPr>
              <a:t>1</a:t>
            </a:r>
            <a:endParaRPr lang="en-US" sz="2600" dirty="0"/>
          </a:p>
        </p:txBody>
      </p:sp>
      <p:sp>
        <p:nvSpPr>
          <p:cNvPr id="7" name="Text 5"/>
          <p:cNvSpPr txBox="1"/>
          <p:nvPr/>
        </p:nvSpPr>
        <p:spPr>
          <a:xfrm>
            <a:off x="640080" y="2194560"/>
            <a:ext cx="3383280" cy="411480"/>
          </a:xfrm>
          <a:prstGeom prst="rect">
            <a:avLst/>
          </a:prstGeom>
          <a:noFill/>
          <a:ln/>
        </p:spPr>
        <p:txBody>
          <a:bodyPr wrap="square" lIns="0" tIns="0" rIns="0" bIns="0" rtlCol="0" anchor="t"/>
          <a:lstStyle/>
          <a:p>
            <a:pPr indent="0" marL="0">
              <a:buNone/>
            </a:pPr>
            <a:r>
              <a:rPr lang="en-US" sz="1800" b="1" dirty="0">
                <a:solidFill>
                  <a:srgbClr val="3B332C"/>
                </a:solidFill>
                <a:latin typeface="Calibri" pitchFamily="34" charset="0"/>
                <a:ea typeface="Calibri" pitchFamily="34" charset="-122"/>
                <a:cs typeface="Calibri" pitchFamily="34" charset="-120"/>
              </a:rPr>
              <a:t>Grid search + cross-validation</a:t>
            </a:r>
            <a:endParaRPr lang="en-US" sz="1800" dirty="0"/>
          </a:p>
        </p:txBody>
      </p:sp>
      <p:sp>
        <p:nvSpPr>
          <p:cNvPr id="8" name="Text 6"/>
          <p:cNvSpPr txBox="1"/>
          <p:nvPr/>
        </p:nvSpPr>
        <p:spPr>
          <a:xfrm>
            <a:off x="640080" y="2606040"/>
            <a:ext cx="3383280" cy="32004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Gradient Boosting, ROC-AUC</a:t>
            </a:r>
            <a:endParaRPr lang="en-US" sz="1300" dirty="0"/>
          </a:p>
        </p:txBody>
      </p:sp>
      <p:sp>
        <p:nvSpPr>
          <p:cNvPr id="9" name="Text 7"/>
          <p:cNvSpPr txBox="1"/>
          <p:nvPr/>
        </p:nvSpPr>
        <p:spPr>
          <a:xfrm>
            <a:off x="640080" y="3227832"/>
            <a:ext cx="640080" cy="274320"/>
          </a:xfrm>
          <a:prstGeom prst="rect">
            <a:avLst/>
          </a:prstGeom>
          <a:noFill/>
          <a:ln/>
        </p:spPr>
        <p:txBody>
          <a:bodyPr wrap="square" lIns="0" tIns="0" rIns="0" bIns="0" rtlCol="0" anchor="t"/>
          <a:lstStyle/>
          <a:p>
            <a:pPr indent="0" marL="0">
              <a:buNone/>
            </a:pPr>
            <a:r>
              <a:rPr lang="en-US" sz="1200" dirty="0">
                <a:solidFill>
                  <a:srgbClr val="7A6F64"/>
                </a:solidFill>
                <a:latin typeface="Calibri" pitchFamily="34" charset="0"/>
                <a:ea typeface="Calibri" pitchFamily="34" charset="-122"/>
                <a:cs typeface="Calibri" pitchFamily="34" charset="-120"/>
              </a:rPr>
              <a:t>Before</a:t>
            </a:r>
            <a:endParaRPr lang="en-US" sz="1200" dirty="0"/>
          </a:p>
        </p:txBody>
      </p:sp>
      <p:sp>
        <p:nvSpPr>
          <p:cNvPr id="10" name="Shape 8"/>
          <p:cNvSpPr/>
          <p:nvPr/>
        </p:nvSpPr>
        <p:spPr>
          <a:xfrm>
            <a:off x="1325880" y="3154680"/>
            <a:ext cx="1913839" cy="411480"/>
          </a:xfrm>
          <a:prstGeom prst="rect">
            <a:avLst/>
          </a:prstGeom>
          <a:solidFill>
            <a:srgbClr val="E9E0D0"/>
          </a:solidFill>
          <a:ln w="12700">
            <a:solidFill>
              <a:srgbClr val="E9E0D0"/>
            </a:solidFill>
            <a:prstDash val="solid"/>
          </a:ln>
        </p:spPr>
      </p:sp>
      <p:sp>
        <p:nvSpPr>
          <p:cNvPr id="11" name="Text 9"/>
          <p:cNvSpPr txBox="1"/>
          <p:nvPr/>
        </p:nvSpPr>
        <p:spPr>
          <a:xfrm>
            <a:off x="2508199" y="3154680"/>
            <a:ext cx="658368" cy="411480"/>
          </a:xfrm>
          <a:prstGeom prst="rect">
            <a:avLst/>
          </a:prstGeom>
          <a:noFill/>
          <a:ln/>
        </p:spPr>
        <p:txBody>
          <a:bodyPr wrap="square" lIns="0" tIns="0" rIns="0" bIns="0" rtlCol="0" anchor="ctr"/>
          <a:lstStyle/>
          <a:p>
            <a:pPr algn="r" indent="0" marL="0">
              <a:buNone/>
            </a:pPr>
            <a:r>
              <a:rPr lang="en-US" sz="1300" b="1" dirty="0">
                <a:solidFill>
                  <a:srgbClr val="3B332C"/>
                </a:solidFill>
                <a:latin typeface="Calibri" pitchFamily="34" charset="0"/>
                <a:ea typeface="Calibri" pitchFamily="34" charset="-122"/>
                <a:cs typeface="Calibri" pitchFamily="34" charset="-120"/>
              </a:rPr>
              <a:t>0.805</a:t>
            </a:r>
            <a:endParaRPr lang="en-US" sz="1300" dirty="0"/>
          </a:p>
        </p:txBody>
      </p:sp>
      <p:sp>
        <p:nvSpPr>
          <p:cNvPr id="12" name="Text 10"/>
          <p:cNvSpPr txBox="1"/>
          <p:nvPr/>
        </p:nvSpPr>
        <p:spPr>
          <a:xfrm>
            <a:off x="640080" y="3867912"/>
            <a:ext cx="640080" cy="274320"/>
          </a:xfrm>
          <a:prstGeom prst="rect">
            <a:avLst/>
          </a:prstGeom>
          <a:noFill/>
          <a:ln/>
        </p:spPr>
        <p:txBody>
          <a:bodyPr wrap="square" lIns="0" tIns="0" rIns="0" bIns="0" rtlCol="0" anchor="t"/>
          <a:lstStyle/>
          <a:p>
            <a:pPr indent="0" marL="0">
              <a:buNone/>
            </a:pPr>
            <a:r>
              <a:rPr lang="en-US" sz="1200" dirty="0">
                <a:solidFill>
                  <a:srgbClr val="7A6F64"/>
                </a:solidFill>
                <a:latin typeface="Calibri" pitchFamily="34" charset="0"/>
                <a:ea typeface="Calibri" pitchFamily="34" charset="-122"/>
                <a:cs typeface="Calibri" pitchFamily="34" charset="-120"/>
              </a:rPr>
              <a:t>Tuned</a:t>
            </a:r>
            <a:endParaRPr lang="en-US" sz="1200" dirty="0"/>
          </a:p>
        </p:txBody>
      </p:sp>
      <p:sp>
        <p:nvSpPr>
          <p:cNvPr id="13" name="Shape 11"/>
          <p:cNvSpPr/>
          <p:nvPr/>
        </p:nvSpPr>
        <p:spPr>
          <a:xfrm>
            <a:off x="1325880" y="3794760"/>
            <a:ext cx="1918594" cy="411480"/>
          </a:xfrm>
          <a:prstGeom prst="rect">
            <a:avLst/>
          </a:prstGeom>
          <a:solidFill>
            <a:srgbClr val="7D8C6A"/>
          </a:solidFill>
          <a:ln w="12700">
            <a:solidFill>
              <a:srgbClr val="7D8C6A"/>
            </a:solidFill>
            <a:prstDash val="solid"/>
          </a:ln>
        </p:spPr>
      </p:sp>
      <p:sp>
        <p:nvSpPr>
          <p:cNvPr id="14" name="Text 12"/>
          <p:cNvSpPr txBox="1"/>
          <p:nvPr/>
        </p:nvSpPr>
        <p:spPr>
          <a:xfrm>
            <a:off x="2512954" y="3794760"/>
            <a:ext cx="658368" cy="41148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0.807</a:t>
            </a:r>
            <a:endParaRPr lang="en-US" sz="1300" dirty="0"/>
          </a:p>
        </p:txBody>
      </p:sp>
      <p:sp>
        <p:nvSpPr>
          <p:cNvPr id="15" name="Text 13"/>
          <p:cNvSpPr txBox="1"/>
          <p:nvPr/>
        </p:nvSpPr>
        <p:spPr>
          <a:xfrm>
            <a:off x="640080" y="4572000"/>
            <a:ext cx="3383280" cy="1097280"/>
          </a:xfrm>
          <a:prstGeom prst="rect">
            <a:avLst/>
          </a:prstGeom>
          <a:noFill/>
          <a:ln/>
        </p:spPr>
        <p:txBody>
          <a:bodyPr wrap="square" lIns="0" tIns="0" rIns="0" bIns="0" rtlCol="0" anchor="t"/>
          <a:lstStyle/>
          <a:p>
            <a:pPr indent="0" marL="0">
              <a:buNone/>
            </a:pPr>
            <a:r>
              <a:rPr lang="en-US" sz="1300" dirty="0">
                <a:solidFill>
                  <a:srgbClr val="3B332C"/>
                </a:solidFill>
                <a:latin typeface="Calibri" pitchFamily="34" charset="0"/>
                <a:ea typeface="Calibri" pitchFamily="34" charset="-122"/>
                <a:cs typeface="Calibri" pitchFamily="34" charset="-120"/>
              </a:rPr>
              <a:t>3-fold CV on training data. Logistic Regression showed no real gain.</a:t>
            </a:r>
            <a:endParaRPr lang="en-US" sz="1300" dirty="0"/>
          </a:p>
        </p:txBody>
      </p:sp>
      <p:sp>
        <p:nvSpPr>
          <p:cNvPr id="16" name="Text 14"/>
          <p:cNvSpPr txBox="1"/>
          <p:nvPr/>
        </p:nvSpPr>
        <p:spPr>
          <a:xfrm>
            <a:off x="4407408" y="1737360"/>
            <a:ext cx="457200" cy="457200"/>
          </a:xfrm>
          <a:prstGeom prst="rect">
            <a:avLst/>
          </a:prstGeom>
          <a:noFill/>
          <a:ln/>
        </p:spPr>
        <p:txBody>
          <a:bodyPr wrap="square" lIns="0" tIns="0" rIns="0" bIns="0" rtlCol="0" anchor="t"/>
          <a:lstStyle/>
          <a:p>
            <a:pPr indent="0" marL="0">
              <a:buNone/>
            </a:pPr>
            <a:r>
              <a:rPr lang="en-US" sz="2600" b="1" dirty="0">
                <a:solidFill>
                  <a:srgbClr val="D6CCBB"/>
                </a:solidFill>
                <a:latin typeface="Calibri" pitchFamily="34" charset="0"/>
                <a:ea typeface="Calibri" pitchFamily="34" charset="-122"/>
                <a:cs typeface="Calibri" pitchFamily="34" charset="-120"/>
              </a:rPr>
              <a:t>2</a:t>
            </a:r>
            <a:endParaRPr lang="en-US" sz="2600" dirty="0"/>
          </a:p>
        </p:txBody>
      </p:sp>
      <p:sp>
        <p:nvSpPr>
          <p:cNvPr id="17" name="Text 15"/>
          <p:cNvSpPr txBox="1"/>
          <p:nvPr/>
        </p:nvSpPr>
        <p:spPr>
          <a:xfrm>
            <a:off x="4407408" y="2194560"/>
            <a:ext cx="3383280" cy="411480"/>
          </a:xfrm>
          <a:prstGeom prst="rect">
            <a:avLst/>
          </a:prstGeom>
          <a:noFill/>
          <a:ln/>
        </p:spPr>
        <p:txBody>
          <a:bodyPr wrap="square" lIns="0" tIns="0" rIns="0" bIns="0" rtlCol="0" anchor="t"/>
          <a:lstStyle/>
          <a:p>
            <a:pPr indent="0" marL="0">
              <a:buNone/>
            </a:pPr>
            <a:r>
              <a:rPr lang="en-US" sz="1800" b="1" dirty="0">
                <a:solidFill>
                  <a:srgbClr val="3B332C"/>
                </a:solidFill>
                <a:latin typeface="Calibri" pitchFamily="34" charset="0"/>
                <a:ea typeface="Calibri" pitchFamily="34" charset="-122"/>
                <a:cs typeface="Calibri" pitchFamily="34" charset="-120"/>
              </a:rPr>
              <a:t>Decision threshold</a:t>
            </a:r>
            <a:endParaRPr lang="en-US" sz="1800" dirty="0"/>
          </a:p>
        </p:txBody>
      </p:sp>
      <p:sp>
        <p:nvSpPr>
          <p:cNvPr id="18" name="Text 16"/>
          <p:cNvSpPr txBox="1"/>
          <p:nvPr/>
        </p:nvSpPr>
        <p:spPr>
          <a:xfrm>
            <a:off x="4407408" y="2606040"/>
            <a:ext cx="3383280" cy="32004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Gradient Boosting churn recall</a:t>
            </a:r>
            <a:endParaRPr lang="en-US" sz="1300" dirty="0"/>
          </a:p>
        </p:txBody>
      </p:sp>
      <p:sp>
        <p:nvSpPr>
          <p:cNvPr id="19" name="Text 17"/>
          <p:cNvSpPr txBox="1"/>
          <p:nvPr/>
        </p:nvSpPr>
        <p:spPr>
          <a:xfrm>
            <a:off x="4407408" y="3227832"/>
            <a:ext cx="640080" cy="274320"/>
          </a:xfrm>
          <a:prstGeom prst="rect">
            <a:avLst/>
          </a:prstGeom>
          <a:noFill/>
          <a:ln/>
        </p:spPr>
        <p:txBody>
          <a:bodyPr wrap="square" lIns="0" tIns="0" rIns="0" bIns="0" rtlCol="0" anchor="t"/>
          <a:lstStyle/>
          <a:p>
            <a:pPr indent="0" marL="0">
              <a:buNone/>
            </a:pPr>
            <a:r>
              <a:rPr lang="en-US" sz="1200" dirty="0">
                <a:solidFill>
                  <a:srgbClr val="7A6F64"/>
                </a:solidFill>
                <a:latin typeface="Calibri" pitchFamily="34" charset="0"/>
                <a:ea typeface="Calibri" pitchFamily="34" charset="-122"/>
                <a:cs typeface="Calibri" pitchFamily="34" charset="-120"/>
              </a:rPr>
              <a:t>0.500</a:t>
            </a:r>
            <a:endParaRPr lang="en-US" sz="1200" dirty="0"/>
          </a:p>
        </p:txBody>
      </p:sp>
      <p:sp>
        <p:nvSpPr>
          <p:cNvPr id="20" name="Shape 18"/>
          <p:cNvSpPr/>
          <p:nvPr/>
        </p:nvSpPr>
        <p:spPr>
          <a:xfrm>
            <a:off x="5093208" y="3154680"/>
            <a:ext cx="1923349" cy="411480"/>
          </a:xfrm>
          <a:prstGeom prst="rect">
            <a:avLst/>
          </a:prstGeom>
          <a:solidFill>
            <a:srgbClr val="E9E0D0"/>
          </a:solidFill>
          <a:ln w="12700">
            <a:solidFill>
              <a:srgbClr val="E9E0D0"/>
            </a:solidFill>
            <a:prstDash val="solid"/>
          </a:ln>
        </p:spPr>
      </p:sp>
      <p:sp>
        <p:nvSpPr>
          <p:cNvPr id="21" name="Text 19"/>
          <p:cNvSpPr txBox="1"/>
          <p:nvPr/>
        </p:nvSpPr>
        <p:spPr>
          <a:xfrm>
            <a:off x="6285037" y="3154680"/>
            <a:ext cx="658368" cy="411480"/>
          </a:xfrm>
          <a:prstGeom prst="rect">
            <a:avLst/>
          </a:prstGeom>
          <a:noFill/>
          <a:ln/>
        </p:spPr>
        <p:txBody>
          <a:bodyPr wrap="square" lIns="0" tIns="0" rIns="0" bIns="0" rtlCol="0" anchor="ctr"/>
          <a:lstStyle/>
          <a:p>
            <a:pPr algn="r" indent="0" marL="0">
              <a:buNone/>
            </a:pPr>
            <a:r>
              <a:rPr lang="en-US" sz="1300" b="1" dirty="0">
                <a:solidFill>
                  <a:srgbClr val="3B332C"/>
                </a:solidFill>
                <a:latin typeface="Calibri" pitchFamily="34" charset="0"/>
                <a:ea typeface="Calibri" pitchFamily="34" charset="-122"/>
                <a:cs typeface="Calibri" pitchFamily="34" charset="-120"/>
              </a:rPr>
              <a:t>0.809</a:t>
            </a:r>
            <a:endParaRPr lang="en-US" sz="1300" dirty="0"/>
          </a:p>
        </p:txBody>
      </p:sp>
      <p:sp>
        <p:nvSpPr>
          <p:cNvPr id="22" name="Text 20"/>
          <p:cNvSpPr txBox="1"/>
          <p:nvPr/>
        </p:nvSpPr>
        <p:spPr>
          <a:xfrm>
            <a:off x="4407408" y="3867912"/>
            <a:ext cx="640080" cy="274320"/>
          </a:xfrm>
          <a:prstGeom prst="rect">
            <a:avLst/>
          </a:prstGeom>
          <a:noFill/>
          <a:ln/>
        </p:spPr>
        <p:txBody>
          <a:bodyPr wrap="square" lIns="0" tIns="0" rIns="0" bIns="0" rtlCol="0" anchor="t"/>
          <a:lstStyle/>
          <a:p>
            <a:pPr indent="0" marL="0">
              <a:buNone/>
            </a:pPr>
            <a:r>
              <a:rPr lang="en-US" sz="1200" dirty="0">
                <a:solidFill>
                  <a:srgbClr val="7A6F64"/>
                </a:solidFill>
                <a:latin typeface="Calibri" pitchFamily="34" charset="0"/>
                <a:ea typeface="Calibri" pitchFamily="34" charset="-122"/>
                <a:cs typeface="Calibri" pitchFamily="34" charset="-120"/>
              </a:rPr>
              <a:t>0.453</a:t>
            </a:r>
            <a:endParaRPr lang="en-US" sz="1200" dirty="0"/>
          </a:p>
        </p:txBody>
      </p:sp>
      <p:sp>
        <p:nvSpPr>
          <p:cNvPr id="23" name="Shape 21"/>
          <p:cNvSpPr/>
          <p:nvPr/>
        </p:nvSpPr>
        <p:spPr>
          <a:xfrm>
            <a:off x="5093208" y="3794760"/>
            <a:ext cx="2075505" cy="411480"/>
          </a:xfrm>
          <a:prstGeom prst="rect">
            <a:avLst/>
          </a:prstGeom>
          <a:solidFill>
            <a:srgbClr val="B5694A"/>
          </a:solidFill>
          <a:ln w="12700">
            <a:solidFill>
              <a:srgbClr val="B5694A"/>
            </a:solidFill>
            <a:prstDash val="solid"/>
          </a:ln>
        </p:spPr>
      </p:sp>
      <p:sp>
        <p:nvSpPr>
          <p:cNvPr id="24" name="Text 22"/>
          <p:cNvSpPr txBox="1"/>
          <p:nvPr/>
        </p:nvSpPr>
        <p:spPr>
          <a:xfrm>
            <a:off x="6437193" y="3794760"/>
            <a:ext cx="658368" cy="41148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0.873</a:t>
            </a:r>
            <a:endParaRPr lang="en-US" sz="1300" dirty="0"/>
          </a:p>
        </p:txBody>
      </p:sp>
      <p:sp>
        <p:nvSpPr>
          <p:cNvPr id="25" name="Text 23"/>
          <p:cNvSpPr txBox="1"/>
          <p:nvPr/>
        </p:nvSpPr>
        <p:spPr>
          <a:xfrm>
            <a:off x="4407408" y="4572000"/>
            <a:ext cx="3383280" cy="1097280"/>
          </a:xfrm>
          <a:prstGeom prst="rect">
            <a:avLst/>
          </a:prstGeom>
          <a:noFill/>
          <a:ln/>
        </p:spPr>
        <p:txBody>
          <a:bodyPr wrap="square" lIns="0" tIns="0" rIns="0" bIns="0" rtlCol="0" anchor="t"/>
          <a:lstStyle/>
          <a:p>
            <a:pPr indent="0" marL="0">
              <a:buNone/>
            </a:pPr>
            <a:r>
              <a:rPr lang="en-US" sz="1300" dirty="0">
                <a:solidFill>
                  <a:srgbClr val="3B332C"/>
                </a:solidFill>
                <a:latin typeface="Calibri" pitchFamily="34" charset="0"/>
                <a:ea typeface="Calibri" pitchFamily="34" charset="-122"/>
                <a:cs typeface="Calibri" pitchFamily="34" charset="-120"/>
              </a:rPr>
              <a:t>Catching more churners matters more than a few extra false alarms.</a:t>
            </a:r>
            <a:endParaRPr lang="en-US" sz="1300" dirty="0"/>
          </a:p>
        </p:txBody>
      </p:sp>
      <p:sp>
        <p:nvSpPr>
          <p:cNvPr id="26" name="Text 24"/>
          <p:cNvSpPr txBox="1"/>
          <p:nvPr/>
        </p:nvSpPr>
        <p:spPr>
          <a:xfrm>
            <a:off x="8174736" y="1737360"/>
            <a:ext cx="457200" cy="457200"/>
          </a:xfrm>
          <a:prstGeom prst="rect">
            <a:avLst/>
          </a:prstGeom>
          <a:noFill/>
          <a:ln/>
        </p:spPr>
        <p:txBody>
          <a:bodyPr wrap="square" lIns="0" tIns="0" rIns="0" bIns="0" rtlCol="0" anchor="t"/>
          <a:lstStyle/>
          <a:p>
            <a:pPr indent="0" marL="0">
              <a:buNone/>
            </a:pPr>
            <a:r>
              <a:rPr lang="en-US" sz="2600" b="1" dirty="0">
                <a:solidFill>
                  <a:srgbClr val="D6CCBB"/>
                </a:solidFill>
                <a:latin typeface="Calibri" pitchFamily="34" charset="0"/>
                <a:ea typeface="Calibri" pitchFamily="34" charset="-122"/>
                <a:cs typeface="Calibri" pitchFamily="34" charset="-120"/>
              </a:rPr>
              <a:t>3</a:t>
            </a:r>
            <a:endParaRPr lang="en-US" sz="2600" dirty="0"/>
          </a:p>
        </p:txBody>
      </p:sp>
      <p:sp>
        <p:nvSpPr>
          <p:cNvPr id="27" name="Text 25"/>
          <p:cNvSpPr txBox="1"/>
          <p:nvPr/>
        </p:nvSpPr>
        <p:spPr>
          <a:xfrm>
            <a:off x="8174736" y="2194560"/>
            <a:ext cx="3383280" cy="411480"/>
          </a:xfrm>
          <a:prstGeom prst="rect">
            <a:avLst/>
          </a:prstGeom>
          <a:noFill/>
          <a:ln/>
        </p:spPr>
        <p:txBody>
          <a:bodyPr wrap="square" lIns="0" tIns="0" rIns="0" bIns="0" rtlCol="0" anchor="t"/>
          <a:lstStyle/>
          <a:p>
            <a:pPr indent="0" marL="0">
              <a:buNone/>
            </a:pPr>
            <a:r>
              <a:rPr lang="en-US" sz="1800" b="1" dirty="0">
                <a:solidFill>
                  <a:srgbClr val="3B332C"/>
                </a:solidFill>
                <a:latin typeface="Calibri" pitchFamily="34" charset="0"/>
                <a:ea typeface="Calibri" pitchFamily="34" charset="-122"/>
                <a:cs typeface="Calibri" pitchFamily="34" charset="-120"/>
              </a:rPr>
              <a:t>SMOTE</a:t>
            </a:r>
            <a:endParaRPr lang="en-US" sz="1800" dirty="0"/>
          </a:p>
        </p:txBody>
      </p:sp>
      <p:sp>
        <p:nvSpPr>
          <p:cNvPr id="28" name="Text 26"/>
          <p:cNvSpPr txBox="1"/>
          <p:nvPr/>
        </p:nvSpPr>
        <p:spPr>
          <a:xfrm>
            <a:off x="8174736" y="2606040"/>
            <a:ext cx="3383280" cy="32004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High-value recall, Logistic Regression</a:t>
            </a:r>
            <a:endParaRPr lang="en-US" sz="1300" dirty="0"/>
          </a:p>
        </p:txBody>
      </p:sp>
      <p:sp>
        <p:nvSpPr>
          <p:cNvPr id="29" name="Text 27"/>
          <p:cNvSpPr txBox="1"/>
          <p:nvPr/>
        </p:nvSpPr>
        <p:spPr>
          <a:xfrm>
            <a:off x="8174736" y="3227832"/>
            <a:ext cx="640080" cy="274320"/>
          </a:xfrm>
          <a:prstGeom prst="rect">
            <a:avLst/>
          </a:prstGeom>
          <a:noFill/>
          <a:ln/>
        </p:spPr>
        <p:txBody>
          <a:bodyPr wrap="square" lIns="0" tIns="0" rIns="0" bIns="0" rtlCol="0" anchor="t"/>
          <a:lstStyle/>
          <a:p>
            <a:pPr indent="0" marL="0">
              <a:buNone/>
            </a:pPr>
            <a:r>
              <a:rPr lang="en-US" sz="1200" dirty="0">
                <a:solidFill>
                  <a:srgbClr val="7A6F64"/>
                </a:solidFill>
                <a:latin typeface="Calibri" pitchFamily="34" charset="0"/>
                <a:ea typeface="Calibri" pitchFamily="34" charset="-122"/>
                <a:cs typeface="Calibri" pitchFamily="34" charset="-120"/>
              </a:rPr>
              <a:t>Before</a:t>
            </a:r>
            <a:endParaRPr lang="en-US" sz="1200" dirty="0"/>
          </a:p>
        </p:txBody>
      </p:sp>
      <p:sp>
        <p:nvSpPr>
          <p:cNvPr id="30" name="Shape 28"/>
          <p:cNvSpPr/>
          <p:nvPr/>
        </p:nvSpPr>
        <p:spPr>
          <a:xfrm>
            <a:off x="8860536" y="3154680"/>
            <a:ext cx="1935236" cy="411480"/>
          </a:xfrm>
          <a:prstGeom prst="rect">
            <a:avLst/>
          </a:prstGeom>
          <a:solidFill>
            <a:srgbClr val="E9E0D0"/>
          </a:solidFill>
          <a:ln w="12700">
            <a:solidFill>
              <a:srgbClr val="E9E0D0"/>
            </a:solidFill>
            <a:prstDash val="solid"/>
          </a:ln>
        </p:spPr>
      </p:sp>
      <p:sp>
        <p:nvSpPr>
          <p:cNvPr id="31" name="Text 29"/>
          <p:cNvSpPr txBox="1"/>
          <p:nvPr/>
        </p:nvSpPr>
        <p:spPr>
          <a:xfrm>
            <a:off x="10064252" y="3154680"/>
            <a:ext cx="658368" cy="411480"/>
          </a:xfrm>
          <a:prstGeom prst="rect">
            <a:avLst/>
          </a:prstGeom>
          <a:noFill/>
          <a:ln/>
        </p:spPr>
        <p:txBody>
          <a:bodyPr wrap="square" lIns="0" tIns="0" rIns="0" bIns="0" rtlCol="0" anchor="ctr"/>
          <a:lstStyle/>
          <a:p>
            <a:pPr algn="r" indent="0" marL="0">
              <a:buNone/>
            </a:pPr>
            <a:r>
              <a:rPr lang="en-US" sz="1300" b="1" dirty="0">
                <a:solidFill>
                  <a:srgbClr val="3B332C"/>
                </a:solidFill>
                <a:latin typeface="Calibri" pitchFamily="34" charset="0"/>
                <a:ea typeface="Calibri" pitchFamily="34" charset="-122"/>
                <a:cs typeface="Calibri" pitchFamily="34" charset="-120"/>
              </a:rPr>
              <a:t>0.814</a:t>
            </a:r>
            <a:endParaRPr lang="en-US" sz="1300" dirty="0"/>
          </a:p>
        </p:txBody>
      </p:sp>
      <p:sp>
        <p:nvSpPr>
          <p:cNvPr id="32" name="Text 30"/>
          <p:cNvSpPr txBox="1"/>
          <p:nvPr/>
        </p:nvSpPr>
        <p:spPr>
          <a:xfrm>
            <a:off x="8174736" y="3867912"/>
            <a:ext cx="640080" cy="274320"/>
          </a:xfrm>
          <a:prstGeom prst="rect">
            <a:avLst/>
          </a:prstGeom>
          <a:noFill/>
          <a:ln/>
        </p:spPr>
        <p:txBody>
          <a:bodyPr wrap="square" lIns="0" tIns="0" rIns="0" bIns="0" rtlCol="0" anchor="t"/>
          <a:lstStyle/>
          <a:p>
            <a:pPr indent="0" marL="0">
              <a:buNone/>
            </a:pPr>
            <a:r>
              <a:rPr lang="en-US" sz="1200" dirty="0">
                <a:solidFill>
                  <a:srgbClr val="7A6F64"/>
                </a:solidFill>
                <a:latin typeface="Calibri" pitchFamily="34" charset="0"/>
                <a:ea typeface="Calibri" pitchFamily="34" charset="-122"/>
                <a:cs typeface="Calibri" pitchFamily="34" charset="-120"/>
              </a:rPr>
              <a:t>After</a:t>
            </a:r>
            <a:endParaRPr lang="en-US" sz="1200" dirty="0"/>
          </a:p>
        </p:txBody>
      </p:sp>
      <p:sp>
        <p:nvSpPr>
          <p:cNvPr id="33" name="Shape 31"/>
          <p:cNvSpPr/>
          <p:nvPr/>
        </p:nvSpPr>
        <p:spPr>
          <a:xfrm>
            <a:off x="8860536" y="3794760"/>
            <a:ext cx="2277588" cy="411480"/>
          </a:xfrm>
          <a:prstGeom prst="rect">
            <a:avLst/>
          </a:prstGeom>
          <a:solidFill>
            <a:srgbClr val="C9A44C"/>
          </a:solidFill>
          <a:ln w="12700">
            <a:solidFill>
              <a:srgbClr val="C9A44C"/>
            </a:solidFill>
            <a:prstDash val="solid"/>
          </a:ln>
        </p:spPr>
      </p:sp>
      <p:sp>
        <p:nvSpPr>
          <p:cNvPr id="34" name="Text 32"/>
          <p:cNvSpPr txBox="1"/>
          <p:nvPr/>
        </p:nvSpPr>
        <p:spPr>
          <a:xfrm>
            <a:off x="10406604" y="3794760"/>
            <a:ext cx="658368" cy="41148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0.958</a:t>
            </a:r>
            <a:endParaRPr lang="en-US" sz="1300" dirty="0"/>
          </a:p>
        </p:txBody>
      </p:sp>
      <p:sp>
        <p:nvSpPr>
          <p:cNvPr id="35" name="Text 33"/>
          <p:cNvSpPr txBox="1"/>
          <p:nvPr/>
        </p:nvSpPr>
        <p:spPr>
          <a:xfrm>
            <a:off x="8174736" y="4572000"/>
            <a:ext cx="3383280" cy="1097280"/>
          </a:xfrm>
          <a:prstGeom prst="rect">
            <a:avLst/>
          </a:prstGeom>
          <a:noFill/>
          <a:ln/>
        </p:spPr>
        <p:txBody>
          <a:bodyPr wrap="square" lIns="0" tIns="0" rIns="0" bIns="0" rtlCol="0" anchor="t"/>
          <a:lstStyle/>
          <a:p>
            <a:pPr indent="0" marL="0">
              <a:buNone/>
            </a:pPr>
            <a:r>
              <a:rPr lang="en-US" sz="1300" dirty="0">
                <a:solidFill>
                  <a:srgbClr val="3B332C"/>
                </a:solidFill>
                <a:latin typeface="Calibri" pitchFamily="34" charset="0"/>
                <a:ea typeface="Calibri" pitchFamily="34" charset="-122"/>
                <a:cs typeface="Calibri" pitchFamily="34" charset="-120"/>
              </a:rPr>
              <a:t>Applied to training data only; the test set keeps the real class ratio.</a:t>
            </a:r>
            <a:endParaRPr lang="en-US" sz="1300" dirty="0"/>
          </a:p>
        </p:txBody>
      </p:sp>
      <p:sp>
        <p:nvSpPr>
          <p:cNvPr id="36" name="Text 34"/>
          <p:cNvSpPr txBox="1"/>
          <p:nvPr/>
        </p:nvSpPr>
        <p:spPr>
          <a:xfrm>
            <a:off x="640080" y="5897880"/>
            <a:ext cx="5486400" cy="274320"/>
          </a:xfrm>
          <a:prstGeom prst="rect">
            <a:avLst/>
          </a:prstGeom>
          <a:noFill/>
          <a:ln/>
        </p:spPr>
        <p:txBody>
          <a:bodyPr wrap="square" lIns="0" tIns="0" rIns="0" bIns="0" rtlCol="0" anchor="t"/>
          <a:lstStyle/>
          <a:p>
            <a:pPr indent="0" marL="0">
              <a:buNone/>
            </a:pPr>
            <a:r>
              <a:rPr lang="en-US" sz="1000" i="1" dirty="0">
                <a:solidFill>
                  <a:srgbClr val="7A6F64"/>
                </a:solidFill>
                <a:latin typeface="Calibri" pitchFamily="34" charset="0"/>
                <a:ea typeface="Calibri" pitchFamily="34" charset="-122"/>
                <a:cs typeface="Calibri" pitchFamily="34" charset="-120"/>
              </a:rPr>
              <a:t>Bars are drawn on a 0 to 1 scale.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11  EVALUATION AND EXPLAINABILITY</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Looking beyond accuracy</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12</a:t>
            </a:r>
            <a:endParaRPr lang="en-US" sz="900" dirty="0"/>
          </a:p>
        </p:txBody>
      </p:sp>
      <p:sp>
        <p:nvSpPr>
          <p:cNvPr id="6" name="Text 4"/>
          <p:cNvSpPr txBox="1"/>
          <p:nvPr/>
        </p:nvSpPr>
        <p:spPr>
          <a:xfrm>
            <a:off x="640080" y="1737360"/>
            <a:ext cx="3017520" cy="320040"/>
          </a:xfrm>
          <a:prstGeom prst="rect">
            <a:avLst/>
          </a:prstGeom>
          <a:noFill/>
          <a:ln/>
        </p:spPr>
        <p:txBody>
          <a:bodyPr wrap="square" lIns="0" tIns="0" rIns="0" bIns="0" rtlCol="0" anchor="t"/>
          <a:lstStyle/>
          <a:p>
            <a:pPr indent="0" marL="0">
              <a:buNone/>
            </a:pPr>
            <a:r>
              <a:rPr lang="en-US" sz="1400" dirty="0">
                <a:solidFill>
                  <a:srgbClr val="7A6F64"/>
                </a:solidFill>
                <a:latin typeface="Calibri" pitchFamily="34" charset="0"/>
                <a:ea typeface="Calibri" pitchFamily="34" charset="-122"/>
                <a:cs typeface="Calibri" pitchFamily="34" charset="-120"/>
              </a:rPr>
              <a:t>Every model was checked with:</a:t>
            </a:r>
            <a:endParaRPr lang="en-US" sz="1400" dirty="0"/>
          </a:p>
        </p:txBody>
      </p:sp>
      <p:sp>
        <p:nvSpPr>
          <p:cNvPr id="7" name="Text 5"/>
          <p:cNvSpPr txBox="1"/>
          <p:nvPr/>
        </p:nvSpPr>
        <p:spPr>
          <a:xfrm>
            <a:off x="640080" y="2148840"/>
            <a:ext cx="3017520" cy="2651760"/>
          </a:xfrm>
          <a:prstGeom prst="rect">
            <a:avLst/>
          </a:prstGeom>
          <a:noFill/>
          <a:ln/>
        </p:spPr>
        <p:txBody>
          <a:bodyPr wrap="square" lIns="0" tIns="0" rIns="0" bIns="0" rtlCol="0" anchor="t"/>
          <a:lstStyle/>
          <a:p>
            <a:pPr indent="0" marL="0">
              <a:spcAft>
                <a:spcPts val="600"/>
              </a:spcAft>
              <a:buNone/>
            </a:pPr>
            <a:r>
              <a:rPr lang="en-US" sz="1500" b="1" dirty="0">
                <a:solidFill>
                  <a:srgbClr val="3B332C"/>
                </a:solidFill>
                <a:latin typeface="Calibri" pitchFamily="34" charset="0"/>
                <a:ea typeface="Calibri" pitchFamily="34" charset="-122"/>
                <a:cs typeface="Calibri" pitchFamily="34" charset="-120"/>
              </a:rPr>
              <a:t>ROC curves</a:t>
            </a:r>
            <a:endParaRPr lang="en-US" sz="1500" dirty="0"/>
          </a:p>
          <a:p>
            <a:pPr indent="0" marL="0">
              <a:spcAft>
                <a:spcPts val="600"/>
              </a:spcAft>
              <a:buNone/>
            </a:pPr>
            <a:r>
              <a:rPr lang="en-US" sz="1500" b="1" dirty="0">
                <a:solidFill>
                  <a:srgbClr val="3B332C"/>
                </a:solidFill>
                <a:latin typeface="Calibri" pitchFamily="34" charset="0"/>
                <a:ea typeface="Calibri" pitchFamily="34" charset="-122"/>
                <a:cs typeface="Calibri" pitchFamily="34" charset="-120"/>
              </a:rPr>
              <a:t>Precision-recall curves</a:t>
            </a:r>
            <a:endParaRPr lang="en-US" sz="1500" dirty="0"/>
          </a:p>
          <a:p>
            <a:pPr indent="0" marL="0">
              <a:spcAft>
                <a:spcPts val="600"/>
              </a:spcAft>
              <a:buNone/>
            </a:pPr>
            <a:r>
              <a:rPr lang="en-US" sz="1500" b="1" dirty="0">
                <a:solidFill>
                  <a:srgbClr val="3B332C"/>
                </a:solidFill>
                <a:latin typeface="Calibri" pitchFamily="34" charset="0"/>
                <a:ea typeface="Calibri" pitchFamily="34" charset="-122"/>
                <a:cs typeface="Calibri" pitchFamily="34" charset="-120"/>
              </a:rPr>
              <a:t>Confusion matrices</a:t>
            </a:r>
            <a:endParaRPr lang="en-US" sz="1500" dirty="0"/>
          </a:p>
          <a:p>
            <a:pPr indent="0" marL="0">
              <a:spcAft>
                <a:spcPts val="600"/>
              </a:spcAft>
              <a:buNone/>
            </a:pPr>
            <a:r>
              <a:rPr lang="en-US" sz="1500" b="1" dirty="0">
                <a:solidFill>
                  <a:srgbClr val="3B332C"/>
                </a:solidFill>
                <a:latin typeface="Calibri" pitchFamily="34" charset="0"/>
                <a:ea typeface="Calibri" pitchFamily="34" charset="-122"/>
                <a:cs typeface="Calibri" pitchFamily="34" charset="-120"/>
              </a:rPr>
              <a:t>Feature importance</a:t>
            </a:r>
            <a:endParaRPr lang="en-US" sz="1500" dirty="0"/>
          </a:p>
          <a:p>
            <a:pPr indent="0" marL="0">
              <a:spcAft>
                <a:spcPts val="600"/>
              </a:spcAft>
              <a:buNone/>
            </a:pPr>
            <a:r>
              <a:rPr lang="en-US" sz="1500" b="1" dirty="0">
                <a:solidFill>
                  <a:srgbClr val="3B332C"/>
                </a:solidFill>
                <a:latin typeface="Calibri" pitchFamily="34" charset="0"/>
                <a:ea typeface="Calibri" pitchFamily="34" charset="-122"/>
                <a:cs typeface="Calibri" pitchFamily="34" charset="-120"/>
              </a:rPr>
              <a:t>SHAP values</a:t>
            </a:r>
            <a:endParaRPr lang="en-US" sz="1500" dirty="0"/>
          </a:p>
          <a:p>
            <a:pPr indent="0" marL="0">
              <a:spcAft>
                <a:spcPts val="600"/>
              </a:spcAft>
              <a:buNone/>
            </a:pPr>
            <a:r>
              <a:rPr lang="en-US" sz="1500" b="1" dirty="0">
                <a:solidFill>
                  <a:srgbClr val="3B332C"/>
                </a:solidFill>
                <a:latin typeface="Calibri" pitchFamily="34" charset="0"/>
                <a:ea typeface="Calibri" pitchFamily="34" charset="-122"/>
                <a:cs typeface="Calibri" pitchFamily="34" charset="-120"/>
              </a:rPr>
              <a:t>Learning curves</a:t>
            </a:r>
            <a:endParaRPr lang="en-US" sz="1500" dirty="0"/>
          </a:p>
          <a:p>
            <a:pPr indent="0" marL="0">
              <a:spcAft>
                <a:spcPts val="600"/>
              </a:spcAft>
              <a:buNone/>
            </a:pPr>
            <a:r>
              <a:rPr lang="en-US" sz="1500" b="1" dirty="0">
                <a:solidFill>
                  <a:srgbClr val="3B332C"/>
                </a:solidFill>
                <a:latin typeface="Calibri" pitchFamily="34" charset="0"/>
                <a:ea typeface="Calibri" pitchFamily="34" charset="-122"/>
                <a:cs typeface="Calibri" pitchFamily="34" charset="-120"/>
              </a:rPr>
              <a:t>Calibration plots</a:t>
            </a:r>
            <a:endParaRPr lang="en-US" sz="1500" dirty="0"/>
          </a:p>
        </p:txBody>
      </p:sp>
      <p:sp>
        <p:nvSpPr>
          <p:cNvPr id="8" name="Text 6"/>
          <p:cNvSpPr txBox="1"/>
          <p:nvPr/>
        </p:nvSpPr>
        <p:spPr>
          <a:xfrm>
            <a:off x="640080" y="4892040"/>
            <a:ext cx="3017520" cy="1188720"/>
          </a:xfrm>
          <a:prstGeom prst="rect">
            <a:avLst/>
          </a:prstGeom>
          <a:noFill/>
          <a:ln/>
        </p:spPr>
        <p:txBody>
          <a:bodyPr wrap="square" lIns="0" tIns="0" rIns="0" bIns="0" rtlCol="0" anchor="t"/>
          <a:lstStyle/>
          <a:p>
            <a:pPr indent="0" marL="0">
              <a:buNone/>
            </a:pPr>
            <a:r>
              <a:rPr lang="en-US" sz="1300" dirty="0">
                <a:solidFill>
                  <a:srgbClr val="B5694A"/>
                </a:solidFill>
                <a:latin typeface="Calibri" pitchFamily="34" charset="0"/>
                <a:ea typeface="Calibri" pitchFamily="34" charset="-122"/>
                <a:cs typeface="Calibri" pitchFamily="34" charset="-120"/>
              </a:rPr>
              <a:t>Recency is the strongest feature. Random Forest overfits: training score 1.0, validation about 0.77.</a:t>
            </a:r>
            <a:endParaRPr lang="en-US" sz="1300" dirty="0"/>
          </a:p>
        </p:txBody>
      </p:sp>
      <p:sp>
        <p:nvSpPr>
          <p:cNvPr id="9" name="Shape 7"/>
          <p:cNvSpPr/>
          <p:nvPr/>
        </p:nvSpPr>
        <p:spPr>
          <a:xfrm>
            <a:off x="3886200" y="1737360"/>
            <a:ext cx="4114800" cy="4343400"/>
          </a:xfrm>
          <a:prstGeom prst="rect">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1"/>
          <a:stretch>
            <a:fillRect/>
          </a:stretch>
        </p:blipFill>
        <p:spPr>
          <a:xfrm>
            <a:off x="3931920" y="1783080"/>
            <a:ext cx="4023360" cy="3448594"/>
          </a:xfrm>
          <a:prstGeom prst="rect">
            <a:avLst/>
          </a:prstGeom>
        </p:spPr>
      </p:pic>
      <p:sp>
        <p:nvSpPr>
          <p:cNvPr id="11" name="Text 8"/>
          <p:cNvSpPr txBox="1"/>
          <p:nvPr/>
        </p:nvSpPr>
        <p:spPr>
          <a:xfrm>
            <a:off x="3886200" y="5806440"/>
            <a:ext cx="4114800" cy="274320"/>
          </a:xfrm>
          <a:prstGeom prst="rect">
            <a:avLst/>
          </a:prstGeom>
          <a:noFill/>
          <a:ln/>
        </p:spPr>
        <p:txBody>
          <a:bodyPr wrap="square" lIns="0" tIns="0" rIns="0" bIns="0" rtlCol="0" anchor="t"/>
          <a:lstStyle/>
          <a:p>
            <a:pPr algn="ctr" indent="0" marL="0">
              <a:buNone/>
            </a:pPr>
            <a:r>
              <a:rPr lang="en-US" sz="1100" i="1" dirty="0">
                <a:solidFill>
                  <a:srgbClr val="7A6F64"/>
                </a:solidFill>
                <a:latin typeface="Calibri" pitchFamily="34" charset="0"/>
                <a:ea typeface="Calibri" pitchFamily="34" charset="-122"/>
                <a:cs typeface="Calibri" pitchFamily="34" charset="-120"/>
              </a:rPr>
              <a:t>ROC curves for six churn models</a:t>
            </a:r>
            <a:endParaRPr lang="en-US" sz="1100" dirty="0"/>
          </a:p>
        </p:txBody>
      </p:sp>
      <p:sp>
        <p:nvSpPr>
          <p:cNvPr id="12" name="Shape 9"/>
          <p:cNvSpPr/>
          <p:nvPr/>
        </p:nvSpPr>
        <p:spPr>
          <a:xfrm>
            <a:off x="7434072" y="1737360"/>
            <a:ext cx="4114800" cy="4343400"/>
          </a:xfrm>
          <a:prstGeom prst="rect">
            <a:avLst/>
          </a:prstGeom>
          <a:solidFill>
            <a:srgbClr val="FFFFFF"/>
          </a:solidFill>
          <a:ln w="12700">
            <a:solidFill>
              <a:srgbClr val="FFFFFF"/>
            </a:solidFill>
            <a:prstDash val="solid"/>
          </a:ln>
        </p:spPr>
      </p:sp>
      <p:pic>
        <p:nvPicPr>
          <p:cNvPr id="13" name="Image 1" descr="preencoded.png">    </p:cNvPr>
          <p:cNvPicPr>
            <a:picLocks noChangeAspect="1"/>
          </p:cNvPicPr>
          <p:nvPr/>
        </p:nvPicPr>
        <p:blipFill>
          <a:blip r:embed="rId2"/>
          <a:stretch>
            <a:fillRect/>
          </a:stretch>
        </p:blipFill>
        <p:spPr>
          <a:xfrm>
            <a:off x="7479792" y="1783080"/>
            <a:ext cx="4023360" cy="2725402"/>
          </a:xfrm>
          <a:prstGeom prst="rect">
            <a:avLst/>
          </a:prstGeom>
        </p:spPr>
      </p:pic>
      <p:sp>
        <p:nvSpPr>
          <p:cNvPr id="14" name="Text 10"/>
          <p:cNvSpPr txBox="1"/>
          <p:nvPr/>
        </p:nvSpPr>
        <p:spPr>
          <a:xfrm>
            <a:off x="7434072" y="5806440"/>
            <a:ext cx="4114800" cy="274320"/>
          </a:xfrm>
          <a:prstGeom prst="rect">
            <a:avLst/>
          </a:prstGeom>
          <a:noFill/>
          <a:ln/>
        </p:spPr>
        <p:txBody>
          <a:bodyPr wrap="square" lIns="0" tIns="0" rIns="0" bIns="0" rtlCol="0" anchor="t"/>
          <a:lstStyle/>
          <a:p>
            <a:pPr algn="ctr" indent="0" marL="0">
              <a:buNone/>
            </a:pPr>
            <a:r>
              <a:rPr lang="en-US" sz="1100" i="1" dirty="0">
                <a:solidFill>
                  <a:srgbClr val="7A6F64"/>
                </a:solidFill>
                <a:latin typeface="Calibri" pitchFamily="34" charset="0"/>
                <a:ea typeface="Calibri" pitchFamily="34" charset="-122"/>
                <a:cs typeface="Calibri" pitchFamily="34" charset="-120"/>
              </a:rPr>
              <a:t>SHAP summary: each point is one customer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12  BUSINESS OUTPUT</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From predictions to action</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640080" y="1737360"/>
            <a:ext cx="1551889" cy="640080"/>
          </a:xfrm>
          <a:prstGeom prst="rect">
            <a:avLst/>
          </a:prstGeom>
          <a:solidFill>
            <a:srgbClr val="F0E9DC"/>
          </a:solidFill>
          <a:ln w="12700">
            <a:solidFill>
              <a:srgbClr val="F0E9DC"/>
            </a:solidFill>
            <a:prstDash val="solid"/>
          </a:ln>
        </p:spPr>
      </p:sp>
      <p:sp>
        <p:nvSpPr>
          <p:cNvPr id="7" name="Text 5"/>
          <p:cNvSpPr txBox="1"/>
          <p:nvPr/>
        </p:nvSpPr>
        <p:spPr>
          <a:xfrm>
            <a:off x="640080" y="1737360"/>
            <a:ext cx="1551889" cy="640080"/>
          </a:xfrm>
          <a:prstGeom prst="rect">
            <a:avLst/>
          </a:prstGeom>
          <a:noFill/>
          <a:ln/>
        </p:spPr>
        <p:txBody>
          <a:bodyPr wrap="square" lIns="0" tIns="0" rIns="0" bIns="0" rtlCol="0" anchor="ctr"/>
          <a:lstStyle/>
          <a:p>
            <a:pPr algn="ctr" indent="0" marL="0">
              <a:buNone/>
            </a:pPr>
            <a:r>
              <a:rPr lang="en-US" sz="1400" b="1" dirty="0">
                <a:solidFill>
                  <a:srgbClr val="3B332C"/>
                </a:solidFill>
                <a:latin typeface="Calibri" pitchFamily="34" charset="0"/>
                <a:ea typeface="Calibri" pitchFamily="34" charset="-122"/>
                <a:cs typeface="Calibri" pitchFamily="34" charset="-120"/>
              </a:rPr>
              <a:t>Customer data</a:t>
            </a:r>
            <a:endParaRPr lang="en-US" sz="1400" dirty="0"/>
          </a:p>
        </p:txBody>
      </p:sp>
      <p:sp>
        <p:nvSpPr>
          <p:cNvPr id="8" name="Shape 6"/>
          <p:cNvSpPr/>
          <p:nvPr/>
        </p:nvSpPr>
        <p:spPr>
          <a:xfrm>
            <a:off x="2237689" y="2057400"/>
            <a:ext cx="228600" cy="0"/>
          </a:xfrm>
          <a:prstGeom prst="line">
            <a:avLst/>
          </a:prstGeom>
          <a:noFill/>
          <a:ln w="19050">
            <a:solidFill>
              <a:srgbClr val="7A6F64"/>
            </a:solidFill>
            <a:prstDash val="solid"/>
            <a:tailEnd type="triangle"/>
          </a:ln>
        </p:spPr>
      </p:sp>
      <p:sp>
        <p:nvSpPr>
          <p:cNvPr id="9" name="Shape 7"/>
          <p:cNvSpPr/>
          <p:nvPr/>
        </p:nvSpPr>
        <p:spPr>
          <a:xfrm>
            <a:off x="2512009" y="1737360"/>
            <a:ext cx="1551889" cy="640080"/>
          </a:xfrm>
          <a:prstGeom prst="rect">
            <a:avLst/>
          </a:prstGeom>
          <a:solidFill>
            <a:srgbClr val="F0E9DC"/>
          </a:solidFill>
          <a:ln w="12700">
            <a:solidFill>
              <a:srgbClr val="F0E9DC"/>
            </a:solidFill>
            <a:prstDash val="solid"/>
          </a:ln>
        </p:spPr>
      </p:sp>
      <p:sp>
        <p:nvSpPr>
          <p:cNvPr id="10" name="Text 8"/>
          <p:cNvSpPr txBox="1"/>
          <p:nvPr/>
        </p:nvSpPr>
        <p:spPr>
          <a:xfrm>
            <a:off x="2512009" y="1737360"/>
            <a:ext cx="1551889" cy="640080"/>
          </a:xfrm>
          <a:prstGeom prst="rect">
            <a:avLst/>
          </a:prstGeom>
          <a:noFill/>
          <a:ln/>
        </p:spPr>
        <p:txBody>
          <a:bodyPr wrap="square" lIns="0" tIns="0" rIns="0" bIns="0" rtlCol="0" anchor="ctr"/>
          <a:lstStyle/>
          <a:p>
            <a:pPr algn="ctr" indent="0" marL="0">
              <a:buNone/>
            </a:pPr>
            <a:r>
              <a:rPr lang="en-US" sz="1400" b="1" dirty="0">
                <a:solidFill>
                  <a:srgbClr val="3B332C"/>
                </a:solidFill>
                <a:latin typeface="Calibri" pitchFamily="34" charset="0"/>
                <a:ea typeface="Calibri" pitchFamily="34" charset="-122"/>
                <a:cs typeface="Calibri" pitchFamily="34" charset="-120"/>
              </a:rPr>
              <a:t>Prediction</a:t>
            </a:r>
            <a:endParaRPr lang="en-US" sz="1400" dirty="0"/>
          </a:p>
        </p:txBody>
      </p:sp>
      <p:sp>
        <p:nvSpPr>
          <p:cNvPr id="11" name="Shape 9"/>
          <p:cNvSpPr/>
          <p:nvPr/>
        </p:nvSpPr>
        <p:spPr>
          <a:xfrm>
            <a:off x="4109618" y="2057400"/>
            <a:ext cx="228600" cy="0"/>
          </a:xfrm>
          <a:prstGeom prst="line">
            <a:avLst/>
          </a:prstGeom>
          <a:noFill/>
          <a:ln w="19050">
            <a:solidFill>
              <a:srgbClr val="7A6F64"/>
            </a:solidFill>
            <a:prstDash val="solid"/>
            <a:tailEnd type="triangle"/>
          </a:ln>
        </p:spPr>
      </p:sp>
      <p:sp>
        <p:nvSpPr>
          <p:cNvPr id="12" name="Shape 10"/>
          <p:cNvSpPr/>
          <p:nvPr/>
        </p:nvSpPr>
        <p:spPr>
          <a:xfrm>
            <a:off x="4383938" y="1737360"/>
            <a:ext cx="1551889" cy="640080"/>
          </a:xfrm>
          <a:prstGeom prst="rect">
            <a:avLst/>
          </a:prstGeom>
          <a:solidFill>
            <a:srgbClr val="F0E9DC"/>
          </a:solidFill>
          <a:ln w="12700">
            <a:solidFill>
              <a:srgbClr val="F0E9DC"/>
            </a:solidFill>
            <a:prstDash val="solid"/>
          </a:ln>
        </p:spPr>
      </p:sp>
      <p:sp>
        <p:nvSpPr>
          <p:cNvPr id="13" name="Text 11"/>
          <p:cNvSpPr txBox="1"/>
          <p:nvPr/>
        </p:nvSpPr>
        <p:spPr>
          <a:xfrm>
            <a:off x="4383938" y="1737360"/>
            <a:ext cx="1551889" cy="640080"/>
          </a:xfrm>
          <a:prstGeom prst="rect">
            <a:avLst/>
          </a:prstGeom>
          <a:noFill/>
          <a:ln/>
        </p:spPr>
        <p:txBody>
          <a:bodyPr wrap="square" lIns="0" tIns="0" rIns="0" bIns="0" rtlCol="0" anchor="ctr"/>
          <a:lstStyle/>
          <a:p>
            <a:pPr algn="ctr" indent="0" marL="0">
              <a:buNone/>
            </a:pPr>
            <a:r>
              <a:rPr lang="en-US" sz="1400" b="1" dirty="0">
                <a:solidFill>
                  <a:srgbClr val="3B332C"/>
                </a:solidFill>
                <a:latin typeface="Calibri" pitchFamily="34" charset="0"/>
                <a:ea typeface="Calibri" pitchFamily="34" charset="-122"/>
                <a:cs typeface="Calibri" pitchFamily="34" charset="-120"/>
              </a:rPr>
              <a:t>Churn probability</a:t>
            </a:r>
            <a:endParaRPr lang="en-US" sz="1400" dirty="0"/>
          </a:p>
        </p:txBody>
      </p:sp>
      <p:sp>
        <p:nvSpPr>
          <p:cNvPr id="14" name="Shape 12"/>
          <p:cNvSpPr/>
          <p:nvPr/>
        </p:nvSpPr>
        <p:spPr>
          <a:xfrm>
            <a:off x="5981548" y="2057400"/>
            <a:ext cx="228600" cy="0"/>
          </a:xfrm>
          <a:prstGeom prst="line">
            <a:avLst/>
          </a:prstGeom>
          <a:noFill/>
          <a:ln w="19050">
            <a:solidFill>
              <a:srgbClr val="7A6F64"/>
            </a:solidFill>
            <a:prstDash val="solid"/>
            <a:tailEnd type="triangle"/>
          </a:ln>
        </p:spPr>
      </p:sp>
      <p:sp>
        <p:nvSpPr>
          <p:cNvPr id="15" name="Shape 13"/>
          <p:cNvSpPr/>
          <p:nvPr/>
        </p:nvSpPr>
        <p:spPr>
          <a:xfrm>
            <a:off x="6255868" y="1737360"/>
            <a:ext cx="1551889" cy="640080"/>
          </a:xfrm>
          <a:prstGeom prst="rect">
            <a:avLst/>
          </a:prstGeom>
          <a:solidFill>
            <a:srgbClr val="F0E9DC"/>
          </a:solidFill>
          <a:ln w="12700">
            <a:solidFill>
              <a:srgbClr val="F0E9DC"/>
            </a:solidFill>
            <a:prstDash val="solid"/>
          </a:ln>
        </p:spPr>
      </p:sp>
      <p:sp>
        <p:nvSpPr>
          <p:cNvPr id="16" name="Text 14"/>
          <p:cNvSpPr txBox="1"/>
          <p:nvPr/>
        </p:nvSpPr>
        <p:spPr>
          <a:xfrm>
            <a:off x="6255868" y="1737360"/>
            <a:ext cx="1551889" cy="640080"/>
          </a:xfrm>
          <a:prstGeom prst="rect">
            <a:avLst/>
          </a:prstGeom>
          <a:noFill/>
          <a:ln/>
        </p:spPr>
        <p:txBody>
          <a:bodyPr wrap="square" lIns="0" tIns="0" rIns="0" bIns="0" rtlCol="0" anchor="ctr"/>
          <a:lstStyle/>
          <a:p>
            <a:pPr algn="ctr" indent="0" marL="0">
              <a:buNone/>
            </a:pPr>
            <a:r>
              <a:rPr lang="en-US" sz="1400" b="1" dirty="0">
                <a:solidFill>
                  <a:srgbClr val="3B332C"/>
                </a:solidFill>
                <a:latin typeface="Calibri" pitchFamily="34" charset="0"/>
                <a:ea typeface="Calibri" pitchFamily="34" charset="-122"/>
                <a:cs typeface="Calibri" pitchFamily="34" charset="-120"/>
              </a:rPr>
              <a:t>Risk band</a:t>
            </a:r>
            <a:endParaRPr lang="en-US" sz="1400" dirty="0"/>
          </a:p>
        </p:txBody>
      </p:sp>
      <p:sp>
        <p:nvSpPr>
          <p:cNvPr id="17" name="Shape 15"/>
          <p:cNvSpPr/>
          <p:nvPr/>
        </p:nvSpPr>
        <p:spPr>
          <a:xfrm>
            <a:off x="7853477" y="2057400"/>
            <a:ext cx="228600" cy="0"/>
          </a:xfrm>
          <a:prstGeom prst="line">
            <a:avLst/>
          </a:prstGeom>
          <a:noFill/>
          <a:ln w="19050">
            <a:solidFill>
              <a:srgbClr val="7A6F64"/>
            </a:solidFill>
            <a:prstDash val="solid"/>
            <a:tailEnd type="triangle"/>
          </a:ln>
        </p:spPr>
      </p:sp>
      <p:sp>
        <p:nvSpPr>
          <p:cNvPr id="18" name="Shape 16"/>
          <p:cNvSpPr/>
          <p:nvPr/>
        </p:nvSpPr>
        <p:spPr>
          <a:xfrm>
            <a:off x="8127797" y="1737360"/>
            <a:ext cx="1551889" cy="640080"/>
          </a:xfrm>
          <a:prstGeom prst="rect">
            <a:avLst/>
          </a:prstGeom>
          <a:solidFill>
            <a:srgbClr val="F0E9DC"/>
          </a:solidFill>
          <a:ln w="12700">
            <a:solidFill>
              <a:srgbClr val="F0E9DC"/>
            </a:solidFill>
            <a:prstDash val="solid"/>
          </a:ln>
        </p:spPr>
      </p:sp>
      <p:sp>
        <p:nvSpPr>
          <p:cNvPr id="19" name="Text 17"/>
          <p:cNvSpPr txBox="1"/>
          <p:nvPr/>
        </p:nvSpPr>
        <p:spPr>
          <a:xfrm>
            <a:off x="8127797" y="1737360"/>
            <a:ext cx="1551889" cy="640080"/>
          </a:xfrm>
          <a:prstGeom prst="rect">
            <a:avLst/>
          </a:prstGeom>
          <a:noFill/>
          <a:ln/>
        </p:spPr>
        <p:txBody>
          <a:bodyPr wrap="square" lIns="0" tIns="0" rIns="0" bIns="0" rtlCol="0" anchor="ctr"/>
          <a:lstStyle/>
          <a:p>
            <a:pPr algn="ctr" indent="0" marL="0">
              <a:buNone/>
            </a:pPr>
            <a:r>
              <a:rPr lang="en-US" sz="1400" b="1" dirty="0">
                <a:solidFill>
                  <a:srgbClr val="3B332C"/>
                </a:solidFill>
                <a:latin typeface="Calibri" pitchFamily="34" charset="0"/>
                <a:ea typeface="Calibri" pitchFamily="34" charset="-122"/>
                <a:cs typeface="Calibri" pitchFamily="34" charset="-120"/>
              </a:rPr>
              <a:t>SQL analysis</a:t>
            </a:r>
            <a:endParaRPr lang="en-US" sz="1400" dirty="0"/>
          </a:p>
        </p:txBody>
      </p:sp>
      <p:sp>
        <p:nvSpPr>
          <p:cNvPr id="20" name="Shape 18"/>
          <p:cNvSpPr/>
          <p:nvPr/>
        </p:nvSpPr>
        <p:spPr>
          <a:xfrm>
            <a:off x="9725406" y="2057400"/>
            <a:ext cx="228600" cy="0"/>
          </a:xfrm>
          <a:prstGeom prst="line">
            <a:avLst/>
          </a:prstGeom>
          <a:noFill/>
          <a:ln w="19050">
            <a:solidFill>
              <a:srgbClr val="7A6F64"/>
            </a:solidFill>
            <a:prstDash val="solid"/>
            <a:tailEnd type="triangle"/>
          </a:ln>
        </p:spPr>
      </p:sp>
      <p:sp>
        <p:nvSpPr>
          <p:cNvPr id="21" name="Shape 19"/>
          <p:cNvSpPr/>
          <p:nvPr/>
        </p:nvSpPr>
        <p:spPr>
          <a:xfrm>
            <a:off x="9999726" y="1737360"/>
            <a:ext cx="1551889" cy="640080"/>
          </a:xfrm>
          <a:prstGeom prst="rect">
            <a:avLst/>
          </a:prstGeom>
          <a:solidFill>
            <a:srgbClr val="5E6B4E"/>
          </a:solidFill>
          <a:ln w="12700">
            <a:solidFill>
              <a:srgbClr val="5E6B4E"/>
            </a:solidFill>
            <a:prstDash val="solid"/>
          </a:ln>
        </p:spPr>
      </p:sp>
      <p:sp>
        <p:nvSpPr>
          <p:cNvPr id="22" name="Text 20"/>
          <p:cNvSpPr txBox="1"/>
          <p:nvPr/>
        </p:nvSpPr>
        <p:spPr>
          <a:xfrm>
            <a:off x="9999726" y="1737360"/>
            <a:ext cx="1551889"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Business action</a:t>
            </a:r>
            <a:endParaRPr lang="en-US" sz="1400" dirty="0"/>
          </a:p>
        </p:txBody>
      </p:sp>
      <p:sp>
        <p:nvSpPr>
          <p:cNvPr id="23" name="Text 21"/>
          <p:cNvSpPr txBox="1"/>
          <p:nvPr/>
        </p:nvSpPr>
        <p:spPr>
          <a:xfrm>
            <a:off x="640080" y="3017520"/>
            <a:ext cx="2286000" cy="411480"/>
          </a:xfrm>
          <a:prstGeom prst="rect">
            <a:avLst/>
          </a:prstGeom>
          <a:noFill/>
          <a:ln/>
        </p:spPr>
        <p:txBody>
          <a:bodyPr wrap="square" lIns="0" tIns="0" rIns="0" bIns="0" rtlCol="0" anchor="t"/>
          <a:lstStyle/>
          <a:p>
            <a:pPr indent="0" marL="0">
              <a:buNone/>
            </a:pPr>
            <a:r>
              <a:rPr lang="en-US" sz="2200" b="1" dirty="0">
                <a:solidFill>
                  <a:srgbClr val="7D8C6A"/>
                </a:solidFill>
                <a:latin typeface="Calibri" pitchFamily="34" charset="0"/>
                <a:ea typeface="Calibri" pitchFamily="34" charset="-122"/>
                <a:cs typeface="Calibri" pitchFamily="34" charset="-120"/>
              </a:rPr>
              <a:t>Low risk</a:t>
            </a:r>
            <a:endParaRPr lang="en-US" sz="2200" dirty="0"/>
          </a:p>
        </p:txBody>
      </p:sp>
      <p:sp>
        <p:nvSpPr>
          <p:cNvPr id="24" name="Text 22"/>
          <p:cNvSpPr txBox="1"/>
          <p:nvPr/>
        </p:nvSpPr>
        <p:spPr>
          <a:xfrm>
            <a:off x="640080" y="3474720"/>
            <a:ext cx="2286000" cy="27432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probability &lt; 0.3</a:t>
            </a:r>
            <a:endParaRPr lang="en-US" sz="1300" dirty="0"/>
          </a:p>
        </p:txBody>
      </p:sp>
      <p:sp>
        <p:nvSpPr>
          <p:cNvPr id="25" name="Text 23"/>
          <p:cNvSpPr txBox="1"/>
          <p:nvPr/>
        </p:nvSpPr>
        <p:spPr>
          <a:xfrm>
            <a:off x="640080" y="3886200"/>
            <a:ext cx="2286000" cy="1371600"/>
          </a:xfrm>
          <a:prstGeom prst="rect">
            <a:avLst/>
          </a:prstGeom>
          <a:noFill/>
          <a:ln/>
        </p:spPr>
        <p:txBody>
          <a:bodyPr wrap="square" lIns="0" tIns="0" rIns="0" bIns="0" rtlCol="0" anchor="t"/>
          <a:lstStyle/>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989 customers</a:t>
            </a:r>
            <a:endParaRPr lang="en-US" sz="1500" dirty="0"/>
          </a:p>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avg churn probability 0.154</a:t>
            </a:r>
            <a:endParaRPr lang="en-US" sz="1500" dirty="0"/>
          </a:p>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GBP 9.37 million historical spend</a:t>
            </a:r>
            <a:endParaRPr lang="en-US" sz="1500" dirty="0"/>
          </a:p>
        </p:txBody>
      </p:sp>
      <p:sp>
        <p:nvSpPr>
          <p:cNvPr id="26" name="Text 24"/>
          <p:cNvSpPr txBox="1"/>
          <p:nvPr/>
        </p:nvSpPr>
        <p:spPr>
          <a:xfrm>
            <a:off x="3154680" y="3017520"/>
            <a:ext cx="2286000" cy="411480"/>
          </a:xfrm>
          <a:prstGeom prst="rect">
            <a:avLst/>
          </a:prstGeom>
          <a:noFill/>
          <a:ln/>
        </p:spPr>
        <p:txBody>
          <a:bodyPr wrap="square" lIns="0" tIns="0" rIns="0" bIns="0" rtlCol="0" anchor="t"/>
          <a:lstStyle/>
          <a:p>
            <a:pPr indent="0" marL="0">
              <a:buNone/>
            </a:pPr>
            <a:r>
              <a:rPr lang="en-US" sz="2200" b="1" dirty="0">
                <a:solidFill>
                  <a:srgbClr val="C9A44C"/>
                </a:solidFill>
                <a:latin typeface="Calibri" pitchFamily="34" charset="0"/>
                <a:ea typeface="Calibri" pitchFamily="34" charset="-122"/>
                <a:cs typeface="Calibri" pitchFamily="34" charset="-120"/>
              </a:rPr>
              <a:t>Medium risk</a:t>
            </a:r>
            <a:endParaRPr lang="en-US" sz="2200" dirty="0"/>
          </a:p>
        </p:txBody>
      </p:sp>
      <p:sp>
        <p:nvSpPr>
          <p:cNvPr id="27" name="Text 25"/>
          <p:cNvSpPr txBox="1"/>
          <p:nvPr/>
        </p:nvSpPr>
        <p:spPr>
          <a:xfrm>
            <a:off x="3154680" y="3474720"/>
            <a:ext cx="2286000" cy="27432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0.3 to 0.6</a:t>
            </a:r>
            <a:endParaRPr lang="en-US" sz="1300" dirty="0"/>
          </a:p>
        </p:txBody>
      </p:sp>
      <p:sp>
        <p:nvSpPr>
          <p:cNvPr id="28" name="Text 26"/>
          <p:cNvSpPr txBox="1"/>
          <p:nvPr/>
        </p:nvSpPr>
        <p:spPr>
          <a:xfrm>
            <a:off x="3154680" y="3886200"/>
            <a:ext cx="2286000" cy="1371600"/>
          </a:xfrm>
          <a:prstGeom prst="rect">
            <a:avLst/>
          </a:prstGeom>
          <a:noFill/>
          <a:ln/>
        </p:spPr>
        <p:txBody>
          <a:bodyPr wrap="square" lIns="0" tIns="0" rIns="0" bIns="0" rtlCol="0" anchor="t"/>
          <a:lstStyle/>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1,677 customers</a:t>
            </a:r>
            <a:endParaRPr lang="en-US" sz="1500" dirty="0"/>
          </a:p>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avg churn probability 0.465</a:t>
            </a:r>
            <a:endParaRPr lang="en-US" sz="1500" dirty="0"/>
          </a:p>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GBP 2.54 million historical spend</a:t>
            </a:r>
            <a:endParaRPr lang="en-US" sz="1500" dirty="0"/>
          </a:p>
        </p:txBody>
      </p:sp>
      <p:sp>
        <p:nvSpPr>
          <p:cNvPr id="29" name="Text 27"/>
          <p:cNvSpPr txBox="1"/>
          <p:nvPr/>
        </p:nvSpPr>
        <p:spPr>
          <a:xfrm>
            <a:off x="5669280" y="3017520"/>
            <a:ext cx="2286000" cy="411480"/>
          </a:xfrm>
          <a:prstGeom prst="rect">
            <a:avLst/>
          </a:prstGeom>
          <a:noFill/>
          <a:ln/>
        </p:spPr>
        <p:txBody>
          <a:bodyPr wrap="square" lIns="0" tIns="0" rIns="0" bIns="0" rtlCol="0" anchor="t"/>
          <a:lstStyle/>
          <a:p>
            <a:pPr indent="0" marL="0">
              <a:buNone/>
            </a:pPr>
            <a:r>
              <a:rPr lang="en-US" sz="2200" b="1" dirty="0">
                <a:solidFill>
                  <a:srgbClr val="B5694A"/>
                </a:solidFill>
                <a:latin typeface="Calibri" pitchFamily="34" charset="0"/>
                <a:ea typeface="Calibri" pitchFamily="34" charset="-122"/>
                <a:cs typeface="Calibri" pitchFamily="34" charset="-120"/>
              </a:rPr>
              <a:t>High risk</a:t>
            </a:r>
            <a:endParaRPr lang="en-US" sz="2200" dirty="0"/>
          </a:p>
        </p:txBody>
      </p:sp>
      <p:sp>
        <p:nvSpPr>
          <p:cNvPr id="30" name="Text 28"/>
          <p:cNvSpPr txBox="1"/>
          <p:nvPr/>
        </p:nvSpPr>
        <p:spPr>
          <a:xfrm>
            <a:off x="5669280" y="3474720"/>
            <a:ext cx="2286000" cy="27432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above 0.6</a:t>
            </a:r>
            <a:endParaRPr lang="en-US" sz="1300" dirty="0"/>
          </a:p>
        </p:txBody>
      </p:sp>
      <p:sp>
        <p:nvSpPr>
          <p:cNvPr id="31" name="Text 29"/>
          <p:cNvSpPr txBox="1"/>
          <p:nvPr/>
        </p:nvSpPr>
        <p:spPr>
          <a:xfrm>
            <a:off x="5669280" y="3886200"/>
            <a:ext cx="2286000" cy="1371600"/>
          </a:xfrm>
          <a:prstGeom prst="rect">
            <a:avLst/>
          </a:prstGeom>
          <a:noFill/>
          <a:ln/>
        </p:spPr>
        <p:txBody>
          <a:bodyPr wrap="square" lIns="0" tIns="0" rIns="0" bIns="0" rtlCol="0" anchor="t"/>
          <a:lstStyle/>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2,615 customers</a:t>
            </a:r>
            <a:endParaRPr lang="en-US" sz="1500" dirty="0"/>
          </a:p>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avg churn probability 0.787</a:t>
            </a:r>
            <a:endParaRPr lang="en-US" sz="1500" dirty="0"/>
          </a:p>
          <a:p>
            <a:pPr indent="0" marL="0">
              <a:spcAft>
                <a:spcPts val="500"/>
              </a:spcAft>
              <a:buNone/>
            </a:pPr>
            <a:r>
              <a:rPr lang="en-US" sz="1500" dirty="0">
                <a:solidFill>
                  <a:srgbClr val="3B332C"/>
                </a:solidFill>
                <a:latin typeface="Calibri" pitchFamily="34" charset="0"/>
                <a:ea typeface="Calibri" pitchFamily="34" charset="-122"/>
                <a:cs typeface="Calibri" pitchFamily="34" charset="-120"/>
              </a:rPr>
              <a:t>GBP 2.02 million historical spend</a:t>
            </a:r>
            <a:endParaRPr lang="en-US" sz="1500" dirty="0"/>
          </a:p>
        </p:txBody>
      </p:sp>
      <p:sp>
        <p:nvSpPr>
          <p:cNvPr id="32" name="Shape 30"/>
          <p:cNvSpPr/>
          <p:nvPr/>
        </p:nvSpPr>
        <p:spPr>
          <a:xfrm>
            <a:off x="8321040" y="2880360"/>
            <a:ext cx="3227832" cy="3017520"/>
          </a:xfrm>
          <a:prstGeom prst="rect">
            <a:avLst/>
          </a:prstGeom>
          <a:solidFill>
            <a:srgbClr val="F0E9DC"/>
          </a:solidFill>
          <a:ln w="12700">
            <a:solidFill>
              <a:srgbClr val="F0E9DC"/>
            </a:solidFill>
            <a:prstDash val="solid"/>
          </a:ln>
        </p:spPr>
      </p:sp>
      <p:sp>
        <p:nvSpPr>
          <p:cNvPr id="33" name="Text 31"/>
          <p:cNvSpPr txBox="1"/>
          <p:nvPr/>
        </p:nvSpPr>
        <p:spPr>
          <a:xfrm>
            <a:off x="8549640" y="3063240"/>
            <a:ext cx="2834640" cy="320040"/>
          </a:xfrm>
          <a:prstGeom prst="rect">
            <a:avLst/>
          </a:prstGeom>
          <a:noFill/>
          <a:ln/>
        </p:spPr>
        <p:txBody>
          <a:bodyPr wrap="square" lIns="0" tIns="0" rIns="0" bIns="0" rtlCol="0" anchor="t"/>
          <a:lstStyle/>
          <a:p>
            <a:pPr indent="0" marL="0">
              <a:buNone/>
            </a:pPr>
            <a:r>
              <a:rPr lang="en-US" sz="1400" b="1" dirty="0">
                <a:solidFill>
                  <a:srgbClr val="B5694A"/>
                </a:solidFill>
                <a:latin typeface="Calibri" pitchFamily="34" charset="0"/>
                <a:ea typeface="Calibri" pitchFamily="34" charset="-122"/>
                <a:cs typeface="Calibri" pitchFamily="34" charset="-120"/>
              </a:rPr>
              <a:t>Important</a:t>
            </a:r>
            <a:endParaRPr lang="en-US" sz="1400" dirty="0"/>
          </a:p>
        </p:txBody>
      </p:sp>
      <p:sp>
        <p:nvSpPr>
          <p:cNvPr id="34" name="Text 32"/>
          <p:cNvSpPr txBox="1"/>
          <p:nvPr/>
        </p:nvSpPr>
        <p:spPr>
          <a:xfrm>
            <a:off x="8549640" y="3429000"/>
            <a:ext cx="2834640" cy="1463040"/>
          </a:xfrm>
          <a:prstGeom prst="rect">
            <a:avLst/>
          </a:prstGeom>
          <a:noFill/>
          <a:ln/>
        </p:spPr>
        <p:txBody>
          <a:bodyPr wrap="square" lIns="0" tIns="0" rIns="0" bIns="0" rtlCol="0" anchor="t"/>
          <a:lstStyle/>
          <a:p>
            <a:pPr indent="0" marL="0">
              <a:buNone/>
            </a:pPr>
            <a:r>
              <a:rPr lang="en-US" sz="1400" dirty="0">
                <a:solidFill>
                  <a:srgbClr val="3B332C"/>
                </a:solidFill>
                <a:latin typeface="Calibri" pitchFamily="34" charset="0"/>
                <a:ea typeface="Calibri" pitchFamily="34" charset="-122"/>
                <a:cs typeface="Calibri" pitchFamily="34" charset="-120"/>
              </a:rPr>
              <a:t>GBP 2.02 million is what high-risk customers have spent in the past. It is historical revenue, not a forecast of future revenue.</a:t>
            </a:r>
            <a:endParaRPr lang="en-US" sz="1400" dirty="0"/>
          </a:p>
        </p:txBody>
      </p:sp>
      <p:sp>
        <p:nvSpPr>
          <p:cNvPr id="35" name="Text 33"/>
          <p:cNvSpPr txBox="1"/>
          <p:nvPr/>
        </p:nvSpPr>
        <p:spPr>
          <a:xfrm>
            <a:off x="8549640" y="4937760"/>
            <a:ext cx="2834640" cy="822960"/>
          </a:xfrm>
          <a:prstGeom prst="rect">
            <a:avLst/>
          </a:prstGeom>
          <a:noFill/>
          <a:ln/>
        </p:spPr>
        <p:txBody>
          <a:bodyPr wrap="square" lIns="0" tIns="0" rIns="0" bIns="0" rtlCol="0" anchor="t"/>
          <a:lstStyle/>
          <a:p>
            <a:pPr indent="0" marL="0">
              <a:buNone/>
            </a:pPr>
            <a:r>
              <a:rPr lang="en-US" sz="1300" dirty="0">
                <a:solidFill>
                  <a:srgbClr val="7A6F64"/>
                </a:solidFill>
                <a:latin typeface="Calibri" pitchFamily="34" charset="0"/>
                <a:ea typeface="Calibri" pitchFamily="34" charset="-122"/>
                <a:cs typeface="Calibri" pitchFamily="34" charset="-120"/>
              </a:rPr>
              <a:t>Example: customer 12346 spent GBP 77,556 and has a churn risk of 0.902.</a:t>
            </a:r>
            <a:endParaRPr lang="en-US" sz="1300" dirty="0"/>
          </a:p>
        </p:txBody>
      </p:sp>
      <p:sp>
        <p:nvSpPr>
          <p:cNvPr id="36" name="Text 34"/>
          <p:cNvSpPr txBox="1"/>
          <p:nvPr/>
        </p:nvSpPr>
        <p:spPr>
          <a:xfrm>
            <a:off x="640080" y="5486400"/>
            <a:ext cx="7315200" cy="457200"/>
          </a:xfrm>
          <a:prstGeom prst="rect">
            <a:avLst/>
          </a:prstGeom>
          <a:noFill/>
          <a:ln/>
        </p:spPr>
        <p:txBody>
          <a:bodyPr wrap="square" lIns="0" tIns="0" rIns="0" bIns="0" rtlCol="0" anchor="t"/>
          <a:lstStyle/>
          <a:p>
            <a:pPr indent="0" marL="0">
              <a:buNone/>
            </a:pPr>
            <a:r>
              <a:rPr lang="en-US" sz="1400" i="1" dirty="0">
                <a:solidFill>
                  <a:srgbClr val="7A6F64"/>
                </a:solidFill>
                <a:latin typeface="Calibri" pitchFamily="34" charset="0"/>
                <a:ea typeface="Calibri" pitchFamily="34" charset="-122"/>
                <a:cs typeface="Calibri" pitchFamily="34" charset="-120"/>
              </a:rPr>
              <a:t>A second query lists high-value customers inside the high-risk band, giving a direct retention list.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C"/>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200" kern="0" dirty="0">
                <a:solidFill>
                  <a:srgbClr val="B5694A"/>
                </a:solidFill>
                <a:latin typeface="Calibri" pitchFamily="34" charset="0"/>
                <a:ea typeface="Calibri" pitchFamily="34" charset="-122"/>
                <a:cs typeface="Calibri" pitchFamily="34" charset="-120"/>
              </a:rPr>
              <a:t>13  FINDINGS AND LIMITATIONS</a:t>
            </a:r>
            <a:endParaRPr lang="en-US" sz="1100" dirty="0"/>
          </a:p>
        </p:txBody>
      </p:sp>
      <p:sp>
        <p:nvSpPr>
          <p:cNvPr id="3" name="Text 1"/>
          <p:cNvSpPr txBox="1"/>
          <p:nvPr/>
        </p:nvSpPr>
        <p:spPr>
          <a:xfrm>
            <a:off x="640080" y="685800"/>
            <a:ext cx="10911535" cy="731520"/>
          </a:xfrm>
          <a:prstGeom prst="rect">
            <a:avLst/>
          </a:prstGeom>
          <a:noFill/>
          <a:ln/>
        </p:spPr>
        <p:txBody>
          <a:bodyPr wrap="square" lIns="0" tIns="0" rIns="0" bIns="0" rtlCol="0" anchor="t"/>
          <a:lstStyle/>
          <a:p>
            <a:pPr indent="0" marL="0">
              <a:buNone/>
            </a:pPr>
            <a:r>
              <a:rPr lang="en-US" sz="3200" b="1" dirty="0">
                <a:solidFill>
                  <a:srgbClr val="3B332C"/>
                </a:solidFill>
                <a:latin typeface="Calibri" pitchFamily="34" charset="0"/>
                <a:ea typeface="Calibri" pitchFamily="34" charset="-122"/>
                <a:cs typeface="Calibri" pitchFamily="34" charset="-120"/>
              </a:rPr>
              <a:t>What we learned</a:t>
            </a:r>
            <a:endParaRPr lang="en-US" sz="3200" dirty="0"/>
          </a:p>
        </p:txBody>
      </p:sp>
      <p:sp>
        <p:nvSpPr>
          <p:cNvPr id="4" name="Text 2"/>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7A6F64"/>
                </a:solidFill>
                <a:latin typeface="Calibri" pitchFamily="34" charset="0"/>
                <a:ea typeface="Calibri" pitchFamily="34" charset="-122"/>
                <a:cs typeface="Calibri" pitchFamily="34" charset="-120"/>
              </a:rPr>
              <a:t>Customer Segmentation  |  Online Retail II</a:t>
            </a:r>
            <a:endParaRPr lang="en-US" sz="900" dirty="0"/>
          </a:p>
        </p:txBody>
      </p:sp>
      <p:sp>
        <p:nvSpPr>
          <p:cNvPr id="5" name="Text 3"/>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7A6F64"/>
                </a:solidFill>
                <a:latin typeface="Calibri" pitchFamily="34" charset="0"/>
                <a:ea typeface="Calibri" pitchFamily="34" charset="-122"/>
                <a:cs typeface="Calibri" pitchFamily="34" charset="-120"/>
              </a:rPr>
              <a:t>14</a:t>
            </a:r>
            <a:endParaRPr lang="en-US" sz="900" dirty="0"/>
          </a:p>
        </p:txBody>
      </p:sp>
      <p:sp>
        <p:nvSpPr>
          <p:cNvPr id="6" name="Text 4"/>
          <p:cNvSpPr txBox="1"/>
          <p:nvPr/>
        </p:nvSpPr>
        <p:spPr>
          <a:xfrm>
            <a:off x="640080" y="1737360"/>
            <a:ext cx="5120640" cy="365760"/>
          </a:xfrm>
          <a:prstGeom prst="rect">
            <a:avLst/>
          </a:prstGeom>
          <a:noFill/>
          <a:ln/>
        </p:spPr>
        <p:txBody>
          <a:bodyPr wrap="square" lIns="0" tIns="0" rIns="0" bIns="0" rtlCol="0" anchor="t"/>
          <a:lstStyle/>
          <a:p>
            <a:pPr indent="0" marL="0">
              <a:buNone/>
            </a:pPr>
            <a:r>
              <a:rPr lang="en-US" sz="2000" b="1" dirty="0">
                <a:solidFill>
                  <a:srgbClr val="5E6B4E"/>
                </a:solidFill>
                <a:latin typeface="Calibri" pitchFamily="34" charset="0"/>
                <a:ea typeface="Calibri" pitchFamily="34" charset="-122"/>
                <a:cs typeface="Calibri" pitchFamily="34" charset="-120"/>
              </a:rPr>
              <a:t>Key findings</a:t>
            </a:r>
            <a:endParaRPr lang="en-US" sz="2000" dirty="0"/>
          </a:p>
        </p:txBody>
      </p:sp>
      <p:sp>
        <p:nvSpPr>
          <p:cNvPr id="7" name="Text 5"/>
          <p:cNvSpPr txBox="1"/>
          <p:nvPr/>
        </p:nvSpPr>
        <p:spPr>
          <a:xfrm>
            <a:off x="640080" y="2286000"/>
            <a:ext cx="5120640" cy="384048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3B332C"/>
                </a:solidFill>
                <a:latin typeface="Calibri" pitchFamily="34" charset="0"/>
                <a:ea typeface="Calibri" pitchFamily="34" charset="-122"/>
                <a:cs typeface="Calibri" pitchFamily="34" charset="-120"/>
              </a:rPr>
              <a:t>RFM features give strong signals about customer behaviour</a:t>
            </a:r>
            <a:endParaRPr lang="en-US" sz="1700" dirty="0"/>
          </a:p>
          <a:p>
            <a:pPr marL="228600" indent="-228600">
              <a:spcAft>
                <a:spcPts val="1200"/>
              </a:spcAft>
              <a:buSzPct val="100000"/>
              <a:buChar char="•"/>
            </a:pPr>
            <a:r>
              <a:rPr lang="en-US" sz="1700" dirty="0">
                <a:solidFill>
                  <a:srgbClr val="3B332C"/>
                </a:solidFill>
                <a:latin typeface="Calibri" pitchFamily="34" charset="0"/>
                <a:ea typeface="Calibri" pitchFamily="34" charset="-122"/>
                <a:cs typeface="Calibri" pitchFamily="34" charset="-120"/>
              </a:rPr>
              <a:t>A time-based churn label avoids leakage and gives honest scores</a:t>
            </a:r>
            <a:endParaRPr lang="en-US" sz="1700" dirty="0"/>
          </a:p>
          <a:p>
            <a:pPr marL="228600" indent="-228600">
              <a:spcAft>
                <a:spcPts val="1200"/>
              </a:spcAft>
              <a:buSzPct val="100000"/>
              <a:buChar char="•"/>
            </a:pPr>
            <a:r>
              <a:rPr lang="en-US" sz="1700" dirty="0">
                <a:solidFill>
                  <a:srgbClr val="3B332C"/>
                </a:solidFill>
                <a:latin typeface="Calibri" pitchFamily="34" charset="0"/>
                <a:ea typeface="Calibri" pitchFamily="34" charset="-122"/>
                <a:cs typeface="Calibri" pitchFamily="34" charset="-120"/>
              </a:rPr>
              <a:t>SQLite connects R and Python in one pipeline</a:t>
            </a:r>
            <a:endParaRPr lang="en-US" sz="1700" dirty="0"/>
          </a:p>
          <a:p>
            <a:pPr marL="228600" indent="-228600">
              <a:spcAft>
                <a:spcPts val="1200"/>
              </a:spcAft>
              <a:buSzPct val="100000"/>
              <a:buChar char="•"/>
            </a:pPr>
            <a:r>
              <a:rPr lang="en-US" sz="1700" dirty="0">
                <a:solidFill>
                  <a:srgbClr val="3B332C"/>
                </a:solidFill>
                <a:latin typeface="Calibri" pitchFamily="34" charset="0"/>
                <a:ea typeface="Calibri" pitchFamily="34" charset="-122"/>
                <a:cs typeface="Calibri" pitchFamily="34" charset="-120"/>
              </a:rPr>
              <a:t>24 models compared across three tasks</a:t>
            </a:r>
            <a:endParaRPr lang="en-US" sz="1700" dirty="0"/>
          </a:p>
          <a:p>
            <a:pPr marL="228600" indent="-228600">
              <a:spcAft>
                <a:spcPts val="1200"/>
              </a:spcAft>
              <a:buSzPct val="100000"/>
              <a:buChar char="•"/>
            </a:pPr>
            <a:r>
              <a:rPr lang="en-US" sz="1700" dirty="0">
                <a:solidFill>
                  <a:srgbClr val="3B332C"/>
                </a:solidFill>
                <a:latin typeface="Calibri" pitchFamily="34" charset="0"/>
                <a:ea typeface="Calibri" pitchFamily="34" charset="-122"/>
                <a:cs typeface="Calibri" pitchFamily="34" charset="-120"/>
              </a:rPr>
              <a:t>Threshold tuning and SMOTE improved recall where it mattered</a:t>
            </a:r>
            <a:endParaRPr lang="en-US" sz="1700" dirty="0"/>
          </a:p>
          <a:p>
            <a:pPr marL="228600" indent="-228600">
              <a:spcAft>
                <a:spcPts val="1200"/>
              </a:spcAft>
              <a:buSzPct val="100000"/>
              <a:buChar char="•"/>
            </a:pPr>
            <a:r>
              <a:rPr lang="en-US" sz="1700" dirty="0">
                <a:solidFill>
                  <a:srgbClr val="3B332C"/>
                </a:solidFill>
                <a:latin typeface="Calibri" pitchFamily="34" charset="0"/>
                <a:ea typeface="Calibri" pitchFamily="34" charset="-122"/>
                <a:cs typeface="Calibri" pitchFamily="34" charset="-120"/>
              </a:rPr>
              <a:t>Predictions are stored back in the database for SQL analysis</a:t>
            </a:r>
            <a:endParaRPr lang="en-US" sz="1700" dirty="0"/>
          </a:p>
        </p:txBody>
      </p:sp>
      <p:sp>
        <p:nvSpPr>
          <p:cNvPr id="8" name="Shape 6"/>
          <p:cNvSpPr/>
          <p:nvPr/>
        </p:nvSpPr>
        <p:spPr>
          <a:xfrm>
            <a:off x="6355080" y="1645920"/>
            <a:ext cx="5193792" cy="4434840"/>
          </a:xfrm>
          <a:prstGeom prst="rect">
            <a:avLst/>
          </a:prstGeom>
          <a:solidFill>
            <a:srgbClr val="F0E9DC"/>
          </a:solidFill>
          <a:ln w="12700">
            <a:solidFill>
              <a:srgbClr val="F0E9DC"/>
            </a:solidFill>
            <a:prstDash val="solid"/>
          </a:ln>
        </p:spPr>
      </p:sp>
      <p:sp>
        <p:nvSpPr>
          <p:cNvPr id="9" name="Text 7"/>
          <p:cNvSpPr txBox="1"/>
          <p:nvPr/>
        </p:nvSpPr>
        <p:spPr>
          <a:xfrm>
            <a:off x="6629400" y="1783080"/>
            <a:ext cx="4663440" cy="365760"/>
          </a:xfrm>
          <a:prstGeom prst="rect">
            <a:avLst/>
          </a:prstGeom>
          <a:noFill/>
          <a:ln/>
        </p:spPr>
        <p:txBody>
          <a:bodyPr wrap="square" lIns="0" tIns="0" rIns="0" bIns="0" rtlCol="0" anchor="t"/>
          <a:lstStyle/>
          <a:p>
            <a:pPr indent="0" marL="0">
              <a:buNone/>
            </a:pPr>
            <a:r>
              <a:rPr lang="en-US" sz="2000" b="1" dirty="0">
                <a:solidFill>
                  <a:srgbClr val="B5694A"/>
                </a:solidFill>
                <a:latin typeface="Calibri" pitchFamily="34" charset="0"/>
                <a:ea typeface="Calibri" pitchFamily="34" charset="-122"/>
                <a:cs typeface="Calibri" pitchFamily="34" charset="-120"/>
              </a:rPr>
              <a:t>Limitations</a:t>
            </a:r>
            <a:endParaRPr lang="en-US" sz="2000" dirty="0"/>
          </a:p>
        </p:txBody>
      </p:sp>
      <p:sp>
        <p:nvSpPr>
          <p:cNvPr id="10" name="Text 8"/>
          <p:cNvSpPr txBox="1"/>
          <p:nvPr/>
        </p:nvSpPr>
        <p:spPr>
          <a:xfrm>
            <a:off x="6629400" y="2286000"/>
            <a:ext cx="4663440" cy="3749040"/>
          </a:xfrm>
          <a:prstGeom prst="rect">
            <a:avLst/>
          </a:prstGeom>
          <a:noFill/>
          <a:ln/>
        </p:spPr>
        <p:txBody>
          <a:bodyPr wrap="square" lIns="0" tIns="0" rIns="0" bIns="0" rtlCol="0" anchor="t"/>
          <a:lstStyle/>
          <a:p>
            <a:pPr marL="228600" indent="-228600">
              <a:spcAft>
                <a:spcPts val="1200"/>
              </a:spcAft>
              <a:buSzPct val="100000"/>
              <a:buChar char="•"/>
            </a:pPr>
            <a:r>
              <a:rPr lang="en-US" sz="1500" dirty="0">
                <a:solidFill>
                  <a:srgbClr val="3B332C"/>
                </a:solidFill>
                <a:latin typeface="Calibri" pitchFamily="34" charset="0"/>
                <a:ea typeface="Calibri" pitchFamily="34" charset="-122"/>
                <a:cs typeface="Calibri" pitchFamily="34" charset="-120"/>
              </a:rPr>
              <a:t>Segments are very uneven: segment 4 has only 15 customers, so macro recall is lower</a:t>
            </a:r>
            <a:endParaRPr lang="en-US" sz="1500" dirty="0"/>
          </a:p>
          <a:p>
            <a:pPr marL="228600" indent="-228600">
              <a:spcAft>
                <a:spcPts val="1200"/>
              </a:spcAft>
              <a:buSzPct val="100000"/>
              <a:buChar char="•"/>
            </a:pPr>
            <a:r>
              <a:rPr lang="en-US" sz="1500" dirty="0">
                <a:solidFill>
                  <a:srgbClr val="3B332C"/>
                </a:solidFill>
                <a:latin typeface="Calibri" pitchFamily="34" charset="0"/>
                <a:ea typeface="Calibri" pitchFamily="34" charset="-122"/>
                <a:cs typeface="Calibri" pitchFamily="34" charset="-120"/>
              </a:rPr>
              <a:t>Segment classification mostly rebuilds the K-Means boundary, so its near-perfect score is expected</a:t>
            </a:r>
            <a:endParaRPr lang="en-US" sz="1500" dirty="0"/>
          </a:p>
          <a:p>
            <a:pPr marL="228600" indent="-228600">
              <a:spcAft>
                <a:spcPts val="1200"/>
              </a:spcAft>
              <a:buSzPct val="100000"/>
              <a:buChar char="•"/>
            </a:pPr>
            <a:r>
              <a:rPr lang="en-US" sz="1500" dirty="0">
                <a:solidFill>
                  <a:srgbClr val="3B332C"/>
                </a:solidFill>
                <a:latin typeface="Calibri" pitchFamily="34" charset="0"/>
                <a:ea typeface="Calibri" pitchFamily="34" charset="-122"/>
                <a:cs typeface="Calibri" pitchFamily="34" charset="-120"/>
              </a:rPr>
              <a:t>Churn ROC-AUC levels off around 0.80; the features set the limit</a:t>
            </a:r>
            <a:endParaRPr lang="en-US" sz="1500" dirty="0"/>
          </a:p>
          <a:p>
            <a:pPr marL="228600" indent="-228600">
              <a:spcAft>
                <a:spcPts val="1200"/>
              </a:spcAft>
              <a:buSzPct val="100000"/>
              <a:buChar char="•"/>
            </a:pPr>
            <a:r>
              <a:rPr lang="en-US" sz="1500" dirty="0">
                <a:solidFill>
                  <a:srgbClr val="3B332C"/>
                </a:solidFill>
                <a:latin typeface="Calibri" pitchFamily="34" charset="0"/>
                <a:ea typeface="Calibri" pitchFamily="34" charset="-122"/>
                <a:cs typeface="Calibri" pitchFamily="34" charset="-120"/>
              </a:rPr>
              <a:t>Tuning was only done for churn; high-value and segment models use defaults</a:t>
            </a:r>
            <a:endParaRPr lang="en-US" sz="1500" dirty="0"/>
          </a:p>
          <a:p>
            <a:pPr marL="228600" indent="-228600">
              <a:spcAft>
                <a:spcPts val="1200"/>
              </a:spcAft>
              <a:buSzPct val="100000"/>
              <a:buChar char="•"/>
            </a:pPr>
            <a:r>
              <a:rPr lang="en-US" sz="1500" dirty="0">
                <a:solidFill>
                  <a:srgbClr val="3B332C"/>
                </a:solidFill>
                <a:latin typeface="Calibri" pitchFamily="34" charset="0"/>
                <a:ea typeface="Calibri" pitchFamily="34" charset="-122"/>
                <a:cs typeface="Calibri" pitchFamily="34" charset="-120"/>
              </a:rPr>
              <a:t>Some calibration curves drift from the diagonal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E9E0D0"/>
          </a:solidFill>
          <a:ln w="12700">
            <a:solidFill>
              <a:srgbClr val="E9E0D0"/>
            </a:solidFill>
            <a:prstDash val="solid"/>
          </a:ln>
        </p:spPr>
      </p:sp>
      <p:sp>
        <p:nvSpPr>
          <p:cNvPr id="3" name="Shape 1"/>
          <p:cNvSpPr/>
          <p:nvPr/>
        </p:nvSpPr>
        <p:spPr>
          <a:xfrm>
            <a:off x="1280160" y="2377440"/>
            <a:ext cx="822960" cy="822960"/>
          </a:xfrm>
          <a:prstGeom prst="rect">
            <a:avLst/>
          </a:prstGeom>
          <a:solidFill>
            <a:srgbClr val="7D8C6A"/>
          </a:solidFill>
          <a:ln w="12700">
            <a:solidFill>
              <a:srgbClr val="7D8C6A"/>
            </a:solidFill>
            <a:prstDash val="solid"/>
          </a:ln>
        </p:spPr>
      </p:sp>
      <p:sp>
        <p:nvSpPr>
          <p:cNvPr id="4" name="Shape 2"/>
          <p:cNvSpPr/>
          <p:nvPr/>
        </p:nvSpPr>
        <p:spPr>
          <a:xfrm>
            <a:off x="2103120" y="3200400"/>
            <a:ext cx="822960" cy="822960"/>
          </a:xfrm>
          <a:prstGeom prst="rect">
            <a:avLst/>
          </a:prstGeom>
          <a:solidFill>
            <a:srgbClr val="B5694A"/>
          </a:solidFill>
          <a:ln w="12700">
            <a:solidFill>
              <a:srgbClr val="B5694A"/>
            </a:solidFill>
            <a:prstDash val="solid"/>
          </a:ln>
        </p:spPr>
      </p:sp>
      <p:sp>
        <p:nvSpPr>
          <p:cNvPr id="5" name="Shape 3"/>
          <p:cNvSpPr/>
          <p:nvPr/>
        </p:nvSpPr>
        <p:spPr>
          <a:xfrm>
            <a:off x="1280160" y="4023360"/>
            <a:ext cx="822960" cy="822960"/>
          </a:xfrm>
          <a:prstGeom prst="rect">
            <a:avLst/>
          </a:prstGeom>
          <a:solidFill>
            <a:srgbClr val="C9A44C"/>
          </a:solidFill>
          <a:ln w="12700">
            <a:solidFill>
              <a:srgbClr val="C9A44C"/>
            </a:solidFill>
            <a:prstDash val="solid"/>
          </a:ln>
        </p:spPr>
      </p:sp>
      <p:sp>
        <p:nvSpPr>
          <p:cNvPr id="6" name="Text 4"/>
          <p:cNvSpPr txBox="1"/>
          <p:nvPr/>
        </p:nvSpPr>
        <p:spPr>
          <a:xfrm>
            <a:off x="4572000" y="1188720"/>
            <a:ext cx="6858000" cy="320040"/>
          </a:xfrm>
          <a:prstGeom prst="rect">
            <a:avLst/>
          </a:prstGeom>
          <a:noFill/>
          <a:ln/>
        </p:spPr>
        <p:txBody>
          <a:bodyPr wrap="square" lIns="0" tIns="0" rIns="0" bIns="0" rtlCol="0" anchor="t"/>
          <a:lstStyle/>
          <a:p>
            <a:pPr indent="0" marL="0">
              <a:buNone/>
            </a:pPr>
            <a:r>
              <a:rPr lang="en-US" sz="1300" b="1" spc="300" kern="0" dirty="0">
                <a:solidFill>
                  <a:srgbClr val="B5694A"/>
                </a:solidFill>
                <a:latin typeface="Calibri" pitchFamily="34" charset="0"/>
                <a:ea typeface="Calibri" pitchFamily="34" charset="-122"/>
                <a:cs typeface="Calibri" pitchFamily="34" charset="-120"/>
              </a:rPr>
              <a:t>CONCLUSION</a:t>
            </a:r>
            <a:endParaRPr lang="en-US" sz="1300" dirty="0"/>
          </a:p>
        </p:txBody>
      </p:sp>
      <p:sp>
        <p:nvSpPr>
          <p:cNvPr id="7" name="Text 5"/>
          <p:cNvSpPr txBox="1"/>
          <p:nvPr/>
        </p:nvSpPr>
        <p:spPr>
          <a:xfrm>
            <a:off x="4572000" y="1600200"/>
            <a:ext cx="6858000" cy="1737360"/>
          </a:xfrm>
          <a:prstGeom prst="rect">
            <a:avLst/>
          </a:prstGeom>
          <a:noFill/>
          <a:ln/>
        </p:spPr>
        <p:txBody>
          <a:bodyPr wrap="square" lIns="0" tIns="0" rIns="0" bIns="0" rtlCol="0" anchor="t"/>
          <a:lstStyle/>
          <a:p>
            <a:pPr indent="0" marL="0">
              <a:buNone/>
            </a:pPr>
            <a:r>
              <a:rPr lang="en-US" sz="2000" dirty="0">
                <a:solidFill>
                  <a:srgbClr val="3B332C"/>
                </a:solidFill>
                <a:latin typeface="Calibri" pitchFamily="34" charset="0"/>
                <a:ea typeface="Calibri" pitchFamily="34" charset="-122"/>
                <a:cs typeface="Calibri" pitchFamily="34" charset="-120"/>
              </a:rPr>
              <a:t>The project combines customer-level feature engineering, a shared SQLite database and machine learning to turn retail transactions into customer insights a business can act on.</a:t>
            </a:r>
            <a:endParaRPr lang="en-US" sz="2000" dirty="0"/>
          </a:p>
        </p:txBody>
      </p:sp>
      <p:sp>
        <p:nvSpPr>
          <p:cNvPr id="8" name="Text 6"/>
          <p:cNvSpPr txBox="1"/>
          <p:nvPr/>
        </p:nvSpPr>
        <p:spPr>
          <a:xfrm>
            <a:off x="4572000" y="3749040"/>
            <a:ext cx="6858000" cy="822960"/>
          </a:xfrm>
          <a:prstGeom prst="rect">
            <a:avLst/>
          </a:prstGeom>
          <a:noFill/>
          <a:ln/>
        </p:spPr>
        <p:txBody>
          <a:bodyPr wrap="square" lIns="0" tIns="0" rIns="0" bIns="0" rtlCol="0" anchor="t"/>
          <a:lstStyle/>
          <a:p>
            <a:pPr indent="0" marL="0">
              <a:buNone/>
            </a:pPr>
            <a:r>
              <a:rPr lang="en-US" sz="4400" b="1" dirty="0">
                <a:solidFill>
                  <a:srgbClr val="3B332C"/>
                </a:solidFill>
                <a:latin typeface="Calibri" pitchFamily="34" charset="0"/>
                <a:ea typeface="Calibri" pitchFamily="34" charset="-122"/>
                <a:cs typeface="Calibri" pitchFamily="34" charset="-120"/>
              </a:rPr>
              <a:t>Thank you</a:t>
            </a:r>
            <a:endParaRPr lang="en-US" sz="4400" dirty="0"/>
          </a:p>
        </p:txBody>
      </p:sp>
      <p:sp>
        <p:nvSpPr>
          <p:cNvPr id="9" name="Text 7"/>
          <p:cNvSpPr txBox="1"/>
          <p:nvPr/>
        </p:nvSpPr>
        <p:spPr>
          <a:xfrm>
            <a:off x="4572000" y="4572000"/>
            <a:ext cx="6858000" cy="457200"/>
          </a:xfrm>
          <a:prstGeom prst="rect">
            <a:avLst/>
          </a:prstGeom>
          <a:noFill/>
          <a:ln/>
        </p:spPr>
        <p:txBody>
          <a:bodyPr wrap="square" lIns="0" tIns="0" rIns="0" bIns="0" rtlCol="0" anchor="t"/>
          <a:lstStyle/>
          <a:p>
            <a:pPr indent="0" marL="0">
              <a:buNone/>
            </a:pPr>
            <a:r>
              <a:rPr lang="en-US" sz="2000" dirty="0">
                <a:solidFill>
                  <a:srgbClr val="7A6F64"/>
                </a:solidFill>
                <a:latin typeface="Calibri" pitchFamily="34" charset="0"/>
                <a:ea typeface="Calibri" pitchFamily="34" charset="-122"/>
                <a:cs typeface="Calibri" pitchFamily="34" charset="-120"/>
              </a:rPr>
              <a:t>Questions?</a:t>
            </a:r>
            <a:endParaRPr lang="en-US" sz="2000" dirty="0"/>
          </a:p>
        </p:txBody>
      </p:sp>
      <p:sp>
        <p:nvSpPr>
          <p:cNvPr id="10" name="Text 8"/>
          <p:cNvSpPr txBox="1"/>
          <p:nvPr/>
        </p:nvSpPr>
        <p:spPr>
          <a:xfrm>
            <a:off x="4572000" y="5852160"/>
            <a:ext cx="6858000" cy="274320"/>
          </a:xfrm>
          <a:prstGeom prst="rect">
            <a:avLst/>
          </a:prstGeom>
          <a:noFill/>
          <a:ln/>
        </p:spPr>
        <p:txBody>
          <a:bodyPr wrap="square" lIns="0" tIns="0" rIns="0" bIns="0" rtlCol="0" anchor="t"/>
          <a:lstStyle/>
          <a:p>
            <a:pPr indent="0" marL="0">
              <a:buNone/>
            </a:pPr>
            <a:r>
              <a:rPr lang="en-US" sz="1200" dirty="0">
                <a:solidFill>
                  <a:srgbClr val="7A6F64"/>
                </a:solidFill>
                <a:latin typeface="Calibri" pitchFamily="34" charset="0"/>
                <a:ea typeface="Calibri" pitchFamily="34" charset="-122"/>
                <a:cs typeface="Calibri" pitchFamily="34" charset="-120"/>
              </a:rPr>
              <a:t>Suyash Agrawaal  ·  24BDS1167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Using the Online Retail II Dataset</dc:title>
  <dc:subject>PptxGenJS Presentation</dc:subject>
  <dc:creator>Suyash Agrawaal</dc:creator>
  <cp:lastModifiedBy>Suyash Agrawaal</cp:lastModifiedBy>
  <cp:revision>1</cp:revision>
  <dcterms:created xsi:type="dcterms:W3CDTF">2026-09-21T19:08:03Z</dcterms:created>
  <dcterms:modified xsi:type="dcterms:W3CDTF">2026-09-21T19:08:03Z</dcterms:modified>
</cp:coreProperties>
</file>