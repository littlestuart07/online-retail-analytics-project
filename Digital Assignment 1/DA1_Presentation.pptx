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022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1E2761"/>
          </a:solidFill>
          <a:ln/>
        </p:spPr>
        <p:txBody>
          <a:bodyPr/>
          <a:lstStyle/>
          <a:p>
            <a:endParaRPr lang="en-IN"/>
          </a:p>
        </p:txBody>
      </p:sp>
      <p:pic>
        <p:nvPicPr>
          <p:cNvPr id="3" name="Image 0" descr="vit_logo.jpg"/>
          <p:cNvPicPr>
            <a:picLocks noChangeAspect="1"/>
          </p:cNvPicPr>
          <p:nvPr/>
        </p:nvPicPr>
        <p:blipFill>
          <a:blip r:embed="rId3"/>
          <a:stretch>
            <a:fillRect/>
          </a:stretch>
        </p:blipFill>
        <p:spPr>
          <a:xfrm>
            <a:off x="640080" y="548640"/>
            <a:ext cx="2926080" cy="1139631"/>
          </a:xfrm>
          <a:prstGeom prst="rect">
            <a:avLst/>
          </a:prstGeom>
        </p:spPr>
      </p:pic>
      <p:sp>
        <p:nvSpPr>
          <p:cNvPr id="4" name="Text 1"/>
          <p:cNvSpPr/>
          <p:nvPr/>
        </p:nvSpPr>
        <p:spPr>
          <a:xfrm>
            <a:off x="640080" y="2331720"/>
            <a:ext cx="10515600" cy="365760"/>
          </a:xfrm>
          <a:prstGeom prst="rect">
            <a:avLst/>
          </a:prstGeom>
          <a:noFill/>
          <a:ln/>
        </p:spPr>
        <p:txBody>
          <a:bodyPr wrap="square" rtlCol="0" anchor="ctr"/>
          <a:lstStyle/>
          <a:p>
            <a:pPr marL="0" indent="0">
              <a:buNone/>
            </a:pPr>
            <a:r>
              <a:rPr lang="en-US" sz="1300" b="1" kern="0" spc="120" dirty="0">
                <a:solidFill>
                  <a:srgbClr val="C9A227"/>
                </a:solidFill>
                <a:latin typeface="Calibri" pitchFamily="34" charset="0"/>
                <a:ea typeface="Calibri" pitchFamily="34" charset="-122"/>
                <a:cs typeface="Calibri" pitchFamily="34" charset="-120"/>
              </a:rPr>
              <a:t>DIGITAL ASSIGNMENT 1  |  PROGRAMMING FOR DATA SCIENCE (BCSE207L)</a:t>
            </a:r>
            <a:endParaRPr lang="en-US" sz="1300" dirty="0"/>
          </a:p>
        </p:txBody>
      </p:sp>
      <p:sp>
        <p:nvSpPr>
          <p:cNvPr id="5" name="Text 2"/>
          <p:cNvSpPr/>
          <p:nvPr/>
        </p:nvSpPr>
        <p:spPr>
          <a:xfrm>
            <a:off x="640080" y="2743200"/>
            <a:ext cx="10424160" cy="1645920"/>
          </a:xfrm>
          <a:prstGeom prst="rect">
            <a:avLst/>
          </a:prstGeom>
          <a:noFill/>
          <a:ln/>
        </p:spPr>
        <p:txBody>
          <a:bodyPr wrap="square" rtlCol="0" anchor="ctr"/>
          <a:lstStyle/>
          <a:p>
            <a:pPr marL="0" indent="0">
              <a:lnSpc>
                <a:spcPct val="110000"/>
              </a:lnSpc>
              <a:buNone/>
            </a:pPr>
            <a:r>
              <a:rPr lang="en-US" sz="2900" b="1" dirty="0">
                <a:solidFill>
                  <a:srgbClr val="1E2761"/>
                </a:solidFill>
                <a:latin typeface="Cambria" pitchFamily="34" charset="0"/>
                <a:ea typeface="Cambria" pitchFamily="34" charset="-122"/>
                <a:cs typeface="Cambria" pitchFamily="34" charset="-120"/>
              </a:rPr>
              <a:t>Data Preprocessing and Exploratory Analysis for Customer Segmentation Using the Online Retail II Dataset</a:t>
            </a:r>
            <a:endParaRPr lang="en-US" sz="2900" dirty="0"/>
          </a:p>
        </p:txBody>
      </p:sp>
      <p:sp>
        <p:nvSpPr>
          <p:cNvPr id="6" name="Shape 3"/>
          <p:cNvSpPr/>
          <p:nvPr/>
        </p:nvSpPr>
        <p:spPr>
          <a:xfrm>
            <a:off x="658368" y="4572000"/>
            <a:ext cx="2011680" cy="0"/>
          </a:xfrm>
          <a:prstGeom prst="line">
            <a:avLst/>
          </a:prstGeom>
          <a:noFill/>
          <a:ln w="31750">
            <a:solidFill>
              <a:srgbClr val="C9A227"/>
            </a:solidFill>
            <a:prstDash val="solid"/>
          </a:ln>
        </p:spPr>
        <p:txBody>
          <a:bodyPr/>
          <a:lstStyle/>
          <a:p>
            <a:endParaRPr lang="en-IN"/>
          </a:p>
        </p:txBody>
      </p:sp>
      <p:sp>
        <p:nvSpPr>
          <p:cNvPr id="7" name="Text 4"/>
          <p:cNvSpPr/>
          <p:nvPr/>
        </p:nvSpPr>
        <p:spPr>
          <a:xfrm>
            <a:off x="640080" y="4846320"/>
            <a:ext cx="7315200" cy="1554480"/>
          </a:xfrm>
          <a:prstGeom prst="rect">
            <a:avLst/>
          </a:prstGeom>
          <a:noFill/>
          <a:ln/>
        </p:spPr>
        <p:txBody>
          <a:bodyPr wrap="square" rtlCol="0" anchor="ctr"/>
          <a:lstStyle/>
          <a:p>
            <a:pPr marL="0" indent="0">
              <a:lnSpc>
                <a:spcPct val="150000"/>
              </a:lnSpc>
              <a:buNone/>
            </a:pPr>
            <a:r>
              <a:rPr lang="en-US" sz="1500" b="1" dirty="0">
                <a:solidFill>
                  <a:srgbClr val="1E2761"/>
                </a:solidFill>
                <a:latin typeface="Calibri" pitchFamily="34" charset="0"/>
                <a:ea typeface="Calibri" pitchFamily="34" charset="-122"/>
                <a:cs typeface="Calibri" pitchFamily="34" charset="-120"/>
              </a:rPr>
              <a:t>Suyash Agrawaal</a:t>
            </a:r>
            <a:endParaRPr lang="en-US" sz="1500" dirty="0"/>
          </a:p>
          <a:p>
            <a:pPr marL="0" indent="0">
              <a:lnSpc>
                <a:spcPct val="150000"/>
              </a:lnSpc>
              <a:buNone/>
            </a:pPr>
            <a:r>
              <a:rPr lang="en-US" sz="1500" dirty="0">
                <a:solidFill>
                  <a:srgbClr val="5B6478"/>
                </a:solidFill>
                <a:latin typeface="Calibri" pitchFamily="34" charset="0"/>
                <a:ea typeface="Calibri" pitchFamily="34" charset="-122"/>
                <a:cs typeface="Calibri" pitchFamily="34" charset="-120"/>
              </a:rPr>
              <a:t>Reg No. 24BDS1167   |   Slot G1</a:t>
            </a:r>
            <a:endParaRPr lang="en-US" sz="1500" dirty="0"/>
          </a:p>
          <a:p>
            <a:pPr marL="0" indent="0">
              <a:lnSpc>
                <a:spcPct val="150000"/>
              </a:lnSpc>
              <a:buNone/>
            </a:pPr>
            <a:r>
              <a:rPr lang="en-US" sz="1500" dirty="0">
                <a:solidFill>
                  <a:srgbClr val="5B6478"/>
                </a:solidFill>
                <a:latin typeface="Calibri" pitchFamily="34" charset="0"/>
                <a:ea typeface="Calibri" pitchFamily="34" charset="-122"/>
                <a:cs typeface="Calibri" pitchFamily="34" charset="-120"/>
              </a:rPr>
              <a:t>Course Faculty: Dr. Meignanamoorthi D</a:t>
            </a:r>
            <a:endParaRPr lang="en-US" sz="1500" dirty="0"/>
          </a:p>
          <a:p>
            <a:pPr marL="0" indent="0">
              <a:lnSpc>
                <a:spcPct val="150000"/>
              </a:lnSpc>
              <a:buNone/>
            </a:pPr>
            <a:r>
              <a:rPr lang="en-US" sz="1500" dirty="0">
                <a:solidFill>
                  <a:srgbClr val="5B6478"/>
                </a:solidFill>
                <a:latin typeface="Calibri" pitchFamily="34" charset="0"/>
                <a:ea typeface="Calibri" pitchFamily="34" charset="-122"/>
                <a:cs typeface="Calibri" pitchFamily="34" charset="-120"/>
              </a:rPr>
              <a:t>Fall Semester 2026-2027</a:t>
            </a:r>
            <a:endParaRPr lang="en-US" sz="1500" dirty="0"/>
          </a:p>
        </p:txBody>
      </p:sp>
      <p:sp>
        <p:nvSpPr>
          <p:cNvPr id="8" name="Text 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Presentation Overview</a:t>
            </a:r>
            <a:endParaRPr lang="en-US" sz="2800" dirty="0"/>
          </a:p>
        </p:txBody>
      </p:sp>
      <p:sp>
        <p:nvSpPr>
          <p:cNvPr id="3" name="Shape 1"/>
          <p:cNvSpPr/>
          <p:nvPr/>
        </p:nvSpPr>
        <p:spPr>
          <a:xfrm>
            <a:off x="548640" y="1691640"/>
            <a:ext cx="5257800" cy="1252728"/>
          </a:xfrm>
          <a:prstGeom prst="roundRect">
            <a:avLst>
              <a:gd name="adj" fmla="val 5839"/>
            </a:avLst>
          </a:prstGeom>
          <a:solidFill>
            <a:srgbClr val="F4F6FC"/>
          </a:solidFill>
          <a:ln/>
        </p:spPr>
        <p:txBody>
          <a:bodyPr/>
          <a:lstStyle/>
          <a:p>
            <a:endParaRPr lang="en-IN"/>
          </a:p>
        </p:txBody>
      </p:sp>
      <p:sp>
        <p:nvSpPr>
          <p:cNvPr id="4" name="Text 2"/>
          <p:cNvSpPr/>
          <p:nvPr/>
        </p:nvSpPr>
        <p:spPr>
          <a:xfrm>
            <a:off x="731520" y="1819656"/>
            <a:ext cx="822960" cy="822960"/>
          </a:xfrm>
          <a:prstGeom prst="rect">
            <a:avLst/>
          </a:prstGeom>
          <a:noFill/>
          <a:ln/>
        </p:spPr>
        <p:txBody>
          <a:bodyPr wrap="square" rtlCol="0" anchor="ctr"/>
          <a:lstStyle/>
          <a:p>
            <a:pPr marL="0" indent="0">
              <a:buNone/>
            </a:pPr>
            <a:r>
              <a:rPr lang="en-US" sz="2800" b="1" dirty="0">
                <a:solidFill>
                  <a:srgbClr val="C7D2EC"/>
                </a:solidFill>
                <a:latin typeface="Cambria" pitchFamily="34" charset="0"/>
                <a:ea typeface="Cambria" pitchFamily="34" charset="-122"/>
                <a:cs typeface="Cambria" pitchFamily="34" charset="-120"/>
              </a:rPr>
              <a:t>01</a:t>
            </a:r>
            <a:endParaRPr lang="en-US" sz="2800" dirty="0"/>
          </a:p>
        </p:txBody>
      </p:sp>
      <p:sp>
        <p:nvSpPr>
          <p:cNvPr id="5" name="Text 3"/>
          <p:cNvSpPr/>
          <p:nvPr/>
        </p:nvSpPr>
        <p:spPr>
          <a:xfrm>
            <a:off x="1463040" y="1837944"/>
            <a:ext cx="41148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Dataset Overview</a:t>
            </a:r>
            <a:endParaRPr lang="en-US" sz="1450" dirty="0"/>
          </a:p>
        </p:txBody>
      </p:sp>
      <p:sp>
        <p:nvSpPr>
          <p:cNvPr id="6" name="Text 4"/>
          <p:cNvSpPr/>
          <p:nvPr/>
        </p:nvSpPr>
        <p:spPr>
          <a:xfrm>
            <a:off x="1463040" y="2194560"/>
            <a:ext cx="4114800" cy="640080"/>
          </a:xfrm>
          <a:prstGeom prst="rect">
            <a:avLst/>
          </a:prstGeom>
          <a:noFill/>
          <a:ln/>
        </p:spPr>
        <p:txBody>
          <a:bodyPr wrap="square" rtlCol="0" anchor="ctr"/>
          <a:lstStyle/>
          <a:p>
            <a:pPr marL="0" indent="0">
              <a:lnSpc>
                <a:spcPct val="115000"/>
              </a:lnSpc>
              <a:buNone/>
            </a:pPr>
            <a:r>
              <a:rPr lang="en-US" sz="1100" dirty="0">
                <a:solidFill>
                  <a:srgbClr val="5B6478"/>
                </a:solidFill>
                <a:latin typeface="Calibri" pitchFamily="34" charset="0"/>
                <a:ea typeface="Calibri" pitchFamily="34" charset="-122"/>
                <a:cs typeface="Calibri" pitchFamily="34" charset="-120"/>
              </a:rPr>
              <a:t>Source, scale, and structure of the Online Retail II dataset</a:t>
            </a:r>
            <a:endParaRPr lang="en-US" sz="1100" dirty="0"/>
          </a:p>
        </p:txBody>
      </p:sp>
      <p:sp>
        <p:nvSpPr>
          <p:cNvPr id="7" name="Shape 5"/>
          <p:cNvSpPr/>
          <p:nvPr/>
        </p:nvSpPr>
        <p:spPr>
          <a:xfrm>
            <a:off x="6126480" y="1691640"/>
            <a:ext cx="5257800" cy="1252728"/>
          </a:xfrm>
          <a:prstGeom prst="roundRect">
            <a:avLst>
              <a:gd name="adj" fmla="val 5839"/>
            </a:avLst>
          </a:prstGeom>
          <a:solidFill>
            <a:srgbClr val="F4F6FC"/>
          </a:solidFill>
          <a:ln/>
        </p:spPr>
        <p:txBody>
          <a:bodyPr/>
          <a:lstStyle/>
          <a:p>
            <a:endParaRPr lang="en-IN"/>
          </a:p>
        </p:txBody>
      </p:sp>
      <p:sp>
        <p:nvSpPr>
          <p:cNvPr id="8" name="Text 6"/>
          <p:cNvSpPr/>
          <p:nvPr/>
        </p:nvSpPr>
        <p:spPr>
          <a:xfrm>
            <a:off x="6309360" y="1819656"/>
            <a:ext cx="822960" cy="822960"/>
          </a:xfrm>
          <a:prstGeom prst="rect">
            <a:avLst/>
          </a:prstGeom>
          <a:noFill/>
          <a:ln/>
        </p:spPr>
        <p:txBody>
          <a:bodyPr wrap="square" rtlCol="0" anchor="ctr"/>
          <a:lstStyle/>
          <a:p>
            <a:pPr marL="0" indent="0">
              <a:buNone/>
            </a:pPr>
            <a:r>
              <a:rPr lang="en-US" sz="2800" b="1" dirty="0">
                <a:solidFill>
                  <a:srgbClr val="C7D2EC"/>
                </a:solidFill>
                <a:latin typeface="Cambria" pitchFamily="34" charset="0"/>
                <a:ea typeface="Cambria" pitchFamily="34" charset="-122"/>
                <a:cs typeface="Cambria" pitchFamily="34" charset="-120"/>
              </a:rPr>
              <a:t>02</a:t>
            </a:r>
            <a:endParaRPr lang="en-US" sz="2800" dirty="0"/>
          </a:p>
        </p:txBody>
      </p:sp>
      <p:sp>
        <p:nvSpPr>
          <p:cNvPr id="9" name="Text 7"/>
          <p:cNvSpPr/>
          <p:nvPr/>
        </p:nvSpPr>
        <p:spPr>
          <a:xfrm>
            <a:off x="7040880" y="1837944"/>
            <a:ext cx="41148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Problem Statement &amp; Objectives</a:t>
            </a:r>
            <a:endParaRPr lang="en-US" sz="1450" dirty="0"/>
          </a:p>
        </p:txBody>
      </p:sp>
      <p:sp>
        <p:nvSpPr>
          <p:cNvPr id="10" name="Text 8"/>
          <p:cNvSpPr/>
          <p:nvPr/>
        </p:nvSpPr>
        <p:spPr>
          <a:xfrm>
            <a:off x="7040880" y="2194560"/>
            <a:ext cx="4114800" cy="640080"/>
          </a:xfrm>
          <a:prstGeom prst="rect">
            <a:avLst/>
          </a:prstGeom>
          <a:noFill/>
          <a:ln/>
        </p:spPr>
        <p:txBody>
          <a:bodyPr wrap="square" rtlCol="0" anchor="ctr"/>
          <a:lstStyle/>
          <a:p>
            <a:pPr marL="0" indent="0">
              <a:lnSpc>
                <a:spcPct val="115000"/>
              </a:lnSpc>
              <a:buNone/>
            </a:pPr>
            <a:r>
              <a:rPr lang="en-US" sz="1100" dirty="0">
                <a:solidFill>
                  <a:srgbClr val="5B6478"/>
                </a:solidFill>
                <a:latin typeface="Calibri" pitchFamily="34" charset="0"/>
                <a:ea typeface="Calibri" pitchFamily="34" charset="-122"/>
                <a:cs typeface="Calibri" pitchFamily="34" charset="-120"/>
              </a:rPr>
              <a:t>Rationale for data cleaning and exploratory analysis</a:t>
            </a:r>
            <a:endParaRPr lang="en-US" sz="1100" dirty="0"/>
          </a:p>
        </p:txBody>
      </p:sp>
      <p:sp>
        <p:nvSpPr>
          <p:cNvPr id="11" name="Shape 9"/>
          <p:cNvSpPr/>
          <p:nvPr/>
        </p:nvSpPr>
        <p:spPr>
          <a:xfrm>
            <a:off x="548640" y="3172968"/>
            <a:ext cx="5257800" cy="1252728"/>
          </a:xfrm>
          <a:prstGeom prst="roundRect">
            <a:avLst>
              <a:gd name="adj" fmla="val 5839"/>
            </a:avLst>
          </a:prstGeom>
          <a:solidFill>
            <a:srgbClr val="F4F6FC"/>
          </a:solidFill>
          <a:ln/>
        </p:spPr>
        <p:txBody>
          <a:bodyPr/>
          <a:lstStyle/>
          <a:p>
            <a:endParaRPr lang="en-IN"/>
          </a:p>
        </p:txBody>
      </p:sp>
      <p:sp>
        <p:nvSpPr>
          <p:cNvPr id="12" name="Text 10"/>
          <p:cNvSpPr/>
          <p:nvPr/>
        </p:nvSpPr>
        <p:spPr>
          <a:xfrm>
            <a:off x="731520" y="3300984"/>
            <a:ext cx="822960" cy="822960"/>
          </a:xfrm>
          <a:prstGeom prst="rect">
            <a:avLst/>
          </a:prstGeom>
          <a:noFill/>
          <a:ln/>
        </p:spPr>
        <p:txBody>
          <a:bodyPr wrap="square" rtlCol="0" anchor="ctr"/>
          <a:lstStyle/>
          <a:p>
            <a:pPr marL="0" indent="0">
              <a:buNone/>
            </a:pPr>
            <a:r>
              <a:rPr lang="en-US" sz="2800" b="1" dirty="0">
                <a:solidFill>
                  <a:srgbClr val="C7D2EC"/>
                </a:solidFill>
                <a:latin typeface="Cambria" pitchFamily="34" charset="0"/>
                <a:ea typeface="Cambria" pitchFamily="34" charset="-122"/>
                <a:cs typeface="Cambria" pitchFamily="34" charset="-120"/>
              </a:rPr>
              <a:t>03</a:t>
            </a:r>
            <a:endParaRPr lang="en-US" sz="2800" dirty="0"/>
          </a:p>
        </p:txBody>
      </p:sp>
      <p:sp>
        <p:nvSpPr>
          <p:cNvPr id="13" name="Text 11"/>
          <p:cNvSpPr/>
          <p:nvPr/>
        </p:nvSpPr>
        <p:spPr>
          <a:xfrm>
            <a:off x="1463040" y="3319272"/>
            <a:ext cx="41148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Literature Review</a:t>
            </a:r>
            <a:endParaRPr lang="en-US" sz="1450" dirty="0"/>
          </a:p>
        </p:txBody>
      </p:sp>
      <p:sp>
        <p:nvSpPr>
          <p:cNvPr id="14" name="Text 12"/>
          <p:cNvSpPr/>
          <p:nvPr/>
        </p:nvSpPr>
        <p:spPr>
          <a:xfrm>
            <a:off x="1463040" y="3675888"/>
            <a:ext cx="4114800" cy="640080"/>
          </a:xfrm>
          <a:prstGeom prst="rect">
            <a:avLst/>
          </a:prstGeom>
          <a:noFill/>
          <a:ln/>
        </p:spPr>
        <p:txBody>
          <a:bodyPr wrap="square" rtlCol="0" anchor="ctr"/>
          <a:lstStyle/>
          <a:p>
            <a:pPr marL="0" indent="0">
              <a:lnSpc>
                <a:spcPct val="115000"/>
              </a:lnSpc>
              <a:buNone/>
            </a:pPr>
            <a:r>
              <a:rPr lang="en-US" sz="1100" dirty="0">
                <a:solidFill>
                  <a:srgbClr val="5B6478"/>
                </a:solidFill>
                <a:latin typeface="Calibri" pitchFamily="34" charset="0"/>
                <a:ea typeface="Calibri" pitchFamily="34" charset="-122"/>
                <a:cs typeface="Calibri" pitchFamily="34" charset="-120"/>
              </a:rPr>
              <a:t>Five recent papers grounding the methodology</a:t>
            </a:r>
            <a:endParaRPr lang="en-US" sz="1100" dirty="0"/>
          </a:p>
        </p:txBody>
      </p:sp>
      <p:sp>
        <p:nvSpPr>
          <p:cNvPr id="15" name="Shape 13"/>
          <p:cNvSpPr/>
          <p:nvPr/>
        </p:nvSpPr>
        <p:spPr>
          <a:xfrm>
            <a:off x="6126480" y="3172968"/>
            <a:ext cx="5257800" cy="1252728"/>
          </a:xfrm>
          <a:prstGeom prst="roundRect">
            <a:avLst>
              <a:gd name="adj" fmla="val 5839"/>
            </a:avLst>
          </a:prstGeom>
          <a:solidFill>
            <a:srgbClr val="F4F6FC"/>
          </a:solidFill>
          <a:ln/>
        </p:spPr>
        <p:txBody>
          <a:bodyPr/>
          <a:lstStyle/>
          <a:p>
            <a:endParaRPr lang="en-IN"/>
          </a:p>
        </p:txBody>
      </p:sp>
      <p:sp>
        <p:nvSpPr>
          <p:cNvPr id="16" name="Text 14"/>
          <p:cNvSpPr/>
          <p:nvPr/>
        </p:nvSpPr>
        <p:spPr>
          <a:xfrm>
            <a:off x="6309360" y="3300984"/>
            <a:ext cx="822960" cy="822960"/>
          </a:xfrm>
          <a:prstGeom prst="rect">
            <a:avLst/>
          </a:prstGeom>
          <a:noFill/>
          <a:ln/>
        </p:spPr>
        <p:txBody>
          <a:bodyPr wrap="square" rtlCol="0" anchor="ctr"/>
          <a:lstStyle/>
          <a:p>
            <a:pPr marL="0" indent="0">
              <a:buNone/>
            </a:pPr>
            <a:r>
              <a:rPr lang="en-US" sz="2800" b="1" dirty="0">
                <a:solidFill>
                  <a:srgbClr val="C7D2EC"/>
                </a:solidFill>
                <a:latin typeface="Cambria" pitchFamily="34" charset="0"/>
                <a:ea typeface="Cambria" pitchFamily="34" charset="-122"/>
                <a:cs typeface="Cambria" pitchFamily="34" charset="-120"/>
              </a:rPr>
              <a:t>04</a:t>
            </a:r>
            <a:endParaRPr lang="en-US" sz="2800" dirty="0"/>
          </a:p>
        </p:txBody>
      </p:sp>
      <p:sp>
        <p:nvSpPr>
          <p:cNvPr id="17" name="Text 15"/>
          <p:cNvSpPr/>
          <p:nvPr/>
        </p:nvSpPr>
        <p:spPr>
          <a:xfrm>
            <a:off x="7040880" y="3319272"/>
            <a:ext cx="41148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Data Preprocessing</a:t>
            </a:r>
            <a:endParaRPr lang="en-US" sz="1450" dirty="0"/>
          </a:p>
        </p:txBody>
      </p:sp>
      <p:sp>
        <p:nvSpPr>
          <p:cNvPr id="18" name="Text 16"/>
          <p:cNvSpPr/>
          <p:nvPr/>
        </p:nvSpPr>
        <p:spPr>
          <a:xfrm>
            <a:off x="7040880" y="3675888"/>
            <a:ext cx="4114800" cy="640080"/>
          </a:xfrm>
          <a:prstGeom prst="rect">
            <a:avLst/>
          </a:prstGeom>
          <a:noFill/>
          <a:ln/>
        </p:spPr>
        <p:txBody>
          <a:bodyPr wrap="square" rtlCol="0" anchor="ctr"/>
          <a:lstStyle/>
          <a:p>
            <a:pPr marL="0" indent="0">
              <a:lnSpc>
                <a:spcPct val="115000"/>
              </a:lnSpc>
              <a:buNone/>
            </a:pPr>
            <a:r>
              <a:rPr lang="en-US" sz="1100" dirty="0">
                <a:solidFill>
                  <a:srgbClr val="5B6478"/>
                </a:solidFill>
                <a:latin typeface="Calibri" pitchFamily="34" charset="0"/>
                <a:ea typeface="Calibri" pitchFamily="34" charset="-122"/>
                <a:cs typeface="Calibri" pitchFamily="34" charset="-120"/>
              </a:rPr>
              <a:t>Fourteen R-based cleaning steps, fully executed</a:t>
            </a:r>
            <a:endParaRPr lang="en-US" sz="1100" dirty="0"/>
          </a:p>
        </p:txBody>
      </p:sp>
      <p:sp>
        <p:nvSpPr>
          <p:cNvPr id="19" name="Shape 17"/>
          <p:cNvSpPr/>
          <p:nvPr/>
        </p:nvSpPr>
        <p:spPr>
          <a:xfrm>
            <a:off x="548640" y="4654296"/>
            <a:ext cx="5257800" cy="1252728"/>
          </a:xfrm>
          <a:prstGeom prst="roundRect">
            <a:avLst>
              <a:gd name="adj" fmla="val 5839"/>
            </a:avLst>
          </a:prstGeom>
          <a:solidFill>
            <a:srgbClr val="F4F6FC"/>
          </a:solidFill>
          <a:ln/>
        </p:spPr>
        <p:txBody>
          <a:bodyPr/>
          <a:lstStyle/>
          <a:p>
            <a:endParaRPr lang="en-IN"/>
          </a:p>
        </p:txBody>
      </p:sp>
      <p:sp>
        <p:nvSpPr>
          <p:cNvPr id="20" name="Text 18"/>
          <p:cNvSpPr/>
          <p:nvPr/>
        </p:nvSpPr>
        <p:spPr>
          <a:xfrm>
            <a:off x="731520" y="4782312"/>
            <a:ext cx="822960" cy="822960"/>
          </a:xfrm>
          <a:prstGeom prst="rect">
            <a:avLst/>
          </a:prstGeom>
          <a:noFill/>
          <a:ln/>
        </p:spPr>
        <p:txBody>
          <a:bodyPr wrap="square" rtlCol="0" anchor="ctr"/>
          <a:lstStyle/>
          <a:p>
            <a:pPr marL="0" indent="0">
              <a:buNone/>
            </a:pPr>
            <a:r>
              <a:rPr lang="en-US" sz="2800" b="1" dirty="0">
                <a:solidFill>
                  <a:srgbClr val="C7D2EC"/>
                </a:solidFill>
                <a:latin typeface="Cambria" pitchFamily="34" charset="0"/>
                <a:ea typeface="Cambria" pitchFamily="34" charset="-122"/>
                <a:cs typeface="Cambria" pitchFamily="34" charset="-120"/>
              </a:rPr>
              <a:t>05</a:t>
            </a:r>
            <a:endParaRPr lang="en-US" sz="2800" dirty="0"/>
          </a:p>
        </p:txBody>
      </p:sp>
      <p:sp>
        <p:nvSpPr>
          <p:cNvPr id="21" name="Text 19"/>
          <p:cNvSpPr/>
          <p:nvPr/>
        </p:nvSpPr>
        <p:spPr>
          <a:xfrm>
            <a:off x="1463040" y="4800600"/>
            <a:ext cx="41148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Exploratory Data Analysis</a:t>
            </a:r>
            <a:endParaRPr lang="en-US" sz="1450" dirty="0"/>
          </a:p>
        </p:txBody>
      </p:sp>
      <p:sp>
        <p:nvSpPr>
          <p:cNvPr id="22" name="Text 20"/>
          <p:cNvSpPr/>
          <p:nvPr/>
        </p:nvSpPr>
        <p:spPr>
          <a:xfrm>
            <a:off x="1463040" y="5157216"/>
            <a:ext cx="4114800" cy="640080"/>
          </a:xfrm>
          <a:prstGeom prst="rect">
            <a:avLst/>
          </a:prstGeom>
          <a:noFill/>
          <a:ln/>
        </p:spPr>
        <p:txBody>
          <a:bodyPr wrap="square" rtlCol="0" anchor="ctr"/>
          <a:lstStyle/>
          <a:p>
            <a:pPr marL="0" indent="0">
              <a:lnSpc>
                <a:spcPct val="115000"/>
              </a:lnSpc>
              <a:buNone/>
            </a:pPr>
            <a:r>
              <a:rPr lang="en-US" sz="1100" dirty="0">
                <a:solidFill>
                  <a:srgbClr val="5B6478"/>
                </a:solidFill>
                <a:latin typeface="Calibri" pitchFamily="34" charset="0"/>
                <a:ea typeface="Calibri" pitchFamily="34" charset="-122"/>
                <a:cs typeface="Calibri" pitchFamily="34" charset="-120"/>
              </a:rPr>
              <a:t>Ten visualizations built on the cleaned dataset</a:t>
            </a:r>
            <a:endParaRPr lang="en-US" sz="1100" dirty="0"/>
          </a:p>
        </p:txBody>
      </p:sp>
      <p:sp>
        <p:nvSpPr>
          <p:cNvPr id="23" name="Shape 21"/>
          <p:cNvSpPr/>
          <p:nvPr/>
        </p:nvSpPr>
        <p:spPr>
          <a:xfrm>
            <a:off x="6126480" y="4654296"/>
            <a:ext cx="5257800" cy="1252728"/>
          </a:xfrm>
          <a:prstGeom prst="roundRect">
            <a:avLst>
              <a:gd name="adj" fmla="val 5839"/>
            </a:avLst>
          </a:prstGeom>
          <a:solidFill>
            <a:srgbClr val="F4F6FC"/>
          </a:solidFill>
          <a:ln/>
        </p:spPr>
        <p:txBody>
          <a:bodyPr/>
          <a:lstStyle/>
          <a:p>
            <a:endParaRPr lang="en-IN"/>
          </a:p>
        </p:txBody>
      </p:sp>
      <p:sp>
        <p:nvSpPr>
          <p:cNvPr id="24" name="Text 22"/>
          <p:cNvSpPr/>
          <p:nvPr/>
        </p:nvSpPr>
        <p:spPr>
          <a:xfrm>
            <a:off x="6309360" y="4782312"/>
            <a:ext cx="822960" cy="822960"/>
          </a:xfrm>
          <a:prstGeom prst="rect">
            <a:avLst/>
          </a:prstGeom>
          <a:noFill/>
          <a:ln/>
        </p:spPr>
        <p:txBody>
          <a:bodyPr wrap="square" rtlCol="0" anchor="ctr"/>
          <a:lstStyle/>
          <a:p>
            <a:pPr marL="0" indent="0">
              <a:buNone/>
            </a:pPr>
            <a:r>
              <a:rPr lang="en-US" sz="2800" b="1" dirty="0">
                <a:solidFill>
                  <a:srgbClr val="C7D2EC"/>
                </a:solidFill>
                <a:latin typeface="Cambria" pitchFamily="34" charset="0"/>
                <a:ea typeface="Cambria" pitchFamily="34" charset="-122"/>
                <a:cs typeface="Cambria" pitchFamily="34" charset="-120"/>
              </a:rPr>
              <a:t>06</a:t>
            </a:r>
            <a:endParaRPr lang="en-US" sz="2800" dirty="0"/>
          </a:p>
        </p:txBody>
      </p:sp>
      <p:sp>
        <p:nvSpPr>
          <p:cNvPr id="25" name="Text 23"/>
          <p:cNvSpPr/>
          <p:nvPr/>
        </p:nvSpPr>
        <p:spPr>
          <a:xfrm>
            <a:off x="7040880" y="4800600"/>
            <a:ext cx="41148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Conclusion</a:t>
            </a:r>
            <a:endParaRPr lang="en-US" sz="1450" dirty="0"/>
          </a:p>
        </p:txBody>
      </p:sp>
      <p:sp>
        <p:nvSpPr>
          <p:cNvPr id="26" name="Text 24"/>
          <p:cNvSpPr/>
          <p:nvPr/>
        </p:nvSpPr>
        <p:spPr>
          <a:xfrm>
            <a:off x="7040880" y="5157216"/>
            <a:ext cx="4114800" cy="640080"/>
          </a:xfrm>
          <a:prstGeom prst="rect">
            <a:avLst/>
          </a:prstGeom>
          <a:noFill/>
          <a:ln/>
        </p:spPr>
        <p:txBody>
          <a:bodyPr wrap="square" rtlCol="0" anchor="ctr"/>
          <a:lstStyle/>
          <a:p>
            <a:pPr marL="0" indent="0">
              <a:lnSpc>
                <a:spcPct val="115000"/>
              </a:lnSpc>
              <a:buNone/>
            </a:pPr>
            <a:r>
              <a:rPr lang="en-US" sz="1100" dirty="0">
                <a:solidFill>
                  <a:srgbClr val="5B6478"/>
                </a:solidFill>
                <a:latin typeface="Calibri" pitchFamily="34" charset="0"/>
                <a:ea typeface="Calibri" pitchFamily="34" charset="-122"/>
                <a:cs typeface="Calibri" pitchFamily="34" charset="-120"/>
              </a:rPr>
              <a:t>Summary of preprocessing and exploratory analysis outcomes</a:t>
            </a:r>
            <a:endParaRPr lang="en-US" sz="1100" dirty="0"/>
          </a:p>
        </p:txBody>
      </p:sp>
      <p:sp>
        <p:nvSpPr>
          <p:cNvPr id="27" name="Text 2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Dataset Overview</a:t>
            </a:r>
            <a:endParaRPr lang="en-US" sz="2800" dirty="0"/>
          </a:p>
        </p:txBody>
      </p:sp>
      <p:sp>
        <p:nvSpPr>
          <p:cNvPr id="3" name="Text 1"/>
          <p:cNvSpPr/>
          <p:nvPr/>
        </p:nvSpPr>
        <p:spPr>
          <a:xfrm>
            <a:off x="548640" y="1417320"/>
            <a:ext cx="6583680" cy="1554480"/>
          </a:xfrm>
          <a:prstGeom prst="rect">
            <a:avLst/>
          </a:prstGeom>
          <a:noFill/>
          <a:ln/>
        </p:spPr>
        <p:txBody>
          <a:bodyPr wrap="square" rtlCol="0" anchor="ctr"/>
          <a:lstStyle/>
          <a:p>
            <a:pPr marL="0" indent="0">
              <a:lnSpc>
                <a:spcPct val="130000"/>
              </a:lnSpc>
              <a:buNone/>
            </a:pPr>
            <a:r>
              <a:rPr lang="en-US" sz="1350" dirty="0">
                <a:solidFill>
                  <a:srgbClr val="222B45"/>
                </a:solidFill>
                <a:latin typeface="Calibri" pitchFamily="34" charset="0"/>
                <a:ea typeface="Calibri" pitchFamily="34" charset="-122"/>
                <a:cs typeface="Calibri" pitchFamily="34" charset="-120"/>
              </a:rPr>
              <a:t>The Online Retail II dataset comprises all transactions recorded by a UK-based, non-store online gift retailer over a continuous two-year period. As data drawn from an operating business, it exhibits authentic data-quality issues - missing identifiers, cancellations, and duplicate records - rather than being pre-cleaned for instructional use.</a:t>
            </a:r>
            <a:endParaRPr lang="en-US" sz="1350" dirty="0"/>
          </a:p>
        </p:txBody>
      </p:sp>
      <p:sp>
        <p:nvSpPr>
          <p:cNvPr id="4" name="Text 2"/>
          <p:cNvSpPr/>
          <p:nvPr/>
        </p:nvSpPr>
        <p:spPr>
          <a:xfrm>
            <a:off x="548640" y="3063240"/>
            <a:ext cx="6583680" cy="1188720"/>
          </a:xfrm>
          <a:prstGeom prst="rect">
            <a:avLst/>
          </a:prstGeom>
          <a:noFill/>
          <a:ln/>
        </p:spPr>
        <p:txBody>
          <a:bodyPr wrap="square" rtlCol="0" anchor="ctr"/>
          <a:lstStyle/>
          <a:p>
            <a:pPr marL="0" indent="0">
              <a:lnSpc>
                <a:spcPct val="150000"/>
              </a:lnSpc>
              <a:buNone/>
            </a:pPr>
            <a:r>
              <a:rPr lang="en-US" sz="1250" b="1" dirty="0">
                <a:solidFill>
                  <a:srgbClr val="1E2761"/>
                </a:solidFill>
                <a:latin typeface="Calibri" pitchFamily="34" charset="0"/>
                <a:ea typeface="Calibri" pitchFamily="34" charset="-122"/>
                <a:cs typeface="Calibri" pitchFamily="34" charset="-120"/>
              </a:rPr>
              <a:t>Source: </a:t>
            </a:r>
            <a:r>
              <a:rPr lang="en-US" sz="1250" dirty="0">
                <a:solidFill>
                  <a:srgbClr val="5B6478"/>
                </a:solidFill>
                <a:latin typeface="Calibri" pitchFamily="34" charset="0"/>
                <a:ea typeface="Calibri" pitchFamily="34" charset="-122"/>
                <a:cs typeface="Calibri" pitchFamily="34" charset="-120"/>
              </a:rPr>
              <a:t>UCI Machine Learning Repository (Dataset ID 502)
</a:t>
            </a:r>
            <a:endParaRPr lang="en-US" sz="1250" dirty="0"/>
          </a:p>
          <a:p>
            <a:pPr marL="0" indent="0">
              <a:lnSpc>
                <a:spcPct val="150000"/>
              </a:lnSpc>
              <a:buNone/>
            </a:pPr>
            <a:r>
              <a:rPr lang="en-US" sz="1250" b="1" dirty="0">
                <a:solidFill>
                  <a:srgbClr val="1E2761"/>
                </a:solidFill>
                <a:latin typeface="Calibri" pitchFamily="34" charset="0"/>
                <a:ea typeface="Calibri" pitchFamily="34" charset="-122"/>
                <a:cs typeface="Calibri" pitchFamily="34" charset="-120"/>
              </a:rPr>
              <a:t>Donor: </a:t>
            </a:r>
            <a:r>
              <a:rPr lang="en-US" sz="1250" dirty="0">
                <a:solidFill>
                  <a:srgbClr val="5B6478"/>
                </a:solidFill>
                <a:latin typeface="Calibri" pitchFamily="34" charset="0"/>
                <a:ea typeface="Calibri" pitchFamily="34" charset="-122"/>
                <a:cs typeface="Calibri" pitchFamily="34" charset="-120"/>
              </a:rPr>
              <a:t>Dr Daqing Chen, London South Bank University
</a:t>
            </a:r>
            <a:endParaRPr lang="en-US" sz="1250" dirty="0"/>
          </a:p>
          <a:p>
            <a:pPr marL="0" indent="0">
              <a:lnSpc>
                <a:spcPct val="150000"/>
              </a:lnSpc>
              <a:buNone/>
            </a:pPr>
            <a:r>
              <a:rPr lang="en-US" sz="1250" b="1" dirty="0">
                <a:solidFill>
                  <a:srgbClr val="1E2761"/>
                </a:solidFill>
                <a:latin typeface="Calibri" pitchFamily="34" charset="0"/>
                <a:ea typeface="Calibri" pitchFamily="34" charset="-122"/>
                <a:cs typeface="Calibri" pitchFamily="34" charset="-120"/>
              </a:rPr>
              <a:t>Format: </a:t>
            </a:r>
            <a:r>
              <a:rPr lang="en-US" sz="1250" dirty="0">
                <a:solidFill>
                  <a:srgbClr val="5B6478"/>
                </a:solidFill>
                <a:latin typeface="Calibri" pitchFamily="34" charset="0"/>
                <a:ea typeface="Calibri" pitchFamily="34" charset="-122"/>
                <a:cs typeface="Calibri" pitchFamily="34" charset="-120"/>
              </a:rPr>
              <a:t>Excel workbook, two sheets by year range</a:t>
            </a:r>
            <a:endParaRPr lang="en-US" sz="1250" dirty="0"/>
          </a:p>
        </p:txBody>
      </p:sp>
      <p:sp>
        <p:nvSpPr>
          <p:cNvPr id="5" name="Shape 3"/>
          <p:cNvSpPr/>
          <p:nvPr/>
        </p:nvSpPr>
        <p:spPr>
          <a:xfrm>
            <a:off x="7452360" y="1417320"/>
            <a:ext cx="1965960" cy="1417320"/>
          </a:xfrm>
          <a:prstGeom prst="roundRect">
            <a:avLst>
              <a:gd name="adj" fmla="val 5806"/>
            </a:avLst>
          </a:prstGeom>
          <a:solidFill>
            <a:srgbClr val="F4F6FC"/>
          </a:solidFill>
          <a:ln w="12700">
            <a:solidFill>
              <a:srgbClr val="E1E6F2"/>
            </a:solidFill>
            <a:prstDash val="solid"/>
          </a:ln>
        </p:spPr>
        <p:txBody>
          <a:bodyPr/>
          <a:lstStyle/>
          <a:p>
            <a:endParaRPr lang="en-IN"/>
          </a:p>
        </p:txBody>
      </p:sp>
      <p:sp>
        <p:nvSpPr>
          <p:cNvPr id="6" name="Text 4"/>
          <p:cNvSpPr/>
          <p:nvPr/>
        </p:nvSpPr>
        <p:spPr>
          <a:xfrm>
            <a:off x="7589520" y="1581912"/>
            <a:ext cx="1691640" cy="594360"/>
          </a:xfrm>
          <a:prstGeom prst="rect">
            <a:avLst/>
          </a:prstGeom>
          <a:noFill/>
          <a:ln/>
        </p:spPr>
        <p:txBody>
          <a:bodyPr wrap="square" rtlCol="0" anchor="ctr"/>
          <a:lstStyle/>
          <a:p>
            <a:pPr marL="0" indent="0" algn="l">
              <a:buNone/>
            </a:pPr>
            <a:r>
              <a:rPr lang="en-US" sz="2100" b="1" dirty="0">
                <a:solidFill>
                  <a:srgbClr val="1E2761"/>
                </a:solidFill>
                <a:latin typeface="Cambria" pitchFamily="34" charset="0"/>
                <a:ea typeface="Cambria" pitchFamily="34" charset="-122"/>
                <a:cs typeface="Cambria" pitchFamily="34" charset="-120"/>
              </a:rPr>
              <a:t>1,067,371</a:t>
            </a:r>
            <a:endParaRPr lang="en-US" sz="2100" dirty="0"/>
          </a:p>
        </p:txBody>
      </p:sp>
      <p:sp>
        <p:nvSpPr>
          <p:cNvPr id="7" name="Text 5"/>
          <p:cNvSpPr/>
          <p:nvPr/>
        </p:nvSpPr>
        <p:spPr>
          <a:xfrm>
            <a:off x="7589520" y="2194560"/>
            <a:ext cx="1691640" cy="548640"/>
          </a:xfrm>
          <a:prstGeom prst="rect">
            <a:avLst/>
          </a:prstGeom>
          <a:noFill/>
          <a:ln/>
        </p:spPr>
        <p:txBody>
          <a:bodyPr wrap="square" rtlCol="0" anchor="ctr"/>
          <a:lstStyle/>
          <a:p>
            <a:pPr marL="0" indent="0" algn="l">
              <a:lnSpc>
                <a:spcPct val="110000"/>
              </a:lnSpc>
              <a:buNone/>
            </a:pPr>
            <a:r>
              <a:rPr lang="en-US" sz="1100" dirty="0">
                <a:solidFill>
                  <a:srgbClr val="5B6478"/>
                </a:solidFill>
                <a:latin typeface="Calibri" pitchFamily="34" charset="0"/>
                <a:ea typeface="Calibri" pitchFamily="34" charset="-122"/>
                <a:cs typeface="Calibri" pitchFamily="34" charset="-120"/>
              </a:rPr>
              <a:t>Raw transaction rows</a:t>
            </a:r>
            <a:endParaRPr lang="en-US" sz="1100" dirty="0"/>
          </a:p>
        </p:txBody>
      </p:sp>
      <p:sp>
        <p:nvSpPr>
          <p:cNvPr id="8" name="Shape 6"/>
          <p:cNvSpPr/>
          <p:nvPr/>
        </p:nvSpPr>
        <p:spPr>
          <a:xfrm>
            <a:off x="9646920" y="1417320"/>
            <a:ext cx="1965960" cy="1417320"/>
          </a:xfrm>
          <a:prstGeom prst="roundRect">
            <a:avLst>
              <a:gd name="adj" fmla="val 5806"/>
            </a:avLst>
          </a:prstGeom>
          <a:solidFill>
            <a:srgbClr val="F4F6FC"/>
          </a:solidFill>
          <a:ln w="12700">
            <a:solidFill>
              <a:srgbClr val="E1E6F2"/>
            </a:solidFill>
            <a:prstDash val="solid"/>
          </a:ln>
        </p:spPr>
        <p:txBody>
          <a:bodyPr/>
          <a:lstStyle/>
          <a:p>
            <a:endParaRPr lang="en-IN"/>
          </a:p>
        </p:txBody>
      </p:sp>
      <p:sp>
        <p:nvSpPr>
          <p:cNvPr id="9" name="Text 7"/>
          <p:cNvSpPr/>
          <p:nvPr/>
        </p:nvSpPr>
        <p:spPr>
          <a:xfrm>
            <a:off x="9784080" y="1581912"/>
            <a:ext cx="1691640" cy="594360"/>
          </a:xfrm>
          <a:prstGeom prst="rect">
            <a:avLst/>
          </a:prstGeom>
          <a:noFill/>
          <a:ln/>
        </p:spPr>
        <p:txBody>
          <a:bodyPr wrap="square" rtlCol="0" anchor="ctr"/>
          <a:lstStyle/>
          <a:p>
            <a:pPr marL="0" indent="0" algn="l">
              <a:buNone/>
            </a:pPr>
            <a:r>
              <a:rPr lang="en-US" sz="2100" b="1" dirty="0">
                <a:solidFill>
                  <a:srgbClr val="1E2761"/>
                </a:solidFill>
                <a:latin typeface="Cambria" pitchFamily="34" charset="0"/>
                <a:ea typeface="Cambria" pitchFamily="34" charset="-122"/>
                <a:cs typeface="Cambria" pitchFamily="34" charset="-120"/>
              </a:rPr>
              <a:t>2 Years</a:t>
            </a:r>
            <a:endParaRPr lang="en-US" sz="2100" dirty="0"/>
          </a:p>
        </p:txBody>
      </p:sp>
      <p:sp>
        <p:nvSpPr>
          <p:cNvPr id="10" name="Text 8"/>
          <p:cNvSpPr/>
          <p:nvPr/>
        </p:nvSpPr>
        <p:spPr>
          <a:xfrm>
            <a:off x="9784080" y="2194560"/>
            <a:ext cx="1691640" cy="548640"/>
          </a:xfrm>
          <a:prstGeom prst="rect">
            <a:avLst/>
          </a:prstGeom>
          <a:noFill/>
          <a:ln/>
        </p:spPr>
        <p:txBody>
          <a:bodyPr wrap="square" rtlCol="0" anchor="ctr"/>
          <a:lstStyle/>
          <a:p>
            <a:pPr marL="0" indent="0" algn="l">
              <a:lnSpc>
                <a:spcPct val="110000"/>
              </a:lnSpc>
              <a:buNone/>
            </a:pPr>
            <a:r>
              <a:rPr lang="en-US" sz="1100" dirty="0">
                <a:solidFill>
                  <a:srgbClr val="5B6478"/>
                </a:solidFill>
                <a:latin typeface="Calibri" pitchFamily="34" charset="0"/>
                <a:ea typeface="Calibri" pitchFamily="34" charset="-122"/>
                <a:cs typeface="Calibri" pitchFamily="34" charset="-120"/>
              </a:rPr>
              <a:t>Dec 2009 - Dec 2011</a:t>
            </a:r>
            <a:endParaRPr lang="en-US" sz="1100" dirty="0"/>
          </a:p>
        </p:txBody>
      </p:sp>
      <p:sp>
        <p:nvSpPr>
          <p:cNvPr id="11" name="Shape 9"/>
          <p:cNvSpPr/>
          <p:nvPr/>
        </p:nvSpPr>
        <p:spPr>
          <a:xfrm>
            <a:off x="7452360" y="3063240"/>
            <a:ext cx="1965960" cy="1417320"/>
          </a:xfrm>
          <a:prstGeom prst="roundRect">
            <a:avLst>
              <a:gd name="adj" fmla="val 5806"/>
            </a:avLst>
          </a:prstGeom>
          <a:solidFill>
            <a:srgbClr val="F4F6FC"/>
          </a:solidFill>
          <a:ln w="12700">
            <a:solidFill>
              <a:srgbClr val="E1E6F2"/>
            </a:solidFill>
            <a:prstDash val="solid"/>
          </a:ln>
        </p:spPr>
        <p:txBody>
          <a:bodyPr/>
          <a:lstStyle/>
          <a:p>
            <a:endParaRPr lang="en-IN"/>
          </a:p>
        </p:txBody>
      </p:sp>
      <p:sp>
        <p:nvSpPr>
          <p:cNvPr id="12" name="Text 10"/>
          <p:cNvSpPr/>
          <p:nvPr/>
        </p:nvSpPr>
        <p:spPr>
          <a:xfrm>
            <a:off x="7589520" y="3227832"/>
            <a:ext cx="1691640" cy="594360"/>
          </a:xfrm>
          <a:prstGeom prst="rect">
            <a:avLst/>
          </a:prstGeom>
          <a:noFill/>
          <a:ln/>
        </p:spPr>
        <p:txBody>
          <a:bodyPr wrap="square" rtlCol="0" anchor="ctr"/>
          <a:lstStyle/>
          <a:p>
            <a:pPr marL="0" indent="0" algn="l">
              <a:buNone/>
            </a:pPr>
            <a:r>
              <a:rPr lang="en-US" sz="2100" b="1" dirty="0">
                <a:solidFill>
                  <a:srgbClr val="1E2761"/>
                </a:solidFill>
                <a:latin typeface="Cambria" pitchFamily="34" charset="0"/>
                <a:ea typeface="Cambria" pitchFamily="34" charset="-122"/>
                <a:cs typeface="Cambria" pitchFamily="34" charset="-120"/>
              </a:rPr>
              <a:t>8</a:t>
            </a:r>
            <a:endParaRPr lang="en-US" sz="2100" dirty="0"/>
          </a:p>
        </p:txBody>
      </p:sp>
      <p:sp>
        <p:nvSpPr>
          <p:cNvPr id="13" name="Text 11"/>
          <p:cNvSpPr/>
          <p:nvPr/>
        </p:nvSpPr>
        <p:spPr>
          <a:xfrm>
            <a:off x="7589520" y="3840480"/>
            <a:ext cx="1691640" cy="548640"/>
          </a:xfrm>
          <a:prstGeom prst="rect">
            <a:avLst/>
          </a:prstGeom>
          <a:noFill/>
          <a:ln/>
        </p:spPr>
        <p:txBody>
          <a:bodyPr wrap="square" rtlCol="0" anchor="ctr"/>
          <a:lstStyle/>
          <a:p>
            <a:pPr marL="0" indent="0" algn="l">
              <a:lnSpc>
                <a:spcPct val="110000"/>
              </a:lnSpc>
              <a:buNone/>
            </a:pPr>
            <a:r>
              <a:rPr lang="en-US" sz="1100" dirty="0">
                <a:solidFill>
                  <a:srgbClr val="5B6478"/>
                </a:solidFill>
                <a:latin typeface="Calibri" pitchFamily="34" charset="0"/>
                <a:ea typeface="Calibri" pitchFamily="34" charset="-122"/>
                <a:cs typeface="Calibri" pitchFamily="34" charset="-120"/>
              </a:rPr>
              <a:t>Raw attributes</a:t>
            </a:r>
            <a:endParaRPr lang="en-US" sz="1100" dirty="0"/>
          </a:p>
        </p:txBody>
      </p:sp>
      <p:sp>
        <p:nvSpPr>
          <p:cNvPr id="14" name="Shape 12"/>
          <p:cNvSpPr/>
          <p:nvPr/>
        </p:nvSpPr>
        <p:spPr>
          <a:xfrm>
            <a:off x="9646920" y="3063240"/>
            <a:ext cx="1965960" cy="1417320"/>
          </a:xfrm>
          <a:prstGeom prst="roundRect">
            <a:avLst>
              <a:gd name="adj" fmla="val 5806"/>
            </a:avLst>
          </a:prstGeom>
          <a:solidFill>
            <a:srgbClr val="F4F6FC"/>
          </a:solidFill>
          <a:ln w="12700">
            <a:solidFill>
              <a:srgbClr val="E1E6F2"/>
            </a:solidFill>
            <a:prstDash val="solid"/>
          </a:ln>
        </p:spPr>
        <p:txBody>
          <a:bodyPr/>
          <a:lstStyle/>
          <a:p>
            <a:endParaRPr lang="en-IN"/>
          </a:p>
        </p:txBody>
      </p:sp>
      <p:sp>
        <p:nvSpPr>
          <p:cNvPr id="15" name="Text 13"/>
          <p:cNvSpPr/>
          <p:nvPr/>
        </p:nvSpPr>
        <p:spPr>
          <a:xfrm>
            <a:off x="9784080" y="3227832"/>
            <a:ext cx="1691640" cy="594360"/>
          </a:xfrm>
          <a:prstGeom prst="rect">
            <a:avLst/>
          </a:prstGeom>
          <a:noFill/>
          <a:ln/>
        </p:spPr>
        <p:txBody>
          <a:bodyPr wrap="square" rtlCol="0" anchor="ctr"/>
          <a:lstStyle/>
          <a:p>
            <a:pPr marL="0" indent="0" algn="l">
              <a:buNone/>
            </a:pPr>
            <a:r>
              <a:rPr lang="en-US" sz="2100" b="1" dirty="0">
                <a:solidFill>
                  <a:srgbClr val="1E2761"/>
                </a:solidFill>
                <a:latin typeface="Cambria" pitchFamily="34" charset="0"/>
                <a:ea typeface="Cambria" pitchFamily="34" charset="-122"/>
                <a:cs typeface="Cambria" pitchFamily="34" charset="-120"/>
              </a:rPr>
              <a:t>40+</a:t>
            </a:r>
            <a:endParaRPr lang="en-US" sz="2100" dirty="0"/>
          </a:p>
        </p:txBody>
      </p:sp>
      <p:sp>
        <p:nvSpPr>
          <p:cNvPr id="16" name="Text 14"/>
          <p:cNvSpPr/>
          <p:nvPr/>
        </p:nvSpPr>
        <p:spPr>
          <a:xfrm>
            <a:off x="9784080" y="3840480"/>
            <a:ext cx="1691640" cy="548640"/>
          </a:xfrm>
          <a:prstGeom prst="rect">
            <a:avLst/>
          </a:prstGeom>
          <a:noFill/>
          <a:ln/>
        </p:spPr>
        <p:txBody>
          <a:bodyPr wrap="square" rtlCol="0" anchor="ctr"/>
          <a:lstStyle/>
          <a:p>
            <a:pPr marL="0" indent="0" algn="l">
              <a:lnSpc>
                <a:spcPct val="110000"/>
              </a:lnSpc>
              <a:buNone/>
            </a:pPr>
            <a:r>
              <a:rPr lang="en-US" sz="1100" dirty="0">
                <a:solidFill>
                  <a:srgbClr val="5B6478"/>
                </a:solidFill>
                <a:latin typeface="Calibri" pitchFamily="34" charset="0"/>
                <a:ea typeface="Calibri" pitchFamily="34" charset="-122"/>
                <a:cs typeface="Calibri" pitchFamily="34" charset="-120"/>
              </a:rPr>
              <a:t>Countries represented</a:t>
            </a:r>
            <a:endParaRPr lang="en-US" sz="1100" dirty="0"/>
          </a:p>
        </p:txBody>
      </p:sp>
      <p:sp>
        <p:nvSpPr>
          <p:cNvPr id="17" name="Text 1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Problem Statement</a:t>
            </a:r>
            <a:endParaRPr lang="en-US" sz="2800" dirty="0"/>
          </a:p>
        </p:txBody>
      </p:sp>
      <p:sp>
        <p:nvSpPr>
          <p:cNvPr id="3" name="Text 1"/>
          <p:cNvSpPr/>
          <p:nvPr/>
        </p:nvSpPr>
        <p:spPr>
          <a:xfrm>
            <a:off x="548640" y="1188720"/>
            <a:ext cx="10881360" cy="1371600"/>
          </a:xfrm>
          <a:prstGeom prst="rect">
            <a:avLst/>
          </a:prstGeom>
          <a:noFill/>
          <a:ln/>
        </p:spPr>
        <p:txBody>
          <a:bodyPr wrap="square" rtlCol="0" anchor="ctr"/>
          <a:lstStyle/>
          <a:p>
            <a:pPr marL="0" indent="0">
              <a:lnSpc>
                <a:spcPct val="130000"/>
              </a:lnSpc>
              <a:buNone/>
            </a:pPr>
            <a:r>
              <a:rPr lang="en-US" sz="1400" dirty="0">
                <a:solidFill>
                  <a:srgbClr val="222B45"/>
                </a:solidFill>
                <a:latin typeface="Calibri" pitchFamily="34" charset="0"/>
                <a:ea typeface="Calibri" pitchFamily="34" charset="-122"/>
                <a:cs typeface="Calibri" pitchFamily="34" charset="-120"/>
              </a:rPr>
              <a:t>Online shopping has become one of the fastest-growing forms of business, generating a large amount of transaction data every day. Every purchase, cancellation, and product return is recorded, providing valuable information about customers and sales. However, many businesses only use this data for basic reports, such as monthly sales, and do not fully analyze customer behaviour or purchasing patterns.</a:t>
            </a:r>
            <a:endParaRPr lang="en-US" sz="1400" dirty="0"/>
          </a:p>
        </p:txBody>
      </p:sp>
      <p:sp>
        <p:nvSpPr>
          <p:cNvPr id="4" name="Text 2"/>
          <p:cNvSpPr/>
          <p:nvPr/>
        </p:nvSpPr>
        <p:spPr>
          <a:xfrm>
            <a:off x="548640" y="2606040"/>
            <a:ext cx="10881360" cy="1371600"/>
          </a:xfrm>
          <a:prstGeom prst="rect">
            <a:avLst/>
          </a:prstGeom>
          <a:noFill/>
          <a:ln/>
        </p:spPr>
        <p:txBody>
          <a:bodyPr wrap="square" rtlCol="0" anchor="ctr"/>
          <a:lstStyle/>
          <a:p>
            <a:pPr marL="0" indent="0">
              <a:lnSpc>
                <a:spcPct val="130000"/>
              </a:lnSpc>
              <a:buNone/>
            </a:pPr>
            <a:r>
              <a:rPr lang="en-US" sz="1400" dirty="0">
                <a:solidFill>
                  <a:srgbClr val="222B45"/>
                </a:solidFill>
                <a:latin typeface="Calibri" pitchFamily="34" charset="0"/>
                <a:ea typeface="Calibri" pitchFamily="34" charset="-122"/>
                <a:cs typeface="Calibri" pitchFamily="34" charset="-120"/>
              </a:rPr>
              <a:t>Before any meaningful analysis can be performed, the data must be cleaned, because raw transaction data often contains missing values, duplicate records, cancelled orders, and returned products. If these issues are ignored, the analysis may produce inaccurate results. Data preprocessing is therefore an essential step that ensures the dataset is reliable and suitable for further analysis.</a:t>
            </a:r>
            <a:endParaRPr lang="en-US" sz="1400" dirty="0"/>
          </a:p>
        </p:txBody>
      </p:sp>
      <p:sp>
        <p:nvSpPr>
          <p:cNvPr id="5" name="Shape 3"/>
          <p:cNvSpPr/>
          <p:nvPr/>
        </p:nvSpPr>
        <p:spPr>
          <a:xfrm>
            <a:off x="548640" y="4160520"/>
            <a:ext cx="11109960" cy="1691640"/>
          </a:xfrm>
          <a:prstGeom prst="roundRect">
            <a:avLst>
              <a:gd name="adj" fmla="val 4324"/>
            </a:avLst>
          </a:prstGeom>
          <a:solidFill>
            <a:srgbClr val="F4F6FC"/>
          </a:solidFill>
          <a:ln/>
        </p:spPr>
        <p:txBody>
          <a:bodyPr/>
          <a:lstStyle/>
          <a:p>
            <a:endParaRPr lang="en-IN"/>
          </a:p>
        </p:txBody>
      </p:sp>
      <p:sp>
        <p:nvSpPr>
          <p:cNvPr id="6" name="Text 4"/>
          <p:cNvSpPr/>
          <p:nvPr/>
        </p:nvSpPr>
        <p:spPr>
          <a:xfrm>
            <a:off x="868680" y="4160520"/>
            <a:ext cx="10515600" cy="1691640"/>
          </a:xfrm>
          <a:prstGeom prst="rect">
            <a:avLst/>
          </a:prstGeom>
          <a:noFill/>
          <a:ln/>
        </p:spPr>
        <p:txBody>
          <a:bodyPr wrap="square" rtlCol="0" anchor="ctr"/>
          <a:lstStyle/>
          <a:p>
            <a:pPr marL="0" indent="0">
              <a:lnSpc>
                <a:spcPct val="130000"/>
              </a:lnSpc>
              <a:buNone/>
            </a:pPr>
            <a:r>
              <a:rPr lang="en-US" sz="1400" dirty="0">
                <a:solidFill>
                  <a:srgbClr val="1E2761"/>
                </a:solidFill>
                <a:latin typeface="Calibri" pitchFamily="34" charset="0"/>
                <a:ea typeface="Calibri" pitchFamily="34" charset="-122"/>
                <a:cs typeface="Calibri" pitchFamily="34" charset="-120"/>
              </a:rPr>
              <a:t>In this project, the Online Retail II dataset is used to clean and explore nearly two years of e-commerce transaction data. The work includes handling missing values, removing duplicate records, separating cancelled orders and returns, and performing exploratory data analysis (EDA) to understand sales and customer behaviour.</a:t>
            </a:r>
            <a:endParaRPr lang="en-US" sz="1400" dirty="0"/>
          </a:p>
        </p:txBody>
      </p:sp>
      <p:sp>
        <p:nvSpPr>
          <p:cNvPr id="7" name="Text 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Project Objectives</a:t>
            </a:r>
            <a:endParaRPr lang="en-US" sz="2800" dirty="0"/>
          </a:p>
        </p:txBody>
      </p:sp>
      <p:sp>
        <p:nvSpPr>
          <p:cNvPr id="3" name="Shape 1"/>
          <p:cNvSpPr/>
          <p:nvPr/>
        </p:nvSpPr>
        <p:spPr>
          <a:xfrm>
            <a:off x="548640" y="1600200"/>
            <a:ext cx="5257800" cy="896112"/>
          </a:xfrm>
          <a:prstGeom prst="roundRect">
            <a:avLst>
              <a:gd name="adj" fmla="val 7143"/>
            </a:avLst>
          </a:prstGeom>
          <a:solidFill>
            <a:srgbClr val="F4F6FC"/>
          </a:solidFill>
          <a:ln/>
        </p:spPr>
        <p:txBody>
          <a:bodyPr/>
          <a:lstStyle/>
          <a:p>
            <a:endParaRPr lang="en-IN"/>
          </a:p>
        </p:txBody>
      </p:sp>
      <p:sp>
        <p:nvSpPr>
          <p:cNvPr id="4" name="Shape 2"/>
          <p:cNvSpPr/>
          <p:nvPr/>
        </p:nvSpPr>
        <p:spPr>
          <a:xfrm>
            <a:off x="749808" y="1874520"/>
            <a:ext cx="347472" cy="347472"/>
          </a:xfrm>
          <a:prstGeom prst="ellipse">
            <a:avLst/>
          </a:prstGeom>
          <a:solidFill>
            <a:srgbClr val="1E2761"/>
          </a:solidFill>
          <a:ln/>
        </p:spPr>
        <p:txBody>
          <a:bodyPr/>
          <a:lstStyle/>
          <a:p>
            <a:endParaRPr lang="en-IN"/>
          </a:p>
        </p:txBody>
      </p:sp>
      <p:sp>
        <p:nvSpPr>
          <p:cNvPr id="5" name="Text 3"/>
          <p:cNvSpPr/>
          <p:nvPr/>
        </p:nvSpPr>
        <p:spPr>
          <a:xfrm>
            <a:off x="749808" y="1874520"/>
            <a:ext cx="347472" cy="347472"/>
          </a:xfrm>
          <a:prstGeom prst="rect">
            <a:avLst/>
          </a:prstGeom>
          <a:noFill/>
          <a:ln/>
        </p:spPr>
        <p:txBody>
          <a:bodyPr wrap="square" rtlCol="0" anchor="ctr"/>
          <a:lstStyle/>
          <a:p>
            <a:pPr marL="0" indent="0" algn="ctr">
              <a:buNone/>
            </a:pPr>
            <a:r>
              <a:rPr lang="en-US" sz="1300" b="1" dirty="0">
                <a:solidFill>
                  <a:srgbClr val="C9A227"/>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61872" y="1691640"/>
            <a:ext cx="4343400" cy="713232"/>
          </a:xfrm>
          <a:prstGeom prst="rect">
            <a:avLst/>
          </a:prstGeom>
          <a:noFill/>
          <a:ln/>
        </p:spPr>
        <p:txBody>
          <a:bodyPr wrap="square" rtlCol="0" anchor="ctr"/>
          <a:lstStyle/>
          <a:p>
            <a:pPr marL="0" indent="0">
              <a:lnSpc>
                <a:spcPct val="120000"/>
              </a:lnSpc>
              <a:buNone/>
            </a:pPr>
            <a:r>
              <a:rPr lang="en-US" sz="1300" dirty="0">
                <a:solidFill>
                  <a:srgbClr val="222B45"/>
                </a:solidFill>
                <a:latin typeface="Calibri" pitchFamily="34" charset="0"/>
                <a:ea typeface="Calibri" pitchFamily="34" charset="-122"/>
                <a:cs typeface="Calibri" pitchFamily="34" charset="-120"/>
              </a:rPr>
              <a:t>Build an R pipeline to combine both dataset sheets into one clean file</a:t>
            </a:r>
            <a:endParaRPr lang="en-US" sz="1300" dirty="0"/>
          </a:p>
        </p:txBody>
      </p:sp>
      <p:sp>
        <p:nvSpPr>
          <p:cNvPr id="7" name="Shape 5"/>
          <p:cNvSpPr/>
          <p:nvPr/>
        </p:nvSpPr>
        <p:spPr>
          <a:xfrm>
            <a:off x="6126480" y="1600200"/>
            <a:ext cx="5257800" cy="896112"/>
          </a:xfrm>
          <a:prstGeom prst="roundRect">
            <a:avLst>
              <a:gd name="adj" fmla="val 7143"/>
            </a:avLst>
          </a:prstGeom>
          <a:solidFill>
            <a:srgbClr val="F4F6FC"/>
          </a:solidFill>
          <a:ln/>
        </p:spPr>
        <p:txBody>
          <a:bodyPr/>
          <a:lstStyle/>
          <a:p>
            <a:endParaRPr lang="en-IN"/>
          </a:p>
        </p:txBody>
      </p:sp>
      <p:sp>
        <p:nvSpPr>
          <p:cNvPr id="8" name="Shape 6"/>
          <p:cNvSpPr/>
          <p:nvPr/>
        </p:nvSpPr>
        <p:spPr>
          <a:xfrm>
            <a:off x="6327648" y="1874520"/>
            <a:ext cx="347472" cy="347472"/>
          </a:xfrm>
          <a:prstGeom prst="ellipse">
            <a:avLst/>
          </a:prstGeom>
          <a:solidFill>
            <a:srgbClr val="1E2761"/>
          </a:solidFill>
          <a:ln/>
        </p:spPr>
        <p:txBody>
          <a:bodyPr/>
          <a:lstStyle/>
          <a:p>
            <a:endParaRPr lang="en-IN"/>
          </a:p>
        </p:txBody>
      </p:sp>
      <p:sp>
        <p:nvSpPr>
          <p:cNvPr id="9" name="Text 7"/>
          <p:cNvSpPr/>
          <p:nvPr/>
        </p:nvSpPr>
        <p:spPr>
          <a:xfrm>
            <a:off x="6327648" y="1874520"/>
            <a:ext cx="347472" cy="347472"/>
          </a:xfrm>
          <a:prstGeom prst="rect">
            <a:avLst/>
          </a:prstGeom>
          <a:noFill/>
          <a:ln/>
        </p:spPr>
        <p:txBody>
          <a:bodyPr wrap="square" rtlCol="0" anchor="ctr"/>
          <a:lstStyle/>
          <a:p>
            <a:pPr marL="0" indent="0" algn="ctr">
              <a:buNone/>
            </a:pPr>
            <a:r>
              <a:rPr lang="en-US" sz="1300" b="1" dirty="0">
                <a:solidFill>
                  <a:srgbClr val="C9A227"/>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6839712" y="1691640"/>
            <a:ext cx="4343400" cy="713232"/>
          </a:xfrm>
          <a:prstGeom prst="rect">
            <a:avLst/>
          </a:prstGeom>
          <a:noFill/>
          <a:ln/>
        </p:spPr>
        <p:txBody>
          <a:bodyPr wrap="square" rtlCol="0" anchor="ctr"/>
          <a:lstStyle/>
          <a:p>
            <a:pPr marL="0" indent="0">
              <a:lnSpc>
                <a:spcPct val="120000"/>
              </a:lnSpc>
              <a:buNone/>
            </a:pPr>
            <a:r>
              <a:rPr lang="en-US" sz="1300" dirty="0">
                <a:solidFill>
                  <a:srgbClr val="222B45"/>
                </a:solidFill>
                <a:latin typeface="Calibri" pitchFamily="34" charset="0"/>
                <a:ea typeface="Calibri" pitchFamily="34" charset="-122"/>
                <a:cs typeface="Calibri" pitchFamily="34" charset="-120"/>
              </a:rPr>
              <a:t>Identify and handle missing values, especially absent Customer IDs</a:t>
            </a:r>
            <a:endParaRPr lang="en-US" sz="1300" dirty="0"/>
          </a:p>
        </p:txBody>
      </p:sp>
      <p:sp>
        <p:nvSpPr>
          <p:cNvPr id="11" name="Shape 9"/>
          <p:cNvSpPr/>
          <p:nvPr/>
        </p:nvSpPr>
        <p:spPr>
          <a:xfrm>
            <a:off x="548640" y="2679192"/>
            <a:ext cx="5257800" cy="896112"/>
          </a:xfrm>
          <a:prstGeom prst="roundRect">
            <a:avLst>
              <a:gd name="adj" fmla="val 7143"/>
            </a:avLst>
          </a:prstGeom>
          <a:solidFill>
            <a:srgbClr val="F4F6FC"/>
          </a:solidFill>
          <a:ln/>
        </p:spPr>
        <p:txBody>
          <a:bodyPr/>
          <a:lstStyle/>
          <a:p>
            <a:endParaRPr lang="en-IN"/>
          </a:p>
        </p:txBody>
      </p:sp>
      <p:sp>
        <p:nvSpPr>
          <p:cNvPr id="12" name="Shape 10"/>
          <p:cNvSpPr/>
          <p:nvPr/>
        </p:nvSpPr>
        <p:spPr>
          <a:xfrm>
            <a:off x="749808" y="2953512"/>
            <a:ext cx="347472" cy="347472"/>
          </a:xfrm>
          <a:prstGeom prst="ellipse">
            <a:avLst/>
          </a:prstGeom>
          <a:solidFill>
            <a:srgbClr val="1E2761"/>
          </a:solidFill>
          <a:ln/>
        </p:spPr>
        <p:txBody>
          <a:bodyPr/>
          <a:lstStyle/>
          <a:p>
            <a:endParaRPr lang="en-IN"/>
          </a:p>
        </p:txBody>
      </p:sp>
      <p:sp>
        <p:nvSpPr>
          <p:cNvPr id="13" name="Text 11"/>
          <p:cNvSpPr/>
          <p:nvPr/>
        </p:nvSpPr>
        <p:spPr>
          <a:xfrm>
            <a:off x="749808" y="2953512"/>
            <a:ext cx="347472" cy="347472"/>
          </a:xfrm>
          <a:prstGeom prst="rect">
            <a:avLst/>
          </a:prstGeom>
          <a:noFill/>
          <a:ln/>
        </p:spPr>
        <p:txBody>
          <a:bodyPr wrap="square" rtlCol="0" anchor="ctr"/>
          <a:lstStyle/>
          <a:p>
            <a:pPr marL="0" indent="0" algn="ctr">
              <a:buNone/>
            </a:pPr>
            <a:r>
              <a:rPr lang="en-US" sz="1300" b="1" dirty="0">
                <a:solidFill>
                  <a:srgbClr val="C9A227"/>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61872" y="2770632"/>
            <a:ext cx="4343400" cy="713232"/>
          </a:xfrm>
          <a:prstGeom prst="rect">
            <a:avLst/>
          </a:prstGeom>
          <a:noFill/>
          <a:ln/>
        </p:spPr>
        <p:txBody>
          <a:bodyPr wrap="square" rtlCol="0" anchor="ctr"/>
          <a:lstStyle/>
          <a:p>
            <a:pPr marL="0" indent="0">
              <a:lnSpc>
                <a:spcPct val="120000"/>
              </a:lnSpc>
              <a:buNone/>
            </a:pPr>
            <a:r>
              <a:rPr lang="en-US" sz="1300" dirty="0">
                <a:solidFill>
                  <a:srgbClr val="222B45"/>
                </a:solidFill>
                <a:latin typeface="Calibri" pitchFamily="34" charset="0"/>
                <a:ea typeface="Calibri" pitchFamily="34" charset="-122"/>
                <a:cs typeface="Calibri" pitchFamily="34" charset="-120"/>
              </a:rPr>
              <a:t>Detect and remove exact duplicate transaction rows</a:t>
            </a:r>
            <a:endParaRPr lang="en-US" sz="1300" dirty="0"/>
          </a:p>
        </p:txBody>
      </p:sp>
      <p:sp>
        <p:nvSpPr>
          <p:cNvPr id="15" name="Shape 13"/>
          <p:cNvSpPr/>
          <p:nvPr/>
        </p:nvSpPr>
        <p:spPr>
          <a:xfrm>
            <a:off x="6126480" y="2679192"/>
            <a:ext cx="5257800" cy="896112"/>
          </a:xfrm>
          <a:prstGeom prst="roundRect">
            <a:avLst>
              <a:gd name="adj" fmla="val 7143"/>
            </a:avLst>
          </a:prstGeom>
          <a:solidFill>
            <a:srgbClr val="F4F6FC"/>
          </a:solidFill>
          <a:ln/>
        </p:spPr>
        <p:txBody>
          <a:bodyPr/>
          <a:lstStyle/>
          <a:p>
            <a:endParaRPr lang="en-IN"/>
          </a:p>
        </p:txBody>
      </p:sp>
      <p:sp>
        <p:nvSpPr>
          <p:cNvPr id="16" name="Shape 14"/>
          <p:cNvSpPr/>
          <p:nvPr/>
        </p:nvSpPr>
        <p:spPr>
          <a:xfrm>
            <a:off x="6327648" y="2953512"/>
            <a:ext cx="347472" cy="347472"/>
          </a:xfrm>
          <a:prstGeom prst="ellipse">
            <a:avLst/>
          </a:prstGeom>
          <a:solidFill>
            <a:srgbClr val="1E2761"/>
          </a:solidFill>
          <a:ln/>
        </p:spPr>
        <p:txBody>
          <a:bodyPr/>
          <a:lstStyle/>
          <a:p>
            <a:endParaRPr lang="en-IN"/>
          </a:p>
        </p:txBody>
      </p:sp>
      <p:sp>
        <p:nvSpPr>
          <p:cNvPr id="17" name="Text 15"/>
          <p:cNvSpPr/>
          <p:nvPr/>
        </p:nvSpPr>
        <p:spPr>
          <a:xfrm>
            <a:off x="6327648" y="2953512"/>
            <a:ext cx="347472" cy="347472"/>
          </a:xfrm>
          <a:prstGeom prst="rect">
            <a:avLst/>
          </a:prstGeom>
          <a:noFill/>
          <a:ln/>
        </p:spPr>
        <p:txBody>
          <a:bodyPr wrap="square" rtlCol="0" anchor="ctr"/>
          <a:lstStyle/>
          <a:p>
            <a:pPr marL="0" indent="0" algn="ctr">
              <a:buNone/>
            </a:pPr>
            <a:r>
              <a:rPr lang="en-US" sz="1300" b="1" dirty="0">
                <a:solidFill>
                  <a:srgbClr val="C9A227"/>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6839712" y="2770632"/>
            <a:ext cx="4343400" cy="713232"/>
          </a:xfrm>
          <a:prstGeom prst="rect">
            <a:avLst/>
          </a:prstGeom>
          <a:noFill/>
          <a:ln/>
        </p:spPr>
        <p:txBody>
          <a:bodyPr wrap="square" rtlCol="0" anchor="ctr"/>
          <a:lstStyle/>
          <a:p>
            <a:pPr marL="0" indent="0">
              <a:lnSpc>
                <a:spcPct val="120000"/>
              </a:lnSpc>
              <a:buNone/>
            </a:pPr>
            <a:r>
              <a:rPr lang="en-US" sz="1300" dirty="0">
                <a:solidFill>
                  <a:srgbClr val="222B45"/>
                </a:solidFill>
                <a:latin typeface="Calibri" pitchFamily="34" charset="0"/>
                <a:ea typeface="Calibri" pitchFamily="34" charset="-122"/>
                <a:cs typeface="Calibri" pitchFamily="34" charset="-120"/>
              </a:rPr>
              <a:t>Separate cancelled orders (Invoice numbers starting with 'C')</a:t>
            </a:r>
            <a:endParaRPr lang="en-US" sz="1300" dirty="0"/>
          </a:p>
        </p:txBody>
      </p:sp>
      <p:sp>
        <p:nvSpPr>
          <p:cNvPr id="19" name="Shape 17"/>
          <p:cNvSpPr/>
          <p:nvPr/>
        </p:nvSpPr>
        <p:spPr>
          <a:xfrm>
            <a:off x="548640" y="3758184"/>
            <a:ext cx="5257800" cy="896112"/>
          </a:xfrm>
          <a:prstGeom prst="roundRect">
            <a:avLst>
              <a:gd name="adj" fmla="val 7143"/>
            </a:avLst>
          </a:prstGeom>
          <a:solidFill>
            <a:srgbClr val="F4F6FC"/>
          </a:solidFill>
          <a:ln/>
        </p:spPr>
        <p:txBody>
          <a:bodyPr/>
          <a:lstStyle/>
          <a:p>
            <a:endParaRPr lang="en-IN"/>
          </a:p>
        </p:txBody>
      </p:sp>
      <p:sp>
        <p:nvSpPr>
          <p:cNvPr id="20" name="Shape 18"/>
          <p:cNvSpPr/>
          <p:nvPr/>
        </p:nvSpPr>
        <p:spPr>
          <a:xfrm>
            <a:off x="749808" y="4032504"/>
            <a:ext cx="347472" cy="347472"/>
          </a:xfrm>
          <a:prstGeom prst="ellipse">
            <a:avLst/>
          </a:prstGeom>
          <a:solidFill>
            <a:srgbClr val="1E2761"/>
          </a:solidFill>
          <a:ln/>
        </p:spPr>
        <p:txBody>
          <a:bodyPr/>
          <a:lstStyle/>
          <a:p>
            <a:endParaRPr lang="en-IN"/>
          </a:p>
        </p:txBody>
      </p:sp>
      <p:sp>
        <p:nvSpPr>
          <p:cNvPr id="21" name="Text 19"/>
          <p:cNvSpPr/>
          <p:nvPr/>
        </p:nvSpPr>
        <p:spPr>
          <a:xfrm>
            <a:off x="749808" y="4032504"/>
            <a:ext cx="347472" cy="347472"/>
          </a:xfrm>
          <a:prstGeom prst="rect">
            <a:avLst/>
          </a:prstGeom>
          <a:noFill/>
          <a:ln/>
        </p:spPr>
        <p:txBody>
          <a:bodyPr wrap="square" rtlCol="0" anchor="ctr"/>
          <a:lstStyle/>
          <a:p>
            <a:pPr marL="0" indent="0" algn="ctr">
              <a:buNone/>
            </a:pPr>
            <a:r>
              <a:rPr lang="en-US" sz="1300" b="1" dirty="0">
                <a:solidFill>
                  <a:srgbClr val="C9A227"/>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261872" y="3849624"/>
            <a:ext cx="4343400" cy="713232"/>
          </a:xfrm>
          <a:prstGeom prst="rect">
            <a:avLst/>
          </a:prstGeom>
          <a:noFill/>
          <a:ln/>
        </p:spPr>
        <p:txBody>
          <a:bodyPr wrap="square" rtlCol="0" anchor="ctr"/>
          <a:lstStyle/>
          <a:p>
            <a:pPr marL="0" indent="0">
              <a:lnSpc>
                <a:spcPct val="120000"/>
              </a:lnSpc>
              <a:buNone/>
            </a:pPr>
            <a:r>
              <a:rPr lang="en-US" sz="1300" dirty="0">
                <a:solidFill>
                  <a:srgbClr val="222B45"/>
                </a:solidFill>
                <a:latin typeface="Calibri" pitchFamily="34" charset="0"/>
                <a:ea typeface="Calibri" pitchFamily="34" charset="-122"/>
                <a:cs typeface="Calibri" pitchFamily="34" charset="-120"/>
              </a:rPr>
              <a:t>Identify and process returned products (negative quantities)</a:t>
            </a:r>
            <a:endParaRPr lang="en-US" sz="1300" dirty="0"/>
          </a:p>
        </p:txBody>
      </p:sp>
      <p:sp>
        <p:nvSpPr>
          <p:cNvPr id="23" name="Shape 21"/>
          <p:cNvSpPr/>
          <p:nvPr/>
        </p:nvSpPr>
        <p:spPr>
          <a:xfrm>
            <a:off x="6126480" y="3758184"/>
            <a:ext cx="5257800" cy="896112"/>
          </a:xfrm>
          <a:prstGeom prst="roundRect">
            <a:avLst>
              <a:gd name="adj" fmla="val 7143"/>
            </a:avLst>
          </a:prstGeom>
          <a:solidFill>
            <a:srgbClr val="F4F6FC"/>
          </a:solidFill>
          <a:ln/>
        </p:spPr>
        <p:txBody>
          <a:bodyPr/>
          <a:lstStyle/>
          <a:p>
            <a:endParaRPr lang="en-IN"/>
          </a:p>
        </p:txBody>
      </p:sp>
      <p:sp>
        <p:nvSpPr>
          <p:cNvPr id="24" name="Shape 22"/>
          <p:cNvSpPr/>
          <p:nvPr/>
        </p:nvSpPr>
        <p:spPr>
          <a:xfrm>
            <a:off x="6327648" y="4032504"/>
            <a:ext cx="347472" cy="347472"/>
          </a:xfrm>
          <a:prstGeom prst="ellipse">
            <a:avLst/>
          </a:prstGeom>
          <a:solidFill>
            <a:srgbClr val="1E2761"/>
          </a:solidFill>
          <a:ln/>
        </p:spPr>
        <p:txBody>
          <a:bodyPr/>
          <a:lstStyle/>
          <a:p>
            <a:endParaRPr lang="en-IN"/>
          </a:p>
        </p:txBody>
      </p:sp>
      <p:sp>
        <p:nvSpPr>
          <p:cNvPr id="25" name="Text 23"/>
          <p:cNvSpPr/>
          <p:nvPr/>
        </p:nvSpPr>
        <p:spPr>
          <a:xfrm>
            <a:off x="6327648" y="4032504"/>
            <a:ext cx="347472" cy="347472"/>
          </a:xfrm>
          <a:prstGeom prst="rect">
            <a:avLst/>
          </a:prstGeom>
          <a:noFill/>
          <a:ln/>
        </p:spPr>
        <p:txBody>
          <a:bodyPr wrap="square" rtlCol="0" anchor="ctr"/>
          <a:lstStyle/>
          <a:p>
            <a:pPr marL="0" indent="0" algn="ctr">
              <a:buNone/>
            </a:pPr>
            <a:r>
              <a:rPr lang="en-US" sz="1300" b="1" dirty="0">
                <a:solidFill>
                  <a:srgbClr val="C9A227"/>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6839712" y="3849624"/>
            <a:ext cx="4343400" cy="713232"/>
          </a:xfrm>
          <a:prstGeom prst="rect">
            <a:avLst/>
          </a:prstGeom>
          <a:noFill/>
          <a:ln/>
        </p:spPr>
        <p:txBody>
          <a:bodyPr wrap="square" rtlCol="0" anchor="ctr"/>
          <a:lstStyle/>
          <a:p>
            <a:pPr marL="0" indent="0">
              <a:lnSpc>
                <a:spcPct val="120000"/>
              </a:lnSpc>
              <a:buNone/>
            </a:pPr>
            <a:r>
              <a:rPr lang="en-US" sz="1300" dirty="0">
                <a:solidFill>
                  <a:srgbClr val="222B45"/>
                </a:solidFill>
                <a:latin typeface="Calibri" pitchFamily="34" charset="0"/>
                <a:ea typeface="Calibri" pitchFamily="34" charset="-122"/>
                <a:cs typeface="Calibri" pitchFamily="34" charset="-120"/>
              </a:rPr>
              <a:t>Build visual summaries of sales trends and customer patterns</a:t>
            </a:r>
            <a:endParaRPr lang="en-US" sz="1300" dirty="0"/>
          </a:p>
        </p:txBody>
      </p:sp>
      <p:sp>
        <p:nvSpPr>
          <p:cNvPr id="27" name="Shape 25"/>
          <p:cNvSpPr/>
          <p:nvPr/>
        </p:nvSpPr>
        <p:spPr>
          <a:xfrm>
            <a:off x="548640" y="4837176"/>
            <a:ext cx="5257800" cy="896112"/>
          </a:xfrm>
          <a:prstGeom prst="roundRect">
            <a:avLst>
              <a:gd name="adj" fmla="val 7143"/>
            </a:avLst>
          </a:prstGeom>
          <a:solidFill>
            <a:srgbClr val="F4F6FC"/>
          </a:solidFill>
          <a:ln/>
        </p:spPr>
        <p:txBody>
          <a:bodyPr/>
          <a:lstStyle/>
          <a:p>
            <a:endParaRPr lang="en-IN"/>
          </a:p>
        </p:txBody>
      </p:sp>
      <p:sp>
        <p:nvSpPr>
          <p:cNvPr id="28" name="Shape 26"/>
          <p:cNvSpPr/>
          <p:nvPr/>
        </p:nvSpPr>
        <p:spPr>
          <a:xfrm>
            <a:off x="749808" y="5111496"/>
            <a:ext cx="347472" cy="347472"/>
          </a:xfrm>
          <a:prstGeom prst="ellipse">
            <a:avLst/>
          </a:prstGeom>
          <a:solidFill>
            <a:srgbClr val="1E2761"/>
          </a:solidFill>
          <a:ln/>
        </p:spPr>
        <p:txBody>
          <a:bodyPr/>
          <a:lstStyle/>
          <a:p>
            <a:endParaRPr lang="en-IN"/>
          </a:p>
        </p:txBody>
      </p:sp>
      <p:sp>
        <p:nvSpPr>
          <p:cNvPr id="29" name="Text 27"/>
          <p:cNvSpPr/>
          <p:nvPr/>
        </p:nvSpPr>
        <p:spPr>
          <a:xfrm>
            <a:off x="749808" y="5111496"/>
            <a:ext cx="347472" cy="347472"/>
          </a:xfrm>
          <a:prstGeom prst="rect">
            <a:avLst/>
          </a:prstGeom>
          <a:noFill/>
          <a:ln/>
        </p:spPr>
        <p:txBody>
          <a:bodyPr wrap="square" rtlCol="0" anchor="ctr"/>
          <a:lstStyle/>
          <a:p>
            <a:pPr marL="0" indent="0" algn="ctr">
              <a:buNone/>
            </a:pPr>
            <a:r>
              <a:rPr lang="en-US" sz="1300" b="1" dirty="0">
                <a:solidFill>
                  <a:srgbClr val="C9A227"/>
                </a:solidFill>
                <a:latin typeface="Calibri" pitchFamily="34" charset="0"/>
                <a:ea typeface="Calibri" pitchFamily="34" charset="-122"/>
                <a:cs typeface="Calibri" pitchFamily="34" charset="-120"/>
              </a:rPr>
              <a:t>7</a:t>
            </a:r>
            <a:endParaRPr lang="en-US" sz="1300" dirty="0"/>
          </a:p>
        </p:txBody>
      </p:sp>
      <p:sp>
        <p:nvSpPr>
          <p:cNvPr id="30" name="Text 28"/>
          <p:cNvSpPr/>
          <p:nvPr/>
        </p:nvSpPr>
        <p:spPr>
          <a:xfrm>
            <a:off x="1261872" y="4928616"/>
            <a:ext cx="4343400" cy="713232"/>
          </a:xfrm>
          <a:prstGeom prst="rect">
            <a:avLst/>
          </a:prstGeom>
          <a:noFill/>
          <a:ln/>
        </p:spPr>
        <p:txBody>
          <a:bodyPr wrap="square" rtlCol="0" anchor="ctr"/>
          <a:lstStyle/>
          <a:p>
            <a:pPr marL="0" indent="0">
              <a:lnSpc>
                <a:spcPct val="120000"/>
              </a:lnSpc>
              <a:buNone/>
            </a:pPr>
            <a:r>
              <a:rPr lang="en-US" sz="1300" dirty="0">
                <a:solidFill>
                  <a:srgbClr val="222B45"/>
                </a:solidFill>
                <a:latin typeface="Calibri" pitchFamily="34" charset="0"/>
                <a:ea typeface="Calibri" pitchFamily="34" charset="-122"/>
                <a:cs typeface="Calibri" pitchFamily="34" charset="-120"/>
              </a:rPr>
              <a:t>Study purchase frequency, spend, and country-wise distribution</a:t>
            </a:r>
            <a:endParaRPr lang="en-US" sz="1300" dirty="0"/>
          </a:p>
        </p:txBody>
      </p:sp>
      <p:sp>
        <p:nvSpPr>
          <p:cNvPr id="31" name="Text 2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Dataset Justification</a:t>
            </a:r>
            <a:endParaRPr lang="en-US" sz="2800" dirty="0"/>
          </a:p>
        </p:txBody>
      </p:sp>
      <p:sp>
        <p:nvSpPr>
          <p:cNvPr id="3" name="Shape 1"/>
          <p:cNvSpPr/>
          <p:nvPr/>
        </p:nvSpPr>
        <p:spPr>
          <a:xfrm>
            <a:off x="548640" y="1600200"/>
            <a:ext cx="3520440" cy="2331720"/>
          </a:xfrm>
          <a:prstGeom prst="roundRect">
            <a:avLst>
              <a:gd name="adj" fmla="val 3137"/>
            </a:avLst>
          </a:prstGeom>
          <a:solidFill>
            <a:srgbClr val="F4F6FC"/>
          </a:solidFill>
          <a:ln/>
        </p:spPr>
        <p:txBody>
          <a:bodyPr/>
          <a:lstStyle/>
          <a:p>
            <a:endParaRPr lang="en-IN"/>
          </a:p>
        </p:txBody>
      </p:sp>
      <p:sp>
        <p:nvSpPr>
          <p:cNvPr id="4" name="Shape 2"/>
          <p:cNvSpPr/>
          <p:nvPr/>
        </p:nvSpPr>
        <p:spPr>
          <a:xfrm>
            <a:off x="804672" y="1856232"/>
            <a:ext cx="365760" cy="54864"/>
          </a:xfrm>
          <a:prstGeom prst="rect">
            <a:avLst/>
          </a:prstGeom>
          <a:solidFill>
            <a:srgbClr val="C9A227"/>
          </a:solidFill>
          <a:ln/>
        </p:spPr>
        <p:txBody>
          <a:bodyPr/>
          <a:lstStyle/>
          <a:p>
            <a:endParaRPr lang="en-IN"/>
          </a:p>
        </p:txBody>
      </p:sp>
      <p:sp>
        <p:nvSpPr>
          <p:cNvPr id="5" name="Text 3"/>
          <p:cNvSpPr/>
          <p:nvPr/>
        </p:nvSpPr>
        <p:spPr>
          <a:xfrm>
            <a:off x="804672" y="2011680"/>
            <a:ext cx="3008376" cy="50292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Authentic Source</a:t>
            </a:r>
            <a:endParaRPr lang="en-US" sz="1450" dirty="0"/>
          </a:p>
        </p:txBody>
      </p:sp>
      <p:sp>
        <p:nvSpPr>
          <p:cNvPr id="6" name="Text 4"/>
          <p:cNvSpPr/>
          <p:nvPr/>
        </p:nvSpPr>
        <p:spPr>
          <a:xfrm>
            <a:off x="804672" y="2496312"/>
            <a:ext cx="3008376" cy="1280160"/>
          </a:xfrm>
          <a:prstGeom prst="rect">
            <a:avLst/>
          </a:prstGeom>
          <a:noFill/>
          <a:ln/>
        </p:spPr>
        <p:txBody>
          <a:bodyPr wrap="square" rtlCol="0" anchor="ctr"/>
          <a:lstStyle/>
          <a:p>
            <a:pPr marL="0" indent="0">
              <a:lnSpc>
                <a:spcPct val="128000"/>
              </a:lnSpc>
              <a:buNone/>
            </a:pPr>
            <a:r>
              <a:rPr lang="en-US" sz="1150" dirty="0">
                <a:solidFill>
                  <a:srgbClr val="5B6478"/>
                </a:solidFill>
                <a:latin typeface="Calibri" pitchFamily="34" charset="0"/>
                <a:ea typeface="Calibri" pitchFamily="34" charset="-122"/>
                <a:cs typeface="Calibri" pitchFamily="34" charset="-120"/>
              </a:rPr>
              <a:t>Sourced from an actual operating retailer rather than a synthetic teaching dataset, presenting genuine data-cleaning challenges.</a:t>
            </a:r>
            <a:endParaRPr lang="en-US" sz="1150" dirty="0"/>
          </a:p>
        </p:txBody>
      </p:sp>
      <p:sp>
        <p:nvSpPr>
          <p:cNvPr id="7" name="Shape 5"/>
          <p:cNvSpPr/>
          <p:nvPr/>
        </p:nvSpPr>
        <p:spPr>
          <a:xfrm>
            <a:off x="4325112" y="1600200"/>
            <a:ext cx="3520440" cy="2331720"/>
          </a:xfrm>
          <a:prstGeom prst="roundRect">
            <a:avLst>
              <a:gd name="adj" fmla="val 3137"/>
            </a:avLst>
          </a:prstGeom>
          <a:solidFill>
            <a:srgbClr val="F4F6FC"/>
          </a:solidFill>
          <a:ln/>
        </p:spPr>
        <p:txBody>
          <a:bodyPr/>
          <a:lstStyle/>
          <a:p>
            <a:endParaRPr lang="en-IN"/>
          </a:p>
        </p:txBody>
      </p:sp>
      <p:sp>
        <p:nvSpPr>
          <p:cNvPr id="8" name="Shape 6"/>
          <p:cNvSpPr/>
          <p:nvPr/>
        </p:nvSpPr>
        <p:spPr>
          <a:xfrm>
            <a:off x="4581144" y="1856232"/>
            <a:ext cx="365760" cy="54864"/>
          </a:xfrm>
          <a:prstGeom prst="rect">
            <a:avLst/>
          </a:prstGeom>
          <a:solidFill>
            <a:srgbClr val="C9A227"/>
          </a:solidFill>
          <a:ln/>
        </p:spPr>
        <p:txBody>
          <a:bodyPr/>
          <a:lstStyle/>
          <a:p>
            <a:endParaRPr lang="en-IN"/>
          </a:p>
        </p:txBody>
      </p:sp>
      <p:sp>
        <p:nvSpPr>
          <p:cNvPr id="9" name="Text 7"/>
          <p:cNvSpPr/>
          <p:nvPr/>
        </p:nvSpPr>
        <p:spPr>
          <a:xfrm>
            <a:off x="4581144" y="2011680"/>
            <a:ext cx="3008376" cy="50292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Public Availability</a:t>
            </a:r>
            <a:endParaRPr lang="en-US" sz="1450" dirty="0"/>
          </a:p>
        </p:txBody>
      </p:sp>
      <p:sp>
        <p:nvSpPr>
          <p:cNvPr id="10" name="Text 8"/>
          <p:cNvSpPr/>
          <p:nvPr/>
        </p:nvSpPr>
        <p:spPr>
          <a:xfrm>
            <a:off x="4581144" y="2496312"/>
            <a:ext cx="3008376" cy="1280160"/>
          </a:xfrm>
          <a:prstGeom prst="rect">
            <a:avLst/>
          </a:prstGeom>
          <a:noFill/>
          <a:ln/>
        </p:spPr>
        <p:txBody>
          <a:bodyPr wrap="square" rtlCol="0" anchor="ctr"/>
          <a:lstStyle/>
          <a:p>
            <a:pPr marL="0" indent="0">
              <a:lnSpc>
                <a:spcPct val="128000"/>
              </a:lnSpc>
              <a:buNone/>
            </a:pPr>
            <a:r>
              <a:rPr lang="en-US" sz="1150" dirty="0">
                <a:solidFill>
                  <a:srgbClr val="5B6478"/>
                </a:solidFill>
                <a:latin typeface="Calibri" pitchFamily="34" charset="0"/>
                <a:ea typeface="Calibri" pitchFamily="34" charset="-122"/>
                <a:cs typeface="Calibri" pitchFamily="34" charset="-120"/>
              </a:rPr>
              <a:t>Published under a CC BY 4.0 licence via the UCI Repository, freely available for academic use.</a:t>
            </a:r>
            <a:endParaRPr lang="en-US" sz="1150" dirty="0"/>
          </a:p>
        </p:txBody>
      </p:sp>
      <p:sp>
        <p:nvSpPr>
          <p:cNvPr id="11" name="Shape 9"/>
          <p:cNvSpPr/>
          <p:nvPr/>
        </p:nvSpPr>
        <p:spPr>
          <a:xfrm>
            <a:off x="8101584" y="1600200"/>
            <a:ext cx="3520440" cy="2331720"/>
          </a:xfrm>
          <a:prstGeom prst="roundRect">
            <a:avLst>
              <a:gd name="adj" fmla="val 3137"/>
            </a:avLst>
          </a:prstGeom>
          <a:solidFill>
            <a:srgbClr val="F4F6FC"/>
          </a:solidFill>
          <a:ln/>
        </p:spPr>
        <p:txBody>
          <a:bodyPr/>
          <a:lstStyle/>
          <a:p>
            <a:endParaRPr lang="en-IN"/>
          </a:p>
        </p:txBody>
      </p:sp>
      <p:sp>
        <p:nvSpPr>
          <p:cNvPr id="12" name="Shape 10"/>
          <p:cNvSpPr/>
          <p:nvPr/>
        </p:nvSpPr>
        <p:spPr>
          <a:xfrm>
            <a:off x="8357616" y="1856232"/>
            <a:ext cx="365760" cy="54864"/>
          </a:xfrm>
          <a:prstGeom prst="rect">
            <a:avLst/>
          </a:prstGeom>
          <a:solidFill>
            <a:srgbClr val="C9A227"/>
          </a:solidFill>
          <a:ln/>
        </p:spPr>
        <p:txBody>
          <a:bodyPr/>
          <a:lstStyle/>
          <a:p>
            <a:endParaRPr lang="en-IN"/>
          </a:p>
        </p:txBody>
      </p:sp>
      <p:sp>
        <p:nvSpPr>
          <p:cNvPr id="13" name="Text 11"/>
          <p:cNvSpPr/>
          <p:nvPr/>
        </p:nvSpPr>
        <p:spPr>
          <a:xfrm>
            <a:off x="8357616" y="2011680"/>
            <a:ext cx="3008376" cy="50292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Structural Richness</a:t>
            </a:r>
            <a:endParaRPr lang="en-US" sz="1450" dirty="0"/>
          </a:p>
        </p:txBody>
      </p:sp>
      <p:sp>
        <p:nvSpPr>
          <p:cNvPr id="14" name="Text 12"/>
          <p:cNvSpPr/>
          <p:nvPr/>
        </p:nvSpPr>
        <p:spPr>
          <a:xfrm>
            <a:off x="8357616" y="2496312"/>
            <a:ext cx="3008376" cy="1280160"/>
          </a:xfrm>
          <a:prstGeom prst="rect">
            <a:avLst/>
          </a:prstGeom>
          <a:noFill/>
          <a:ln/>
        </p:spPr>
        <p:txBody>
          <a:bodyPr wrap="square" rtlCol="0" anchor="ctr"/>
          <a:lstStyle/>
          <a:p>
            <a:pPr marL="0" indent="0">
              <a:lnSpc>
                <a:spcPct val="128000"/>
              </a:lnSpc>
              <a:buNone/>
            </a:pPr>
            <a:r>
              <a:rPr lang="en-US" sz="1150" dirty="0">
                <a:solidFill>
                  <a:srgbClr val="5B6478"/>
                </a:solidFill>
                <a:latin typeface="Calibri" pitchFamily="34" charset="0"/>
                <a:ea typeface="Calibri" pitchFamily="34" charset="-122"/>
                <a:cs typeface="Calibri" pitchFamily="34" charset="-120"/>
              </a:rPr>
              <a:t>Categorical, numeric, and date-time fields together support thorough cleaning and exploratory analysis.</a:t>
            </a:r>
            <a:endParaRPr lang="en-US" sz="1150" dirty="0"/>
          </a:p>
        </p:txBody>
      </p:sp>
      <p:sp>
        <p:nvSpPr>
          <p:cNvPr id="15" name="Shape 13"/>
          <p:cNvSpPr/>
          <p:nvPr/>
        </p:nvSpPr>
        <p:spPr>
          <a:xfrm>
            <a:off x="548640" y="4187952"/>
            <a:ext cx="3520440" cy="2331720"/>
          </a:xfrm>
          <a:prstGeom prst="roundRect">
            <a:avLst>
              <a:gd name="adj" fmla="val 3137"/>
            </a:avLst>
          </a:prstGeom>
          <a:solidFill>
            <a:srgbClr val="F4F6FC"/>
          </a:solidFill>
          <a:ln/>
        </p:spPr>
        <p:txBody>
          <a:bodyPr/>
          <a:lstStyle/>
          <a:p>
            <a:endParaRPr lang="en-IN"/>
          </a:p>
        </p:txBody>
      </p:sp>
      <p:sp>
        <p:nvSpPr>
          <p:cNvPr id="16" name="Shape 14"/>
          <p:cNvSpPr/>
          <p:nvPr/>
        </p:nvSpPr>
        <p:spPr>
          <a:xfrm>
            <a:off x="804672" y="4443984"/>
            <a:ext cx="365760" cy="54864"/>
          </a:xfrm>
          <a:prstGeom prst="rect">
            <a:avLst/>
          </a:prstGeom>
          <a:solidFill>
            <a:srgbClr val="C9A227"/>
          </a:solidFill>
          <a:ln/>
        </p:spPr>
        <p:txBody>
          <a:bodyPr/>
          <a:lstStyle/>
          <a:p>
            <a:endParaRPr lang="en-IN"/>
          </a:p>
        </p:txBody>
      </p:sp>
      <p:sp>
        <p:nvSpPr>
          <p:cNvPr id="17" name="Text 15"/>
          <p:cNvSpPr/>
          <p:nvPr/>
        </p:nvSpPr>
        <p:spPr>
          <a:xfrm>
            <a:off x="804672" y="4599432"/>
            <a:ext cx="3008376" cy="50292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Suited to Data Science</a:t>
            </a:r>
            <a:endParaRPr lang="en-US" sz="1450" dirty="0"/>
          </a:p>
        </p:txBody>
      </p:sp>
      <p:sp>
        <p:nvSpPr>
          <p:cNvPr id="18" name="Text 16"/>
          <p:cNvSpPr/>
          <p:nvPr/>
        </p:nvSpPr>
        <p:spPr>
          <a:xfrm>
            <a:off x="804672" y="5084064"/>
            <a:ext cx="3008376" cy="1280160"/>
          </a:xfrm>
          <a:prstGeom prst="rect">
            <a:avLst/>
          </a:prstGeom>
          <a:noFill/>
          <a:ln/>
        </p:spPr>
        <p:txBody>
          <a:bodyPr wrap="square" rtlCol="0" anchor="ctr"/>
          <a:lstStyle/>
          <a:p>
            <a:pPr marL="0" indent="0">
              <a:lnSpc>
                <a:spcPct val="128000"/>
              </a:lnSpc>
              <a:buNone/>
            </a:pPr>
            <a:r>
              <a:rPr lang="en-US" sz="1150" dirty="0">
                <a:solidFill>
                  <a:srgbClr val="5B6478"/>
                </a:solidFill>
                <a:latin typeface="Calibri" pitchFamily="34" charset="0"/>
                <a:ea typeface="Calibri" pitchFamily="34" charset="-122"/>
                <a:cs typeface="Calibri" pitchFamily="34" charset="-120"/>
              </a:rPr>
              <a:t>Requires substantive preprocessing decisions - combining sheets, handling nulls, and flagging outliers.</a:t>
            </a:r>
            <a:endParaRPr lang="en-US" sz="1150" dirty="0"/>
          </a:p>
        </p:txBody>
      </p:sp>
      <p:sp>
        <p:nvSpPr>
          <p:cNvPr id="19" name="Shape 17"/>
          <p:cNvSpPr/>
          <p:nvPr/>
        </p:nvSpPr>
        <p:spPr>
          <a:xfrm>
            <a:off x="4325112" y="4187952"/>
            <a:ext cx="3520440" cy="2331720"/>
          </a:xfrm>
          <a:prstGeom prst="roundRect">
            <a:avLst>
              <a:gd name="adj" fmla="val 3137"/>
            </a:avLst>
          </a:prstGeom>
          <a:solidFill>
            <a:srgbClr val="F4F6FC"/>
          </a:solidFill>
          <a:ln/>
        </p:spPr>
        <p:txBody>
          <a:bodyPr/>
          <a:lstStyle/>
          <a:p>
            <a:endParaRPr lang="en-IN"/>
          </a:p>
        </p:txBody>
      </p:sp>
      <p:sp>
        <p:nvSpPr>
          <p:cNvPr id="20" name="Shape 18"/>
          <p:cNvSpPr/>
          <p:nvPr/>
        </p:nvSpPr>
        <p:spPr>
          <a:xfrm>
            <a:off x="4581144" y="4443984"/>
            <a:ext cx="365760" cy="54864"/>
          </a:xfrm>
          <a:prstGeom prst="rect">
            <a:avLst/>
          </a:prstGeom>
          <a:solidFill>
            <a:srgbClr val="C9A227"/>
          </a:solidFill>
          <a:ln/>
        </p:spPr>
        <p:txBody>
          <a:bodyPr/>
          <a:lstStyle/>
          <a:p>
            <a:endParaRPr lang="en-IN"/>
          </a:p>
        </p:txBody>
      </p:sp>
      <p:sp>
        <p:nvSpPr>
          <p:cNvPr id="21" name="Text 19"/>
          <p:cNvSpPr/>
          <p:nvPr/>
        </p:nvSpPr>
        <p:spPr>
          <a:xfrm>
            <a:off x="4581144" y="4599432"/>
            <a:ext cx="3008376" cy="50292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Multi-Dimensional Structure</a:t>
            </a:r>
            <a:endParaRPr lang="en-US" sz="1450" dirty="0"/>
          </a:p>
        </p:txBody>
      </p:sp>
      <p:sp>
        <p:nvSpPr>
          <p:cNvPr id="22" name="Text 20"/>
          <p:cNvSpPr/>
          <p:nvPr/>
        </p:nvSpPr>
        <p:spPr>
          <a:xfrm>
            <a:off x="4581144" y="5084064"/>
            <a:ext cx="3008376" cy="1280160"/>
          </a:xfrm>
          <a:prstGeom prst="rect">
            <a:avLst/>
          </a:prstGeom>
          <a:noFill/>
          <a:ln/>
        </p:spPr>
        <p:txBody>
          <a:bodyPr wrap="square" rtlCol="0" anchor="ctr"/>
          <a:lstStyle/>
          <a:p>
            <a:pPr marL="0" indent="0">
              <a:lnSpc>
                <a:spcPct val="128000"/>
              </a:lnSpc>
              <a:buNone/>
            </a:pPr>
            <a:r>
              <a:rPr lang="en-US" sz="1150" dirty="0">
                <a:solidFill>
                  <a:srgbClr val="5B6478"/>
                </a:solidFill>
                <a:latin typeface="Calibri" pitchFamily="34" charset="0"/>
                <a:ea typeface="Calibri" pitchFamily="34" charset="-122"/>
                <a:cs typeface="Calibri" pitchFamily="34" charset="-120"/>
              </a:rPr>
              <a:t>Time, product, customer, and country dimensions together support rich exploratory analysis.</a:t>
            </a:r>
            <a:endParaRPr lang="en-US" sz="1150" dirty="0"/>
          </a:p>
        </p:txBody>
      </p:sp>
      <p:sp>
        <p:nvSpPr>
          <p:cNvPr id="23" name="Shape 21"/>
          <p:cNvSpPr/>
          <p:nvPr/>
        </p:nvSpPr>
        <p:spPr>
          <a:xfrm>
            <a:off x="8101584" y="4187952"/>
            <a:ext cx="3520440" cy="2331720"/>
          </a:xfrm>
          <a:prstGeom prst="roundRect">
            <a:avLst>
              <a:gd name="adj" fmla="val 3137"/>
            </a:avLst>
          </a:prstGeom>
          <a:solidFill>
            <a:srgbClr val="F4F6FC"/>
          </a:solidFill>
          <a:ln/>
        </p:spPr>
        <p:txBody>
          <a:bodyPr/>
          <a:lstStyle/>
          <a:p>
            <a:endParaRPr lang="en-IN"/>
          </a:p>
        </p:txBody>
      </p:sp>
      <p:sp>
        <p:nvSpPr>
          <p:cNvPr id="24" name="Shape 22"/>
          <p:cNvSpPr/>
          <p:nvPr/>
        </p:nvSpPr>
        <p:spPr>
          <a:xfrm>
            <a:off x="8357616" y="4443984"/>
            <a:ext cx="365760" cy="54864"/>
          </a:xfrm>
          <a:prstGeom prst="rect">
            <a:avLst/>
          </a:prstGeom>
          <a:solidFill>
            <a:srgbClr val="C9A227"/>
          </a:solidFill>
          <a:ln/>
        </p:spPr>
        <p:txBody>
          <a:bodyPr/>
          <a:lstStyle/>
          <a:p>
            <a:endParaRPr lang="en-IN"/>
          </a:p>
        </p:txBody>
      </p:sp>
      <p:sp>
        <p:nvSpPr>
          <p:cNvPr id="25" name="Text 23"/>
          <p:cNvSpPr/>
          <p:nvPr/>
        </p:nvSpPr>
        <p:spPr>
          <a:xfrm>
            <a:off x="8357616" y="4599432"/>
            <a:ext cx="3008376" cy="50292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Customer-Level Granularity</a:t>
            </a:r>
            <a:endParaRPr lang="en-US" sz="1450" dirty="0"/>
          </a:p>
        </p:txBody>
      </p:sp>
      <p:sp>
        <p:nvSpPr>
          <p:cNvPr id="26" name="Text 24"/>
          <p:cNvSpPr/>
          <p:nvPr/>
        </p:nvSpPr>
        <p:spPr>
          <a:xfrm>
            <a:off x="8357616" y="5084064"/>
            <a:ext cx="3008376" cy="1280160"/>
          </a:xfrm>
          <a:prstGeom prst="rect">
            <a:avLst/>
          </a:prstGeom>
          <a:noFill/>
          <a:ln/>
        </p:spPr>
        <p:txBody>
          <a:bodyPr wrap="square" rtlCol="0" anchor="ctr"/>
          <a:lstStyle/>
          <a:p>
            <a:pPr marL="0" indent="0">
              <a:lnSpc>
                <a:spcPct val="128000"/>
              </a:lnSpc>
              <a:buNone/>
            </a:pPr>
            <a:r>
              <a:rPr lang="en-US" sz="1150" dirty="0">
                <a:solidFill>
                  <a:srgbClr val="5B6478"/>
                </a:solidFill>
                <a:latin typeface="Calibri" pitchFamily="34" charset="0"/>
                <a:ea typeface="Calibri" pitchFamily="34" charset="-122"/>
                <a:cs typeface="Calibri" pitchFamily="34" charset="-120"/>
              </a:rPr>
              <a:t>A genuine Customer ID field enables reliable customer-level analysis, distinguishing repeat customers from anonymous guest transactions.</a:t>
            </a:r>
            <a:endParaRPr lang="en-US" sz="1150" dirty="0"/>
          </a:p>
        </p:txBody>
      </p:sp>
      <p:sp>
        <p:nvSpPr>
          <p:cNvPr id="27" name="Text 2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Literature Review (1 of 2)</a:t>
            </a:r>
            <a:endParaRPr lang="en-US" sz="2800" dirty="0"/>
          </a:p>
        </p:txBody>
      </p:sp>
      <p:sp>
        <p:nvSpPr>
          <p:cNvPr id="3" name="Text 1"/>
          <p:cNvSpPr/>
          <p:nvPr/>
        </p:nvSpPr>
        <p:spPr>
          <a:xfrm>
            <a:off x="548640" y="1188720"/>
            <a:ext cx="10881360" cy="502920"/>
          </a:xfrm>
          <a:prstGeom prst="rect">
            <a:avLst/>
          </a:prstGeom>
          <a:noFill/>
          <a:ln/>
        </p:spPr>
        <p:txBody>
          <a:bodyPr wrap="square" rtlCol="0" anchor="ctr"/>
          <a:lstStyle/>
          <a:p>
            <a:pPr marL="0" indent="0">
              <a:lnSpc>
                <a:spcPct val="120000"/>
              </a:lnSpc>
              <a:buNone/>
            </a:pPr>
            <a:r>
              <a:rPr lang="en-US" sz="1250" dirty="0">
                <a:solidFill>
                  <a:srgbClr val="5B6478"/>
                </a:solidFill>
                <a:latin typeface="Calibri" pitchFamily="34" charset="0"/>
                <a:ea typeface="Calibri" pitchFamily="34" charset="-122"/>
                <a:cs typeface="Calibri" pitchFamily="34" charset="-120"/>
              </a:rPr>
              <a:t>Five papers (2021-2024) published by IEEE, Springer, Elsevier, and MDPI were reviewed to ground the methodology in RFM analysis and K-Means clustering.</a:t>
            </a:r>
            <a:endParaRPr lang="en-US" sz="1250" dirty="0"/>
          </a:p>
        </p:txBody>
      </p:sp>
      <p:sp>
        <p:nvSpPr>
          <p:cNvPr id="4" name="Shape 2"/>
          <p:cNvSpPr/>
          <p:nvPr/>
        </p:nvSpPr>
        <p:spPr>
          <a:xfrm>
            <a:off x="548640" y="1874520"/>
            <a:ext cx="3520440" cy="4023360"/>
          </a:xfrm>
          <a:prstGeom prst="roundRect">
            <a:avLst>
              <a:gd name="adj" fmla="val 1818"/>
            </a:avLst>
          </a:prstGeom>
          <a:solidFill>
            <a:srgbClr val="F4F6FC"/>
          </a:solidFill>
          <a:ln/>
        </p:spPr>
        <p:txBody>
          <a:bodyPr/>
          <a:lstStyle/>
          <a:p>
            <a:endParaRPr lang="en-IN"/>
          </a:p>
        </p:txBody>
      </p:sp>
      <p:sp>
        <p:nvSpPr>
          <p:cNvPr id="5" name="Text 3"/>
          <p:cNvSpPr/>
          <p:nvPr/>
        </p:nvSpPr>
        <p:spPr>
          <a:xfrm>
            <a:off x="777240" y="2020824"/>
            <a:ext cx="3063240" cy="502920"/>
          </a:xfrm>
          <a:prstGeom prst="rect">
            <a:avLst/>
          </a:prstGeom>
          <a:noFill/>
          <a:ln/>
        </p:spPr>
        <p:txBody>
          <a:bodyPr wrap="square" rtlCol="0" anchor="ctr"/>
          <a:lstStyle/>
          <a:p>
            <a:pPr marL="0" indent="0">
              <a:lnSpc>
                <a:spcPct val="110000"/>
              </a:lnSpc>
              <a:buNone/>
            </a:pPr>
            <a:r>
              <a:rPr lang="en-US" sz="1200" b="1" dirty="0">
                <a:solidFill>
                  <a:srgbClr val="1E2761"/>
                </a:solidFill>
                <a:latin typeface="Calibri" pitchFamily="34" charset="0"/>
                <a:ea typeface="Calibri" pitchFamily="34" charset="-122"/>
                <a:cs typeface="Calibri" pitchFamily="34" charset="-120"/>
              </a:rPr>
              <a:t>C. Rungruang, P. Riyapan, A. Intarasit, K. Chuarkham, J. Muangprathub</a:t>
            </a:r>
            <a:endParaRPr lang="en-US" sz="1200" dirty="0"/>
          </a:p>
        </p:txBody>
      </p:sp>
      <p:sp>
        <p:nvSpPr>
          <p:cNvPr id="6" name="Text 4"/>
          <p:cNvSpPr/>
          <p:nvPr/>
        </p:nvSpPr>
        <p:spPr>
          <a:xfrm>
            <a:off x="777240" y="2478024"/>
            <a:ext cx="3063240" cy="274320"/>
          </a:xfrm>
          <a:prstGeom prst="rect">
            <a:avLst/>
          </a:prstGeom>
          <a:noFill/>
          <a:ln/>
        </p:spPr>
        <p:txBody>
          <a:bodyPr wrap="square" rtlCol="0" anchor="ctr"/>
          <a:lstStyle/>
          <a:p>
            <a:pPr marL="0" indent="0">
              <a:buNone/>
            </a:pPr>
            <a:r>
              <a:rPr lang="en-US" sz="1000" i="1" dirty="0">
                <a:solidFill>
                  <a:srgbClr val="C9A227"/>
                </a:solidFill>
                <a:latin typeface="Calibri" pitchFamily="34" charset="0"/>
                <a:ea typeface="Calibri" pitchFamily="34" charset="-122"/>
                <a:cs typeface="Calibri" pitchFamily="34" charset="-120"/>
              </a:rPr>
              <a:t>2024  |  Elsevier</a:t>
            </a:r>
            <a:endParaRPr lang="en-US" sz="1000" dirty="0"/>
          </a:p>
        </p:txBody>
      </p:sp>
      <p:sp>
        <p:nvSpPr>
          <p:cNvPr id="7" name="Text 5"/>
          <p:cNvSpPr/>
          <p:nvPr/>
        </p:nvSpPr>
        <p:spPr>
          <a:xfrm>
            <a:off x="777240" y="2788920"/>
            <a:ext cx="3063240" cy="685800"/>
          </a:xfrm>
          <a:prstGeom prst="rect">
            <a:avLst/>
          </a:prstGeom>
          <a:noFill/>
          <a:ln/>
        </p:spPr>
        <p:txBody>
          <a:bodyPr wrap="square" rtlCol="0" anchor="ctr"/>
          <a:lstStyle/>
          <a:p>
            <a:pPr marL="0" indent="0">
              <a:lnSpc>
                <a:spcPct val="120000"/>
              </a:lnSpc>
              <a:buNone/>
            </a:pPr>
            <a:r>
              <a:rPr lang="en-US" sz="1050" b="1" dirty="0">
                <a:solidFill>
                  <a:srgbClr val="1E2761"/>
                </a:solidFill>
                <a:latin typeface="Calibri" pitchFamily="34" charset="0"/>
                <a:ea typeface="Calibri" pitchFamily="34" charset="-122"/>
                <a:cs typeface="Calibri" pitchFamily="34" charset="-120"/>
              </a:rPr>
              <a:t>Approach: </a:t>
            </a:r>
            <a:r>
              <a:rPr lang="en-US" sz="1050" dirty="0">
                <a:solidFill>
                  <a:srgbClr val="222B45"/>
                </a:solidFill>
                <a:latin typeface="Calibri" pitchFamily="34" charset="0"/>
                <a:ea typeface="Calibri" pitchFamily="34" charset="-122"/>
                <a:cs typeface="Calibri" pitchFamily="34" charset="-120"/>
              </a:rPr>
              <a:t>Proposes an improved approach for customer segmentation using the traditional RFM model together with Formal Concept Analysis (FCA), building a hierarchical structure instead of a small number of flat clusters.</a:t>
            </a:r>
            <a:endParaRPr lang="en-US" sz="1050" dirty="0"/>
          </a:p>
        </p:txBody>
      </p:sp>
      <p:sp>
        <p:nvSpPr>
          <p:cNvPr id="8" name="Text 6"/>
          <p:cNvSpPr/>
          <p:nvPr/>
        </p:nvSpPr>
        <p:spPr>
          <a:xfrm>
            <a:off x="777240" y="3474720"/>
            <a:ext cx="3063240" cy="2286000"/>
          </a:xfrm>
          <a:prstGeom prst="rect">
            <a:avLst/>
          </a:prstGeom>
          <a:noFill/>
          <a:ln/>
        </p:spPr>
        <p:txBody>
          <a:bodyPr wrap="square" rtlCol="0" anchor="ctr"/>
          <a:lstStyle/>
          <a:p>
            <a:pPr marL="0" indent="0">
              <a:lnSpc>
                <a:spcPct val="120000"/>
              </a:lnSpc>
              <a:buNone/>
            </a:pPr>
            <a:r>
              <a:rPr lang="en-US" sz="1050" b="1" dirty="0">
                <a:solidFill>
                  <a:srgbClr val="1E2761"/>
                </a:solidFill>
                <a:latin typeface="Calibri" pitchFamily="34" charset="0"/>
                <a:ea typeface="Calibri" pitchFamily="34" charset="-122"/>
                <a:cs typeface="Calibri" pitchFamily="34" charset="-120"/>
              </a:rPr>
              <a:t>Key Result: </a:t>
            </a:r>
            <a:r>
              <a:rPr lang="en-US" sz="1050" dirty="0">
                <a:solidFill>
                  <a:srgbClr val="222B45"/>
                </a:solidFill>
                <a:latin typeface="Calibri" pitchFamily="34" charset="0"/>
                <a:ea typeface="Calibri" pitchFamily="34" charset="-122"/>
                <a:cs typeface="Calibri" pitchFamily="34" charset="-120"/>
              </a:rPr>
              <a:t>The hierarchical approach produces more meaningful and interpretable customer segments than traditional clustering techniques.</a:t>
            </a:r>
            <a:endParaRPr lang="en-US" sz="1050" dirty="0"/>
          </a:p>
        </p:txBody>
      </p:sp>
      <p:sp>
        <p:nvSpPr>
          <p:cNvPr id="9" name="Shape 7"/>
          <p:cNvSpPr/>
          <p:nvPr/>
        </p:nvSpPr>
        <p:spPr>
          <a:xfrm>
            <a:off x="4325112" y="1874520"/>
            <a:ext cx="3520440" cy="4023360"/>
          </a:xfrm>
          <a:prstGeom prst="roundRect">
            <a:avLst>
              <a:gd name="adj" fmla="val 1818"/>
            </a:avLst>
          </a:prstGeom>
          <a:solidFill>
            <a:srgbClr val="F4F6FC"/>
          </a:solidFill>
          <a:ln/>
        </p:spPr>
        <p:txBody>
          <a:bodyPr/>
          <a:lstStyle/>
          <a:p>
            <a:endParaRPr lang="en-IN"/>
          </a:p>
        </p:txBody>
      </p:sp>
      <p:sp>
        <p:nvSpPr>
          <p:cNvPr id="10" name="Text 8"/>
          <p:cNvSpPr/>
          <p:nvPr/>
        </p:nvSpPr>
        <p:spPr>
          <a:xfrm>
            <a:off x="4553712" y="2020824"/>
            <a:ext cx="3063240" cy="502920"/>
          </a:xfrm>
          <a:prstGeom prst="rect">
            <a:avLst/>
          </a:prstGeom>
          <a:noFill/>
          <a:ln/>
        </p:spPr>
        <p:txBody>
          <a:bodyPr wrap="square" rtlCol="0" anchor="ctr"/>
          <a:lstStyle/>
          <a:p>
            <a:pPr marL="0" indent="0">
              <a:lnSpc>
                <a:spcPct val="110000"/>
              </a:lnSpc>
              <a:buNone/>
            </a:pPr>
            <a:r>
              <a:rPr lang="en-US" sz="1200" b="1" dirty="0">
                <a:solidFill>
                  <a:srgbClr val="1E2761"/>
                </a:solidFill>
                <a:latin typeface="Calibri" pitchFamily="34" charset="0"/>
                <a:ea typeface="Calibri" pitchFamily="34" charset="-122"/>
                <a:cs typeface="Calibri" pitchFamily="34" charset="-120"/>
              </a:rPr>
              <a:t>A. J. Christy, A. Umamakeswari, L. Priyatharsini, A. Neyaa</a:t>
            </a:r>
            <a:endParaRPr lang="en-US" sz="1200" dirty="0"/>
          </a:p>
        </p:txBody>
      </p:sp>
      <p:sp>
        <p:nvSpPr>
          <p:cNvPr id="11" name="Text 9"/>
          <p:cNvSpPr/>
          <p:nvPr/>
        </p:nvSpPr>
        <p:spPr>
          <a:xfrm>
            <a:off x="4553712" y="2478024"/>
            <a:ext cx="3063240" cy="274320"/>
          </a:xfrm>
          <a:prstGeom prst="rect">
            <a:avLst/>
          </a:prstGeom>
          <a:noFill/>
          <a:ln/>
        </p:spPr>
        <p:txBody>
          <a:bodyPr wrap="square" rtlCol="0" anchor="ctr"/>
          <a:lstStyle/>
          <a:p>
            <a:pPr marL="0" indent="0">
              <a:buNone/>
            </a:pPr>
            <a:r>
              <a:rPr lang="en-US" sz="1000" i="1" dirty="0">
                <a:solidFill>
                  <a:srgbClr val="C9A227"/>
                </a:solidFill>
                <a:latin typeface="Calibri" pitchFamily="34" charset="0"/>
                <a:ea typeface="Calibri" pitchFamily="34" charset="-122"/>
                <a:cs typeface="Calibri" pitchFamily="34" charset="-120"/>
              </a:rPr>
              <a:t>2021  |  Elsevier</a:t>
            </a:r>
            <a:endParaRPr lang="en-US" sz="1000" dirty="0"/>
          </a:p>
        </p:txBody>
      </p:sp>
      <p:sp>
        <p:nvSpPr>
          <p:cNvPr id="12" name="Text 10"/>
          <p:cNvSpPr/>
          <p:nvPr/>
        </p:nvSpPr>
        <p:spPr>
          <a:xfrm>
            <a:off x="4553712" y="2788920"/>
            <a:ext cx="3063240" cy="685800"/>
          </a:xfrm>
          <a:prstGeom prst="rect">
            <a:avLst/>
          </a:prstGeom>
          <a:noFill/>
          <a:ln/>
        </p:spPr>
        <p:txBody>
          <a:bodyPr wrap="square" rtlCol="0" anchor="ctr"/>
          <a:lstStyle/>
          <a:p>
            <a:pPr marL="0" indent="0">
              <a:lnSpc>
                <a:spcPct val="120000"/>
              </a:lnSpc>
              <a:buNone/>
            </a:pPr>
            <a:r>
              <a:rPr lang="en-US" sz="1050" b="1" dirty="0">
                <a:solidFill>
                  <a:srgbClr val="1E2761"/>
                </a:solidFill>
                <a:latin typeface="Calibri" pitchFamily="34" charset="0"/>
                <a:ea typeface="Calibri" pitchFamily="34" charset="-122"/>
                <a:cs typeface="Calibri" pitchFamily="34" charset="-120"/>
              </a:rPr>
              <a:t>Approach: </a:t>
            </a:r>
            <a:r>
              <a:rPr lang="en-US" sz="1050" dirty="0">
                <a:solidFill>
                  <a:srgbClr val="222B45"/>
                </a:solidFill>
                <a:latin typeface="Calibri" pitchFamily="34" charset="0"/>
                <a:ea typeface="Calibri" pitchFamily="34" charset="-122"/>
                <a:cs typeface="Calibri" pitchFamily="34" charset="-120"/>
              </a:rPr>
              <a:t>Presents an RFM ranking method for customer segmentation, ranking customers directly on Recency, Frequency, and Monetary values instead of applying a clustering algorithm such as K-Means.</a:t>
            </a:r>
            <a:endParaRPr lang="en-US" sz="1050" dirty="0"/>
          </a:p>
        </p:txBody>
      </p:sp>
      <p:sp>
        <p:nvSpPr>
          <p:cNvPr id="13" name="Text 11"/>
          <p:cNvSpPr/>
          <p:nvPr/>
        </p:nvSpPr>
        <p:spPr>
          <a:xfrm>
            <a:off x="4553712" y="3474720"/>
            <a:ext cx="3063240" cy="2286000"/>
          </a:xfrm>
          <a:prstGeom prst="rect">
            <a:avLst/>
          </a:prstGeom>
          <a:noFill/>
          <a:ln/>
        </p:spPr>
        <p:txBody>
          <a:bodyPr wrap="square" rtlCol="0" anchor="ctr"/>
          <a:lstStyle/>
          <a:p>
            <a:pPr marL="0" indent="0">
              <a:lnSpc>
                <a:spcPct val="120000"/>
              </a:lnSpc>
              <a:buNone/>
            </a:pPr>
            <a:r>
              <a:rPr lang="en-US" sz="1050" b="1" dirty="0">
                <a:solidFill>
                  <a:srgbClr val="1E2761"/>
                </a:solidFill>
                <a:latin typeface="Calibri" pitchFamily="34" charset="0"/>
                <a:ea typeface="Calibri" pitchFamily="34" charset="-122"/>
                <a:cs typeface="Calibri" pitchFamily="34" charset="-120"/>
              </a:rPr>
              <a:t>Key Result: </a:t>
            </a:r>
            <a:r>
              <a:rPr lang="en-US" sz="1050" dirty="0">
                <a:solidFill>
                  <a:srgbClr val="222B45"/>
                </a:solidFill>
                <a:latin typeface="Calibri" pitchFamily="34" charset="0"/>
                <a:ea typeface="Calibri" pitchFamily="34" charset="-122"/>
                <a:cs typeface="Calibri" pitchFamily="34" charset="-120"/>
              </a:rPr>
              <a:t>The ranking approach is simple, efficient, and suitable for customer analysis in retail businesses, while reducing computational complexity.</a:t>
            </a:r>
            <a:endParaRPr lang="en-US" sz="1050" dirty="0"/>
          </a:p>
        </p:txBody>
      </p:sp>
      <p:sp>
        <p:nvSpPr>
          <p:cNvPr id="14" name="Shape 12"/>
          <p:cNvSpPr/>
          <p:nvPr/>
        </p:nvSpPr>
        <p:spPr>
          <a:xfrm>
            <a:off x="8101584" y="1874520"/>
            <a:ext cx="3520440" cy="4023360"/>
          </a:xfrm>
          <a:prstGeom prst="roundRect">
            <a:avLst>
              <a:gd name="adj" fmla="val 1818"/>
            </a:avLst>
          </a:prstGeom>
          <a:solidFill>
            <a:srgbClr val="F4F6FC"/>
          </a:solidFill>
          <a:ln/>
        </p:spPr>
        <p:txBody>
          <a:bodyPr/>
          <a:lstStyle/>
          <a:p>
            <a:endParaRPr lang="en-IN"/>
          </a:p>
        </p:txBody>
      </p:sp>
      <p:sp>
        <p:nvSpPr>
          <p:cNvPr id="15" name="Text 13"/>
          <p:cNvSpPr/>
          <p:nvPr/>
        </p:nvSpPr>
        <p:spPr>
          <a:xfrm>
            <a:off x="8330184" y="2020824"/>
            <a:ext cx="3063240" cy="502920"/>
          </a:xfrm>
          <a:prstGeom prst="rect">
            <a:avLst/>
          </a:prstGeom>
          <a:noFill/>
          <a:ln/>
        </p:spPr>
        <p:txBody>
          <a:bodyPr wrap="square" rtlCol="0" anchor="ctr"/>
          <a:lstStyle/>
          <a:p>
            <a:pPr marL="0" indent="0">
              <a:lnSpc>
                <a:spcPct val="110000"/>
              </a:lnSpc>
              <a:buNone/>
            </a:pPr>
            <a:r>
              <a:rPr lang="en-US" sz="1200" b="1" dirty="0">
                <a:solidFill>
                  <a:srgbClr val="1E2761"/>
                </a:solidFill>
                <a:latin typeface="Calibri" pitchFamily="34" charset="0"/>
                <a:ea typeface="Calibri" pitchFamily="34" charset="-122"/>
                <a:cs typeface="Calibri" pitchFamily="34" charset="-120"/>
              </a:rPr>
              <a:t>A. Quelal, I. Amaro, K. Chamorro</a:t>
            </a:r>
            <a:endParaRPr lang="en-US" sz="1200" dirty="0"/>
          </a:p>
        </p:txBody>
      </p:sp>
      <p:sp>
        <p:nvSpPr>
          <p:cNvPr id="16" name="Text 14"/>
          <p:cNvSpPr/>
          <p:nvPr/>
        </p:nvSpPr>
        <p:spPr>
          <a:xfrm>
            <a:off x="8330184" y="2478024"/>
            <a:ext cx="3063240" cy="274320"/>
          </a:xfrm>
          <a:prstGeom prst="rect">
            <a:avLst/>
          </a:prstGeom>
          <a:noFill/>
          <a:ln/>
        </p:spPr>
        <p:txBody>
          <a:bodyPr wrap="square" rtlCol="0" anchor="ctr"/>
          <a:lstStyle/>
          <a:p>
            <a:pPr marL="0" indent="0">
              <a:buNone/>
            </a:pPr>
            <a:r>
              <a:rPr lang="en-US" sz="1000" i="1" dirty="0">
                <a:solidFill>
                  <a:srgbClr val="C9A227"/>
                </a:solidFill>
                <a:latin typeface="Calibri" pitchFamily="34" charset="0"/>
                <a:ea typeface="Calibri" pitchFamily="34" charset="-122"/>
                <a:cs typeface="Calibri" pitchFamily="34" charset="-120"/>
              </a:rPr>
              <a:t>2024  |  Springer</a:t>
            </a:r>
            <a:endParaRPr lang="en-US" sz="1000" dirty="0"/>
          </a:p>
        </p:txBody>
      </p:sp>
      <p:sp>
        <p:nvSpPr>
          <p:cNvPr id="17" name="Text 15"/>
          <p:cNvSpPr/>
          <p:nvPr/>
        </p:nvSpPr>
        <p:spPr>
          <a:xfrm>
            <a:off x="8330184" y="2788920"/>
            <a:ext cx="3063240" cy="685800"/>
          </a:xfrm>
          <a:prstGeom prst="rect">
            <a:avLst/>
          </a:prstGeom>
          <a:noFill/>
          <a:ln/>
        </p:spPr>
        <p:txBody>
          <a:bodyPr wrap="square" rtlCol="0" anchor="ctr"/>
          <a:lstStyle/>
          <a:p>
            <a:pPr marL="0" indent="0">
              <a:lnSpc>
                <a:spcPct val="120000"/>
              </a:lnSpc>
              <a:buNone/>
            </a:pPr>
            <a:r>
              <a:rPr lang="en-US" sz="1050" b="1" dirty="0">
                <a:solidFill>
                  <a:srgbClr val="1E2761"/>
                </a:solidFill>
                <a:latin typeface="Calibri" pitchFamily="34" charset="0"/>
                <a:ea typeface="Calibri" pitchFamily="34" charset="-122"/>
                <a:cs typeface="Calibri" pitchFamily="34" charset="-120"/>
              </a:rPr>
              <a:t>Approach: </a:t>
            </a:r>
            <a:r>
              <a:rPr lang="en-US" sz="1050" dirty="0">
                <a:solidFill>
                  <a:srgbClr val="222B45"/>
                </a:solidFill>
                <a:latin typeface="Calibri" pitchFamily="34" charset="0"/>
                <a:ea typeface="Calibri" pitchFamily="34" charset="-122"/>
                <a:cs typeface="Calibri" pitchFamily="34" charset="-120"/>
              </a:rPr>
              <a:t>Combines K-Means clustering with Principal Component Analysis (PCA) to improve the visualization and interpretation of customer segments through PCA biplots.</a:t>
            </a:r>
            <a:endParaRPr lang="en-US" sz="1050" dirty="0"/>
          </a:p>
        </p:txBody>
      </p:sp>
      <p:sp>
        <p:nvSpPr>
          <p:cNvPr id="18" name="Text 16"/>
          <p:cNvSpPr/>
          <p:nvPr/>
        </p:nvSpPr>
        <p:spPr>
          <a:xfrm>
            <a:off x="8330184" y="3474720"/>
            <a:ext cx="3063240" cy="2286000"/>
          </a:xfrm>
          <a:prstGeom prst="rect">
            <a:avLst/>
          </a:prstGeom>
          <a:noFill/>
          <a:ln/>
        </p:spPr>
        <p:txBody>
          <a:bodyPr wrap="square" rtlCol="0" anchor="ctr"/>
          <a:lstStyle/>
          <a:p>
            <a:pPr marL="0" indent="0">
              <a:lnSpc>
                <a:spcPct val="120000"/>
              </a:lnSpc>
              <a:buNone/>
            </a:pPr>
            <a:r>
              <a:rPr lang="en-US" sz="1050" b="1" dirty="0">
                <a:solidFill>
                  <a:srgbClr val="1E2761"/>
                </a:solidFill>
                <a:latin typeface="Calibri" pitchFamily="34" charset="0"/>
                <a:ea typeface="Calibri" pitchFamily="34" charset="-122"/>
                <a:cs typeface="Calibri" pitchFamily="34" charset="-120"/>
              </a:rPr>
              <a:t>Key Result: </a:t>
            </a:r>
            <a:r>
              <a:rPr lang="en-US" sz="1050" dirty="0">
                <a:solidFill>
                  <a:srgbClr val="222B45"/>
                </a:solidFill>
                <a:latin typeface="Calibri" pitchFamily="34" charset="0"/>
                <a:ea typeface="Calibri" pitchFamily="34" charset="-122"/>
                <a:cs typeface="Calibri" pitchFamily="34" charset="-120"/>
              </a:rPr>
              <a:t>Visualizing clusters helps business users understand customer groups more easily than looking only at cluster labels.</a:t>
            </a:r>
            <a:endParaRPr lang="en-US" sz="1050" dirty="0"/>
          </a:p>
        </p:txBody>
      </p:sp>
      <p:sp>
        <p:nvSpPr>
          <p:cNvPr id="19" name="Text 17"/>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Literature Review (2 of 2)</a:t>
            </a:r>
            <a:endParaRPr lang="en-US" sz="2800" dirty="0"/>
          </a:p>
        </p:txBody>
      </p:sp>
      <p:sp>
        <p:nvSpPr>
          <p:cNvPr id="3" name="Shape 1"/>
          <p:cNvSpPr/>
          <p:nvPr/>
        </p:nvSpPr>
        <p:spPr>
          <a:xfrm>
            <a:off x="548640" y="1417320"/>
            <a:ext cx="5394960" cy="4206240"/>
          </a:xfrm>
          <a:prstGeom prst="roundRect">
            <a:avLst>
              <a:gd name="adj" fmla="val 1522"/>
            </a:avLst>
          </a:prstGeom>
          <a:solidFill>
            <a:srgbClr val="F4F6FC"/>
          </a:solidFill>
          <a:ln/>
        </p:spPr>
        <p:txBody>
          <a:bodyPr/>
          <a:lstStyle/>
          <a:p>
            <a:endParaRPr lang="en-IN"/>
          </a:p>
        </p:txBody>
      </p:sp>
      <p:sp>
        <p:nvSpPr>
          <p:cNvPr id="4" name="Text 2"/>
          <p:cNvSpPr/>
          <p:nvPr/>
        </p:nvSpPr>
        <p:spPr>
          <a:xfrm>
            <a:off x="777240" y="1563624"/>
            <a:ext cx="4937760" cy="502920"/>
          </a:xfrm>
          <a:prstGeom prst="rect">
            <a:avLst/>
          </a:prstGeom>
          <a:noFill/>
          <a:ln/>
        </p:spPr>
        <p:txBody>
          <a:bodyPr wrap="square" rtlCol="0" anchor="ctr"/>
          <a:lstStyle/>
          <a:p>
            <a:pPr marL="0" indent="0">
              <a:lnSpc>
                <a:spcPct val="110000"/>
              </a:lnSpc>
              <a:buNone/>
            </a:pPr>
            <a:r>
              <a:rPr lang="en-US" sz="1200" b="1" dirty="0">
                <a:solidFill>
                  <a:srgbClr val="1E2761"/>
                </a:solidFill>
                <a:latin typeface="Calibri" pitchFamily="34" charset="0"/>
                <a:ea typeface="Calibri" pitchFamily="34" charset="-122"/>
                <a:cs typeface="Calibri" pitchFamily="34" charset="-120"/>
              </a:rPr>
              <a:t>S. Arefin, R. Parvez, T. Ahmed, M. Ahsan, F. Sumaiya, F. Jahin, M. Hasan</a:t>
            </a:r>
            <a:endParaRPr lang="en-US" sz="1200" dirty="0"/>
          </a:p>
        </p:txBody>
      </p:sp>
      <p:sp>
        <p:nvSpPr>
          <p:cNvPr id="5" name="Text 3"/>
          <p:cNvSpPr/>
          <p:nvPr/>
        </p:nvSpPr>
        <p:spPr>
          <a:xfrm>
            <a:off x="777240" y="2020824"/>
            <a:ext cx="4937760" cy="274320"/>
          </a:xfrm>
          <a:prstGeom prst="rect">
            <a:avLst/>
          </a:prstGeom>
          <a:noFill/>
          <a:ln/>
        </p:spPr>
        <p:txBody>
          <a:bodyPr wrap="square" rtlCol="0" anchor="ctr"/>
          <a:lstStyle/>
          <a:p>
            <a:pPr marL="0" indent="0">
              <a:buNone/>
            </a:pPr>
            <a:r>
              <a:rPr lang="en-US" sz="1000" i="1" dirty="0">
                <a:solidFill>
                  <a:srgbClr val="C9A227"/>
                </a:solidFill>
                <a:latin typeface="Calibri" pitchFamily="34" charset="0"/>
                <a:ea typeface="Calibri" pitchFamily="34" charset="-122"/>
                <a:cs typeface="Calibri" pitchFamily="34" charset="-120"/>
              </a:rPr>
              <a:t>2024  |  IEEE International Conference on Electro Information Technology (eIT)</a:t>
            </a:r>
            <a:endParaRPr lang="en-US" sz="1000" dirty="0"/>
          </a:p>
        </p:txBody>
      </p:sp>
      <p:sp>
        <p:nvSpPr>
          <p:cNvPr id="6" name="Text 4"/>
          <p:cNvSpPr/>
          <p:nvPr/>
        </p:nvSpPr>
        <p:spPr>
          <a:xfrm>
            <a:off x="777240" y="2331720"/>
            <a:ext cx="4937760" cy="685800"/>
          </a:xfrm>
          <a:prstGeom prst="rect">
            <a:avLst/>
          </a:prstGeom>
          <a:noFill/>
          <a:ln/>
        </p:spPr>
        <p:txBody>
          <a:bodyPr wrap="square" rtlCol="0" anchor="ctr"/>
          <a:lstStyle/>
          <a:p>
            <a:pPr marL="0" indent="0">
              <a:lnSpc>
                <a:spcPct val="120000"/>
              </a:lnSpc>
              <a:buNone/>
            </a:pPr>
            <a:r>
              <a:rPr lang="en-US" sz="1050" b="1" dirty="0">
                <a:solidFill>
                  <a:srgbClr val="1E2761"/>
                </a:solidFill>
                <a:latin typeface="Calibri" pitchFamily="34" charset="0"/>
                <a:ea typeface="Calibri" pitchFamily="34" charset="-122"/>
                <a:cs typeface="Calibri" pitchFamily="34" charset="-120"/>
              </a:rPr>
              <a:t>Approach: </a:t>
            </a:r>
            <a:r>
              <a:rPr lang="en-US" sz="1050" dirty="0">
                <a:solidFill>
                  <a:srgbClr val="222B45"/>
                </a:solidFill>
                <a:latin typeface="Calibri" pitchFamily="34" charset="0"/>
                <a:ea typeface="Calibri" pitchFamily="34" charset="-122"/>
                <a:cs typeface="Calibri" pitchFamily="34" charset="-120"/>
              </a:rPr>
              <a:t>Applies RFM analysis together with several machine learning algorithms to predict customer lifetime value, preparing customer data using RFM features and evaluating Random Forest, Extra Trees, LightGBM, AdaBoost, and XGBoost.</a:t>
            </a:r>
            <a:endParaRPr lang="en-US" sz="1050" dirty="0"/>
          </a:p>
        </p:txBody>
      </p:sp>
      <p:sp>
        <p:nvSpPr>
          <p:cNvPr id="7" name="Text 5"/>
          <p:cNvSpPr/>
          <p:nvPr/>
        </p:nvSpPr>
        <p:spPr>
          <a:xfrm>
            <a:off x="777240" y="3017520"/>
            <a:ext cx="4937760" cy="2468880"/>
          </a:xfrm>
          <a:prstGeom prst="rect">
            <a:avLst/>
          </a:prstGeom>
          <a:noFill/>
          <a:ln/>
        </p:spPr>
        <p:txBody>
          <a:bodyPr wrap="square" rtlCol="0" anchor="ctr"/>
          <a:lstStyle/>
          <a:p>
            <a:pPr marL="0" indent="0">
              <a:lnSpc>
                <a:spcPct val="120000"/>
              </a:lnSpc>
              <a:buNone/>
            </a:pPr>
            <a:r>
              <a:rPr lang="en-US" sz="1050" b="1" dirty="0">
                <a:solidFill>
                  <a:srgbClr val="1E2761"/>
                </a:solidFill>
                <a:latin typeface="Calibri" pitchFamily="34" charset="0"/>
                <a:ea typeface="Calibri" pitchFamily="34" charset="-122"/>
                <a:cs typeface="Calibri" pitchFamily="34" charset="-120"/>
              </a:rPr>
              <a:t>Key Result: </a:t>
            </a:r>
            <a:r>
              <a:rPr lang="en-US" sz="1050" dirty="0">
                <a:solidFill>
                  <a:srgbClr val="222B45"/>
                </a:solidFill>
                <a:latin typeface="Calibri" pitchFamily="34" charset="0"/>
                <a:ea typeface="Calibri" pitchFamily="34" charset="-122"/>
                <a:cs typeface="Calibri" pitchFamily="34" charset="-120"/>
              </a:rPr>
              <a:t>Among the tested models, XGBoost and Extra Trees achieved the best prediction performance, showing high accuracy in identifying customer value groups.</a:t>
            </a:r>
            <a:endParaRPr lang="en-US" sz="1050" dirty="0"/>
          </a:p>
        </p:txBody>
      </p:sp>
      <p:sp>
        <p:nvSpPr>
          <p:cNvPr id="8" name="Shape 6"/>
          <p:cNvSpPr/>
          <p:nvPr/>
        </p:nvSpPr>
        <p:spPr>
          <a:xfrm>
            <a:off x="6263640" y="1417320"/>
            <a:ext cx="5394960" cy="4206240"/>
          </a:xfrm>
          <a:prstGeom prst="roundRect">
            <a:avLst>
              <a:gd name="adj" fmla="val 1522"/>
            </a:avLst>
          </a:prstGeom>
          <a:solidFill>
            <a:srgbClr val="F4F6FC"/>
          </a:solidFill>
          <a:ln/>
        </p:spPr>
        <p:txBody>
          <a:bodyPr/>
          <a:lstStyle/>
          <a:p>
            <a:endParaRPr lang="en-IN"/>
          </a:p>
        </p:txBody>
      </p:sp>
      <p:sp>
        <p:nvSpPr>
          <p:cNvPr id="9" name="Text 7"/>
          <p:cNvSpPr/>
          <p:nvPr/>
        </p:nvSpPr>
        <p:spPr>
          <a:xfrm>
            <a:off x="6492240" y="1563624"/>
            <a:ext cx="4937760" cy="502920"/>
          </a:xfrm>
          <a:prstGeom prst="rect">
            <a:avLst/>
          </a:prstGeom>
          <a:noFill/>
          <a:ln/>
        </p:spPr>
        <p:txBody>
          <a:bodyPr wrap="square" rtlCol="0" anchor="ctr"/>
          <a:lstStyle/>
          <a:p>
            <a:pPr marL="0" indent="0">
              <a:lnSpc>
                <a:spcPct val="110000"/>
              </a:lnSpc>
              <a:buNone/>
            </a:pPr>
            <a:r>
              <a:rPr lang="en-US" sz="1200" b="1" dirty="0">
                <a:solidFill>
                  <a:srgbClr val="1E2761"/>
                </a:solidFill>
                <a:latin typeface="Calibri" pitchFamily="34" charset="0"/>
                <a:ea typeface="Calibri" pitchFamily="34" charset="-122"/>
                <a:cs typeface="Calibri" pitchFamily="34" charset="-120"/>
              </a:rPr>
              <a:t>X. Xiahou, Y. Harada</a:t>
            </a:r>
            <a:endParaRPr lang="en-US" sz="1200" dirty="0"/>
          </a:p>
        </p:txBody>
      </p:sp>
      <p:sp>
        <p:nvSpPr>
          <p:cNvPr id="10" name="Text 8"/>
          <p:cNvSpPr/>
          <p:nvPr/>
        </p:nvSpPr>
        <p:spPr>
          <a:xfrm>
            <a:off x="6492240" y="2020824"/>
            <a:ext cx="4937760" cy="274320"/>
          </a:xfrm>
          <a:prstGeom prst="rect">
            <a:avLst/>
          </a:prstGeom>
          <a:noFill/>
          <a:ln/>
        </p:spPr>
        <p:txBody>
          <a:bodyPr wrap="square" rtlCol="0" anchor="ctr"/>
          <a:lstStyle/>
          <a:p>
            <a:pPr marL="0" indent="0">
              <a:buNone/>
            </a:pPr>
            <a:r>
              <a:rPr lang="en-US" sz="1000" i="1" dirty="0">
                <a:solidFill>
                  <a:srgbClr val="C9A227"/>
                </a:solidFill>
                <a:latin typeface="Calibri" pitchFamily="34" charset="0"/>
                <a:ea typeface="Calibri" pitchFamily="34" charset="-122"/>
                <a:cs typeface="Calibri" pitchFamily="34" charset="-120"/>
              </a:rPr>
              <a:t>2022  |  Journal of Theoretical and Applied Electronic Commerce Research (MDPI)</a:t>
            </a:r>
            <a:endParaRPr lang="en-US" sz="1000" dirty="0"/>
          </a:p>
        </p:txBody>
      </p:sp>
      <p:sp>
        <p:nvSpPr>
          <p:cNvPr id="11" name="Text 9"/>
          <p:cNvSpPr/>
          <p:nvPr/>
        </p:nvSpPr>
        <p:spPr>
          <a:xfrm>
            <a:off x="6492240" y="2331720"/>
            <a:ext cx="4937760" cy="685800"/>
          </a:xfrm>
          <a:prstGeom prst="rect">
            <a:avLst/>
          </a:prstGeom>
          <a:noFill/>
          <a:ln/>
        </p:spPr>
        <p:txBody>
          <a:bodyPr wrap="square" rtlCol="0" anchor="ctr"/>
          <a:lstStyle/>
          <a:p>
            <a:pPr marL="0" indent="0">
              <a:lnSpc>
                <a:spcPct val="120000"/>
              </a:lnSpc>
              <a:buNone/>
            </a:pPr>
            <a:r>
              <a:rPr lang="en-US" sz="1050" b="1" dirty="0">
                <a:solidFill>
                  <a:srgbClr val="1E2761"/>
                </a:solidFill>
                <a:latin typeface="Calibri" pitchFamily="34" charset="0"/>
                <a:ea typeface="Calibri" pitchFamily="34" charset="-122"/>
                <a:cs typeface="Calibri" pitchFamily="34" charset="-120"/>
              </a:rPr>
              <a:t>Approach: </a:t>
            </a:r>
            <a:r>
              <a:rPr lang="en-US" sz="1050" dirty="0">
                <a:solidFill>
                  <a:srgbClr val="222B45"/>
                </a:solidFill>
                <a:latin typeface="Calibri" pitchFamily="34" charset="0"/>
                <a:ea typeface="Calibri" pitchFamily="34" charset="-122"/>
                <a:cs typeface="Calibri" pitchFamily="34" charset="-120"/>
              </a:rPr>
              <a:t>Focuses on predicting customer churn in e-commerce by first dividing customers into groups using K-Means clustering, then applying a Support Vector Machine (SVM) model to predict which customers are likely to stop purchasing.</a:t>
            </a:r>
            <a:endParaRPr lang="en-US" sz="1050" dirty="0"/>
          </a:p>
        </p:txBody>
      </p:sp>
      <p:sp>
        <p:nvSpPr>
          <p:cNvPr id="12" name="Text 10"/>
          <p:cNvSpPr/>
          <p:nvPr/>
        </p:nvSpPr>
        <p:spPr>
          <a:xfrm>
            <a:off x="6492240" y="3017520"/>
            <a:ext cx="4937760" cy="2468880"/>
          </a:xfrm>
          <a:prstGeom prst="rect">
            <a:avLst/>
          </a:prstGeom>
          <a:noFill/>
          <a:ln/>
        </p:spPr>
        <p:txBody>
          <a:bodyPr wrap="square" rtlCol="0" anchor="ctr"/>
          <a:lstStyle/>
          <a:p>
            <a:pPr marL="0" indent="0">
              <a:lnSpc>
                <a:spcPct val="120000"/>
              </a:lnSpc>
              <a:buNone/>
            </a:pPr>
            <a:r>
              <a:rPr lang="en-US" sz="1050" b="1" dirty="0">
                <a:solidFill>
                  <a:srgbClr val="1E2761"/>
                </a:solidFill>
                <a:latin typeface="Calibri" pitchFamily="34" charset="0"/>
                <a:ea typeface="Calibri" pitchFamily="34" charset="-122"/>
                <a:cs typeface="Calibri" pitchFamily="34" charset="-120"/>
              </a:rPr>
              <a:t>Key Result: </a:t>
            </a:r>
            <a:r>
              <a:rPr lang="en-US" sz="1050" dirty="0">
                <a:solidFill>
                  <a:srgbClr val="222B45"/>
                </a:solidFill>
                <a:latin typeface="Calibri" pitchFamily="34" charset="0"/>
                <a:ea typeface="Calibri" pitchFamily="34" charset="-122"/>
                <a:cs typeface="Calibri" pitchFamily="34" charset="-120"/>
              </a:rPr>
              <a:t>Combining clustering with machine learning improves prediction performance compared to using SVM alone.</a:t>
            </a:r>
            <a:endParaRPr lang="en-US" sz="1050" dirty="0"/>
          </a:p>
        </p:txBody>
      </p:sp>
      <p:sp>
        <p:nvSpPr>
          <p:cNvPr id="13" name="Text 1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Dataset Understanding</a:t>
            </a:r>
            <a:endParaRPr lang="en-US" sz="2800" dirty="0"/>
          </a:p>
        </p:txBody>
      </p:sp>
      <p:sp>
        <p:nvSpPr>
          <p:cNvPr id="3" name="Text 1"/>
          <p:cNvSpPr/>
          <p:nvPr/>
        </p:nvSpPr>
        <p:spPr>
          <a:xfrm>
            <a:off x="548640" y="1280160"/>
            <a:ext cx="10881360" cy="365760"/>
          </a:xfrm>
          <a:prstGeom prst="rect">
            <a:avLst/>
          </a:prstGeom>
          <a:noFill/>
          <a:ln/>
        </p:spPr>
        <p:txBody>
          <a:bodyPr wrap="square" rtlCol="0" anchor="ctr"/>
          <a:lstStyle/>
          <a:p>
            <a:pPr marL="0" indent="0">
              <a:buNone/>
            </a:pPr>
            <a:r>
              <a:rPr lang="en-US" sz="1300" dirty="0">
                <a:solidFill>
                  <a:srgbClr val="5B6478"/>
                </a:solidFill>
                <a:latin typeface="Calibri" pitchFamily="34" charset="0"/>
                <a:ea typeface="Calibri" pitchFamily="34" charset="-122"/>
                <a:cs typeface="Calibri" pitchFamily="34" charset="-120"/>
              </a:rPr>
              <a:t>Eight raw attributes, each with a distinct role and an associated data-quality consideration.</a:t>
            </a:r>
            <a:endParaRPr lang="en-US" sz="1300" dirty="0"/>
          </a:p>
        </p:txBody>
      </p:sp>
      <p:sp>
        <p:nvSpPr>
          <p:cNvPr id="4" name="Shape 2"/>
          <p:cNvSpPr/>
          <p:nvPr/>
        </p:nvSpPr>
        <p:spPr>
          <a:xfrm>
            <a:off x="548640" y="1828800"/>
            <a:ext cx="11109960" cy="457200"/>
          </a:xfrm>
          <a:prstGeom prst="rect">
            <a:avLst/>
          </a:prstGeom>
          <a:solidFill>
            <a:srgbClr val="1E2761"/>
          </a:solidFill>
          <a:ln/>
        </p:spPr>
        <p:txBody>
          <a:bodyPr/>
          <a:lstStyle/>
          <a:p>
            <a:endParaRPr lang="en-IN"/>
          </a:p>
        </p:txBody>
      </p:sp>
      <p:sp>
        <p:nvSpPr>
          <p:cNvPr id="5" name="Text 3"/>
          <p:cNvSpPr/>
          <p:nvPr/>
        </p:nvSpPr>
        <p:spPr>
          <a:xfrm>
            <a:off x="685800" y="1828800"/>
            <a:ext cx="2194560"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Attribute</a:t>
            </a:r>
            <a:endParaRPr lang="en-US" sz="1250" dirty="0"/>
          </a:p>
        </p:txBody>
      </p:sp>
      <p:sp>
        <p:nvSpPr>
          <p:cNvPr id="6" name="Text 4"/>
          <p:cNvSpPr/>
          <p:nvPr/>
        </p:nvSpPr>
        <p:spPr>
          <a:xfrm>
            <a:off x="3063240" y="1828800"/>
            <a:ext cx="1371600"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Type</a:t>
            </a:r>
            <a:endParaRPr lang="en-US" sz="1250" dirty="0"/>
          </a:p>
        </p:txBody>
      </p:sp>
      <p:sp>
        <p:nvSpPr>
          <p:cNvPr id="7" name="Text 5"/>
          <p:cNvSpPr/>
          <p:nvPr/>
        </p:nvSpPr>
        <p:spPr>
          <a:xfrm>
            <a:off x="4617720" y="1828800"/>
            <a:ext cx="2560320"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Example</a:t>
            </a:r>
            <a:endParaRPr lang="en-US" sz="1250" dirty="0"/>
          </a:p>
        </p:txBody>
      </p:sp>
      <p:sp>
        <p:nvSpPr>
          <p:cNvPr id="8" name="Text 6"/>
          <p:cNvSpPr/>
          <p:nvPr/>
        </p:nvSpPr>
        <p:spPr>
          <a:xfrm>
            <a:off x="7360920" y="1828800"/>
            <a:ext cx="4251960"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Issue</a:t>
            </a:r>
            <a:endParaRPr lang="en-US" sz="1250" dirty="0"/>
          </a:p>
        </p:txBody>
      </p:sp>
      <p:sp>
        <p:nvSpPr>
          <p:cNvPr id="9" name="Text 7"/>
          <p:cNvSpPr/>
          <p:nvPr/>
        </p:nvSpPr>
        <p:spPr>
          <a:xfrm>
            <a:off x="685800" y="2286000"/>
            <a:ext cx="2148840" cy="489204"/>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Invoice</a:t>
            </a:r>
            <a:endParaRPr lang="en-US" sz="1150" dirty="0"/>
          </a:p>
        </p:txBody>
      </p:sp>
      <p:sp>
        <p:nvSpPr>
          <p:cNvPr id="10" name="Text 8"/>
          <p:cNvSpPr/>
          <p:nvPr/>
        </p:nvSpPr>
        <p:spPr>
          <a:xfrm>
            <a:off x="3063240" y="2286000"/>
            <a:ext cx="132588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String</a:t>
            </a:r>
            <a:endParaRPr lang="en-US" sz="1150" dirty="0"/>
          </a:p>
        </p:txBody>
      </p:sp>
      <p:sp>
        <p:nvSpPr>
          <p:cNvPr id="11" name="Text 9"/>
          <p:cNvSpPr/>
          <p:nvPr/>
        </p:nvSpPr>
        <p:spPr>
          <a:xfrm>
            <a:off x="4617720" y="2286000"/>
            <a:ext cx="251460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489434</a:t>
            </a:r>
            <a:endParaRPr lang="en-US" sz="1150" dirty="0"/>
          </a:p>
        </p:txBody>
      </p:sp>
      <p:sp>
        <p:nvSpPr>
          <p:cNvPr id="12" name="Text 10"/>
          <p:cNvSpPr/>
          <p:nvPr/>
        </p:nvSpPr>
        <p:spPr>
          <a:xfrm>
            <a:off x="7360920" y="2286000"/>
            <a:ext cx="420624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'C' prefix = cancelled order</a:t>
            </a:r>
            <a:endParaRPr lang="en-US" sz="1150" dirty="0"/>
          </a:p>
        </p:txBody>
      </p:sp>
      <p:sp>
        <p:nvSpPr>
          <p:cNvPr id="13" name="Shape 11"/>
          <p:cNvSpPr/>
          <p:nvPr/>
        </p:nvSpPr>
        <p:spPr>
          <a:xfrm>
            <a:off x="548640" y="2775204"/>
            <a:ext cx="11109960" cy="489204"/>
          </a:xfrm>
          <a:prstGeom prst="rect">
            <a:avLst/>
          </a:prstGeom>
          <a:solidFill>
            <a:srgbClr val="F4F6FC"/>
          </a:solidFill>
          <a:ln/>
        </p:spPr>
        <p:txBody>
          <a:bodyPr/>
          <a:lstStyle/>
          <a:p>
            <a:endParaRPr lang="en-IN"/>
          </a:p>
        </p:txBody>
      </p:sp>
      <p:sp>
        <p:nvSpPr>
          <p:cNvPr id="14" name="Text 12"/>
          <p:cNvSpPr/>
          <p:nvPr/>
        </p:nvSpPr>
        <p:spPr>
          <a:xfrm>
            <a:off x="685800" y="2775204"/>
            <a:ext cx="2148840" cy="489204"/>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StockCode</a:t>
            </a:r>
            <a:endParaRPr lang="en-US" sz="1150" dirty="0"/>
          </a:p>
        </p:txBody>
      </p:sp>
      <p:sp>
        <p:nvSpPr>
          <p:cNvPr id="15" name="Text 13"/>
          <p:cNvSpPr/>
          <p:nvPr/>
        </p:nvSpPr>
        <p:spPr>
          <a:xfrm>
            <a:off x="3063240" y="2775204"/>
            <a:ext cx="132588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String</a:t>
            </a:r>
            <a:endParaRPr lang="en-US" sz="1150" dirty="0"/>
          </a:p>
        </p:txBody>
      </p:sp>
      <p:sp>
        <p:nvSpPr>
          <p:cNvPr id="16" name="Text 14"/>
          <p:cNvSpPr/>
          <p:nvPr/>
        </p:nvSpPr>
        <p:spPr>
          <a:xfrm>
            <a:off x="4617720" y="2775204"/>
            <a:ext cx="251460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85048</a:t>
            </a:r>
            <a:endParaRPr lang="en-US" sz="1150" dirty="0"/>
          </a:p>
        </p:txBody>
      </p:sp>
      <p:sp>
        <p:nvSpPr>
          <p:cNvPr id="17" name="Text 15"/>
          <p:cNvSpPr/>
          <p:nvPr/>
        </p:nvSpPr>
        <p:spPr>
          <a:xfrm>
            <a:off x="7360920" y="2775204"/>
            <a:ext cx="420624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A few codes aren't real products</a:t>
            </a:r>
            <a:endParaRPr lang="en-US" sz="1150" dirty="0"/>
          </a:p>
        </p:txBody>
      </p:sp>
      <p:sp>
        <p:nvSpPr>
          <p:cNvPr id="18" name="Text 16"/>
          <p:cNvSpPr/>
          <p:nvPr/>
        </p:nvSpPr>
        <p:spPr>
          <a:xfrm>
            <a:off x="685800" y="3264408"/>
            <a:ext cx="2148840" cy="489204"/>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Description</a:t>
            </a:r>
            <a:endParaRPr lang="en-US" sz="1150" dirty="0"/>
          </a:p>
        </p:txBody>
      </p:sp>
      <p:sp>
        <p:nvSpPr>
          <p:cNvPr id="19" name="Text 17"/>
          <p:cNvSpPr/>
          <p:nvPr/>
        </p:nvSpPr>
        <p:spPr>
          <a:xfrm>
            <a:off x="3063240" y="3264408"/>
            <a:ext cx="132588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Text</a:t>
            </a:r>
            <a:endParaRPr lang="en-US" sz="1150" dirty="0"/>
          </a:p>
        </p:txBody>
      </p:sp>
      <p:sp>
        <p:nvSpPr>
          <p:cNvPr id="20" name="Text 18"/>
          <p:cNvSpPr/>
          <p:nvPr/>
        </p:nvSpPr>
        <p:spPr>
          <a:xfrm>
            <a:off x="4617720" y="3264408"/>
            <a:ext cx="251460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PINK CHERRY LIGHTS</a:t>
            </a:r>
            <a:endParaRPr lang="en-US" sz="1150" dirty="0"/>
          </a:p>
        </p:txBody>
      </p:sp>
      <p:sp>
        <p:nvSpPr>
          <p:cNvPr id="21" name="Text 19"/>
          <p:cNvSpPr/>
          <p:nvPr/>
        </p:nvSpPr>
        <p:spPr>
          <a:xfrm>
            <a:off x="7360920" y="3264408"/>
            <a:ext cx="420624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Inconsistent casing/spacing</a:t>
            </a:r>
            <a:endParaRPr lang="en-US" sz="1150" dirty="0"/>
          </a:p>
        </p:txBody>
      </p:sp>
      <p:sp>
        <p:nvSpPr>
          <p:cNvPr id="22" name="Shape 20"/>
          <p:cNvSpPr/>
          <p:nvPr/>
        </p:nvSpPr>
        <p:spPr>
          <a:xfrm>
            <a:off x="548640" y="3753612"/>
            <a:ext cx="11109960" cy="489204"/>
          </a:xfrm>
          <a:prstGeom prst="rect">
            <a:avLst/>
          </a:prstGeom>
          <a:solidFill>
            <a:srgbClr val="F4F6FC"/>
          </a:solidFill>
          <a:ln/>
        </p:spPr>
        <p:txBody>
          <a:bodyPr/>
          <a:lstStyle/>
          <a:p>
            <a:endParaRPr lang="en-IN"/>
          </a:p>
        </p:txBody>
      </p:sp>
      <p:sp>
        <p:nvSpPr>
          <p:cNvPr id="23" name="Text 21"/>
          <p:cNvSpPr/>
          <p:nvPr/>
        </p:nvSpPr>
        <p:spPr>
          <a:xfrm>
            <a:off x="685800" y="3753612"/>
            <a:ext cx="2148840" cy="489204"/>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Quantity</a:t>
            </a:r>
            <a:endParaRPr lang="en-US" sz="1150" dirty="0"/>
          </a:p>
        </p:txBody>
      </p:sp>
      <p:sp>
        <p:nvSpPr>
          <p:cNvPr id="24" name="Text 22"/>
          <p:cNvSpPr/>
          <p:nvPr/>
        </p:nvSpPr>
        <p:spPr>
          <a:xfrm>
            <a:off x="3063240" y="3753612"/>
            <a:ext cx="132588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Integer</a:t>
            </a:r>
            <a:endParaRPr lang="en-US" sz="1150" dirty="0"/>
          </a:p>
        </p:txBody>
      </p:sp>
      <p:sp>
        <p:nvSpPr>
          <p:cNvPr id="25" name="Text 23"/>
          <p:cNvSpPr/>
          <p:nvPr/>
        </p:nvSpPr>
        <p:spPr>
          <a:xfrm>
            <a:off x="4617720" y="3753612"/>
            <a:ext cx="251460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12</a:t>
            </a:r>
            <a:endParaRPr lang="en-US" sz="1150" dirty="0"/>
          </a:p>
        </p:txBody>
      </p:sp>
      <p:sp>
        <p:nvSpPr>
          <p:cNvPr id="26" name="Text 24"/>
          <p:cNvSpPr/>
          <p:nvPr/>
        </p:nvSpPr>
        <p:spPr>
          <a:xfrm>
            <a:off x="7360920" y="3753612"/>
            <a:ext cx="420624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Negative = return</a:t>
            </a:r>
            <a:endParaRPr lang="en-US" sz="1150" dirty="0"/>
          </a:p>
        </p:txBody>
      </p:sp>
      <p:sp>
        <p:nvSpPr>
          <p:cNvPr id="27" name="Text 25"/>
          <p:cNvSpPr/>
          <p:nvPr/>
        </p:nvSpPr>
        <p:spPr>
          <a:xfrm>
            <a:off x="685800" y="4242816"/>
            <a:ext cx="2148840" cy="489204"/>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InvoiceDate</a:t>
            </a:r>
            <a:endParaRPr lang="en-US" sz="1150" dirty="0"/>
          </a:p>
        </p:txBody>
      </p:sp>
      <p:sp>
        <p:nvSpPr>
          <p:cNvPr id="28" name="Text 26"/>
          <p:cNvSpPr/>
          <p:nvPr/>
        </p:nvSpPr>
        <p:spPr>
          <a:xfrm>
            <a:off x="3063240" y="4242816"/>
            <a:ext cx="132588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Date-Time</a:t>
            </a:r>
            <a:endParaRPr lang="en-US" sz="1150" dirty="0"/>
          </a:p>
        </p:txBody>
      </p:sp>
      <p:sp>
        <p:nvSpPr>
          <p:cNvPr id="29" name="Text 27"/>
          <p:cNvSpPr/>
          <p:nvPr/>
        </p:nvSpPr>
        <p:spPr>
          <a:xfrm>
            <a:off x="4617720" y="4242816"/>
            <a:ext cx="251460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01-12-2009 07:45</a:t>
            </a:r>
            <a:endParaRPr lang="en-US" sz="1150" dirty="0"/>
          </a:p>
        </p:txBody>
      </p:sp>
      <p:sp>
        <p:nvSpPr>
          <p:cNvPr id="30" name="Text 28"/>
          <p:cNvSpPr/>
          <p:nvPr/>
        </p:nvSpPr>
        <p:spPr>
          <a:xfrm>
            <a:off x="7360920" y="4242816"/>
            <a:ext cx="420624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Stored as text; needs conversion</a:t>
            </a:r>
            <a:endParaRPr lang="en-US" sz="1150" dirty="0"/>
          </a:p>
        </p:txBody>
      </p:sp>
      <p:sp>
        <p:nvSpPr>
          <p:cNvPr id="31" name="Shape 29"/>
          <p:cNvSpPr/>
          <p:nvPr/>
        </p:nvSpPr>
        <p:spPr>
          <a:xfrm>
            <a:off x="548640" y="4732020"/>
            <a:ext cx="11109960" cy="489204"/>
          </a:xfrm>
          <a:prstGeom prst="rect">
            <a:avLst/>
          </a:prstGeom>
          <a:solidFill>
            <a:srgbClr val="F4F6FC"/>
          </a:solidFill>
          <a:ln/>
        </p:spPr>
        <p:txBody>
          <a:bodyPr/>
          <a:lstStyle/>
          <a:p>
            <a:endParaRPr lang="en-IN"/>
          </a:p>
        </p:txBody>
      </p:sp>
      <p:sp>
        <p:nvSpPr>
          <p:cNvPr id="32" name="Text 30"/>
          <p:cNvSpPr/>
          <p:nvPr/>
        </p:nvSpPr>
        <p:spPr>
          <a:xfrm>
            <a:off x="685800" y="4732020"/>
            <a:ext cx="2148840" cy="489204"/>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Price</a:t>
            </a:r>
            <a:endParaRPr lang="en-US" sz="1150" dirty="0"/>
          </a:p>
        </p:txBody>
      </p:sp>
      <p:sp>
        <p:nvSpPr>
          <p:cNvPr id="33" name="Text 31"/>
          <p:cNvSpPr/>
          <p:nvPr/>
        </p:nvSpPr>
        <p:spPr>
          <a:xfrm>
            <a:off x="3063240" y="4732020"/>
            <a:ext cx="132588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Decimal</a:t>
            </a:r>
            <a:endParaRPr lang="en-US" sz="1150" dirty="0"/>
          </a:p>
        </p:txBody>
      </p:sp>
      <p:sp>
        <p:nvSpPr>
          <p:cNvPr id="34" name="Text 32"/>
          <p:cNvSpPr/>
          <p:nvPr/>
        </p:nvSpPr>
        <p:spPr>
          <a:xfrm>
            <a:off x="4617720" y="4732020"/>
            <a:ext cx="251460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6.95</a:t>
            </a:r>
            <a:endParaRPr lang="en-US" sz="1150" dirty="0"/>
          </a:p>
        </p:txBody>
      </p:sp>
      <p:sp>
        <p:nvSpPr>
          <p:cNvPr id="35" name="Text 33"/>
          <p:cNvSpPr/>
          <p:nvPr/>
        </p:nvSpPr>
        <p:spPr>
          <a:xfrm>
            <a:off x="7360920" y="4732020"/>
            <a:ext cx="420624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Zero/negative = data error</a:t>
            </a:r>
            <a:endParaRPr lang="en-US" sz="1150" dirty="0"/>
          </a:p>
        </p:txBody>
      </p:sp>
      <p:sp>
        <p:nvSpPr>
          <p:cNvPr id="36" name="Text 34"/>
          <p:cNvSpPr/>
          <p:nvPr/>
        </p:nvSpPr>
        <p:spPr>
          <a:xfrm>
            <a:off x="685800" y="5221224"/>
            <a:ext cx="2148840" cy="489204"/>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Customer ID</a:t>
            </a:r>
            <a:endParaRPr lang="en-US" sz="1150" dirty="0"/>
          </a:p>
        </p:txBody>
      </p:sp>
      <p:sp>
        <p:nvSpPr>
          <p:cNvPr id="37" name="Text 35"/>
          <p:cNvSpPr/>
          <p:nvPr/>
        </p:nvSpPr>
        <p:spPr>
          <a:xfrm>
            <a:off x="3063240" y="5221224"/>
            <a:ext cx="132588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Numeric</a:t>
            </a:r>
            <a:endParaRPr lang="en-US" sz="1150" dirty="0"/>
          </a:p>
        </p:txBody>
      </p:sp>
      <p:sp>
        <p:nvSpPr>
          <p:cNvPr id="38" name="Text 36"/>
          <p:cNvSpPr/>
          <p:nvPr/>
        </p:nvSpPr>
        <p:spPr>
          <a:xfrm>
            <a:off x="4617720" y="5221224"/>
            <a:ext cx="251460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13085</a:t>
            </a:r>
            <a:endParaRPr lang="en-US" sz="1150" dirty="0"/>
          </a:p>
        </p:txBody>
      </p:sp>
      <p:sp>
        <p:nvSpPr>
          <p:cNvPr id="39" name="Text 37"/>
          <p:cNvSpPr/>
          <p:nvPr/>
        </p:nvSpPr>
        <p:spPr>
          <a:xfrm>
            <a:off x="7360920" y="5221224"/>
            <a:ext cx="420624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~23% missing (guest checkouts)</a:t>
            </a:r>
            <a:endParaRPr lang="en-US" sz="1150" dirty="0"/>
          </a:p>
        </p:txBody>
      </p:sp>
      <p:sp>
        <p:nvSpPr>
          <p:cNvPr id="40" name="Shape 38"/>
          <p:cNvSpPr/>
          <p:nvPr/>
        </p:nvSpPr>
        <p:spPr>
          <a:xfrm>
            <a:off x="548640" y="5710428"/>
            <a:ext cx="11109960" cy="489204"/>
          </a:xfrm>
          <a:prstGeom prst="rect">
            <a:avLst/>
          </a:prstGeom>
          <a:solidFill>
            <a:srgbClr val="F4F6FC"/>
          </a:solidFill>
          <a:ln/>
        </p:spPr>
        <p:txBody>
          <a:bodyPr/>
          <a:lstStyle/>
          <a:p>
            <a:endParaRPr lang="en-IN"/>
          </a:p>
        </p:txBody>
      </p:sp>
      <p:sp>
        <p:nvSpPr>
          <p:cNvPr id="41" name="Text 39"/>
          <p:cNvSpPr/>
          <p:nvPr/>
        </p:nvSpPr>
        <p:spPr>
          <a:xfrm>
            <a:off x="685800" y="5710428"/>
            <a:ext cx="2148840" cy="489204"/>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Country</a:t>
            </a:r>
            <a:endParaRPr lang="en-US" sz="1150" dirty="0"/>
          </a:p>
        </p:txBody>
      </p:sp>
      <p:sp>
        <p:nvSpPr>
          <p:cNvPr id="42" name="Text 40"/>
          <p:cNvSpPr/>
          <p:nvPr/>
        </p:nvSpPr>
        <p:spPr>
          <a:xfrm>
            <a:off x="3063240" y="5710428"/>
            <a:ext cx="132588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Categorical</a:t>
            </a:r>
            <a:endParaRPr lang="en-US" sz="1150" dirty="0"/>
          </a:p>
        </p:txBody>
      </p:sp>
      <p:sp>
        <p:nvSpPr>
          <p:cNvPr id="43" name="Text 41"/>
          <p:cNvSpPr/>
          <p:nvPr/>
        </p:nvSpPr>
        <p:spPr>
          <a:xfrm>
            <a:off x="4617720" y="5710428"/>
            <a:ext cx="251460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United Kingdom</a:t>
            </a:r>
            <a:endParaRPr lang="en-US" sz="1150" dirty="0"/>
          </a:p>
        </p:txBody>
      </p:sp>
      <p:sp>
        <p:nvSpPr>
          <p:cNvPr id="44" name="Text 42"/>
          <p:cNvSpPr/>
          <p:nvPr/>
        </p:nvSpPr>
        <p:spPr>
          <a:xfrm>
            <a:off x="7360920" y="5710428"/>
            <a:ext cx="4206240" cy="489204"/>
          </a:xfrm>
          <a:prstGeom prst="rect">
            <a:avLst/>
          </a:prstGeom>
          <a:noFill/>
          <a:ln/>
        </p:spPr>
        <p:txBody>
          <a:bodyPr wrap="square" rtlCol="0" anchor="ctr"/>
          <a:lstStyle/>
          <a:p>
            <a:pPr marL="0" indent="0">
              <a:buNone/>
            </a:pPr>
            <a:r>
              <a:rPr lang="en-US" sz="1150" dirty="0">
                <a:solidFill>
                  <a:srgbClr val="222B45"/>
                </a:solidFill>
                <a:latin typeface="Calibri" pitchFamily="34" charset="0"/>
                <a:ea typeface="Calibri" pitchFamily="34" charset="-122"/>
                <a:cs typeface="Calibri" pitchFamily="34" charset="-120"/>
              </a:rPr>
              <a:t>Heavily skewed toward UK</a:t>
            </a:r>
            <a:endParaRPr lang="en-US" sz="1150" dirty="0"/>
          </a:p>
        </p:txBody>
      </p:sp>
      <p:sp>
        <p:nvSpPr>
          <p:cNvPr id="45" name="Text 4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Preprocessing: Row-Count Summary</a:t>
            </a:r>
            <a:endParaRPr lang="en-US" sz="2800" dirty="0"/>
          </a:p>
        </p:txBody>
      </p:sp>
      <p:sp>
        <p:nvSpPr>
          <p:cNvPr id="3" name="Text 1"/>
          <p:cNvSpPr/>
          <p:nvPr/>
        </p:nvSpPr>
        <p:spPr>
          <a:xfrm>
            <a:off x="548640" y="1280160"/>
            <a:ext cx="10881360" cy="365760"/>
          </a:xfrm>
          <a:prstGeom prst="rect">
            <a:avLst/>
          </a:prstGeom>
          <a:noFill/>
          <a:ln/>
        </p:spPr>
        <p:txBody>
          <a:bodyPr wrap="square" rtlCol="0" anchor="ctr"/>
          <a:lstStyle/>
          <a:p>
            <a:pPr marL="0" indent="0">
              <a:buNone/>
            </a:pPr>
            <a:r>
              <a:rPr lang="en-US" sz="1300" dirty="0">
                <a:solidFill>
                  <a:srgbClr val="5B6478"/>
                </a:solidFill>
                <a:latin typeface="Calibri" pitchFamily="34" charset="0"/>
                <a:ea typeface="Calibri" pitchFamily="34" charset="-122"/>
                <a:cs typeface="Calibri" pitchFamily="34" charset="-120"/>
              </a:rPr>
              <a:t>Fourteen R-based preprocessing steps were executed sequentially. Row counts at each major milestone:</a:t>
            </a:r>
            <a:endParaRPr lang="en-US" sz="1300" dirty="0"/>
          </a:p>
        </p:txBody>
      </p:sp>
      <p:sp>
        <p:nvSpPr>
          <p:cNvPr id="4" name="Shape 2"/>
          <p:cNvSpPr/>
          <p:nvPr/>
        </p:nvSpPr>
        <p:spPr>
          <a:xfrm>
            <a:off x="548640" y="1920240"/>
            <a:ext cx="2011680" cy="1417320"/>
          </a:xfrm>
          <a:prstGeom prst="roundRect">
            <a:avLst>
              <a:gd name="adj" fmla="val 5161"/>
            </a:avLst>
          </a:prstGeom>
          <a:solidFill>
            <a:srgbClr val="F4F6FC"/>
          </a:solidFill>
          <a:ln w="12700">
            <a:solidFill>
              <a:srgbClr val="E1E6F2"/>
            </a:solidFill>
            <a:prstDash val="solid"/>
          </a:ln>
        </p:spPr>
        <p:txBody>
          <a:bodyPr/>
          <a:lstStyle/>
          <a:p>
            <a:endParaRPr lang="en-IN"/>
          </a:p>
        </p:txBody>
      </p:sp>
      <p:sp>
        <p:nvSpPr>
          <p:cNvPr id="5" name="Text 3"/>
          <p:cNvSpPr/>
          <p:nvPr/>
        </p:nvSpPr>
        <p:spPr>
          <a:xfrm>
            <a:off x="658368" y="2084832"/>
            <a:ext cx="1792224" cy="50292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1,067,371</a:t>
            </a:r>
            <a:endParaRPr lang="en-US" sz="1600" dirty="0"/>
          </a:p>
        </p:txBody>
      </p:sp>
      <p:sp>
        <p:nvSpPr>
          <p:cNvPr id="6" name="Text 4"/>
          <p:cNvSpPr/>
          <p:nvPr/>
        </p:nvSpPr>
        <p:spPr>
          <a:xfrm>
            <a:off x="658368" y="2606040"/>
            <a:ext cx="1792224" cy="685800"/>
          </a:xfrm>
          <a:prstGeom prst="rect">
            <a:avLst/>
          </a:prstGeom>
          <a:noFill/>
          <a:ln/>
        </p:spPr>
        <p:txBody>
          <a:bodyPr wrap="square" rtlCol="0" anchor="ctr"/>
          <a:lstStyle/>
          <a:p>
            <a:pPr marL="0" indent="0" algn="ctr">
              <a:lnSpc>
                <a:spcPct val="115000"/>
              </a:lnSpc>
              <a:buNone/>
            </a:pPr>
            <a:r>
              <a:rPr lang="en-US" sz="970" dirty="0">
                <a:solidFill>
                  <a:srgbClr val="5B6478"/>
                </a:solidFill>
                <a:latin typeface="Calibri" pitchFamily="34" charset="0"/>
                <a:ea typeface="Calibri" pitchFamily="34" charset="-122"/>
                <a:cs typeface="Calibri" pitchFamily="34" charset="-120"/>
              </a:rPr>
              <a:t>Raw rows (both sheets combined)</a:t>
            </a:r>
            <a:endParaRPr lang="en-US" sz="970" dirty="0"/>
          </a:p>
        </p:txBody>
      </p:sp>
      <p:sp>
        <p:nvSpPr>
          <p:cNvPr id="7" name="Text 5"/>
          <p:cNvSpPr/>
          <p:nvPr/>
        </p:nvSpPr>
        <p:spPr>
          <a:xfrm>
            <a:off x="2542032" y="2377440"/>
            <a:ext cx="301752" cy="457200"/>
          </a:xfrm>
          <a:prstGeom prst="rect">
            <a:avLst/>
          </a:prstGeom>
          <a:noFill/>
          <a:ln/>
        </p:spPr>
        <p:txBody>
          <a:bodyPr wrap="square" rtlCol="0" anchor="ctr"/>
          <a:lstStyle/>
          <a:p>
            <a:pPr marL="0" indent="0" algn="ctr">
              <a:buNone/>
            </a:pPr>
            <a:r>
              <a:rPr lang="en-US" sz="2000" b="1" dirty="0">
                <a:solidFill>
                  <a:srgbClr val="C9A227"/>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2816352" y="1920240"/>
            <a:ext cx="2011680" cy="1417320"/>
          </a:xfrm>
          <a:prstGeom prst="roundRect">
            <a:avLst>
              <a:gd name="adj" fmla="val 5161"/>
            </a:avLst>
          </a:prstGeom>
          <a:solidFill>
            <a:srgbClr val="F4F6FC"/>
          </a:solidFill>
          <a:ln w="12700">
            <a:solidFill>
              <a:srgbClr val="E1E6F2"/>
            </a:solidFill>
            <a:prstDash val="solid"/>
          </a:ln>
        </p:spPr>
        <p:txBody>
          <a:bodyPr/>
          <a:lstStyle/>
          <a:p>
            <a:endParaRPr lang="en-IN"/>
          </a:p>
        </p:txBody>
      </p:sp>
      <p:sp>
        <p:nvSpPr>
          <p:cNvPr id="9" name="Text 7"/>
          <p:cNvSpPr/>
          <p:nvPr/>
        </p:nvSpPr>
        <p:spPr>
          <a:xfrm>
            <a:off x="2926080" y="2084832"/>
            <a:ext cx="1792224" cy="50292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824,364</a:t>
            </a:r>
            <a:endParaRPr lang="en-US" sz="1600" dirty="0"/>
          </a:p>
        </p:txBody>
      </p:sp>
      <p:sp>
        <p:nvSpPr>
          <p:cNvPr id="10" name="Text 8"/>
          <p:cNvSpPr/>
          <p:nvPr/>
        </p:nvSpPr>
        <p:spPr>
          <a:xfrm>
            <a:off x="2926080" y="2606040"/>
            <a:ext cx="1792224" cy="685800"/>
          </a:xfrm>
          <a:prstGeom prst="rect">
            <a:avLst/>
          </a:prstGeom>
          <a:noFill/>
          <a:ln/>
        </p:spPr>
        <p:txBody>
          <a:bodyPr wrap="square" rtlCol="0" anchor="ctr"/>
          <a:lstStyle/>
          <a:p>
            <a:pPr marL="0" indent="0" algn="ctr">
              <a:lnSpc>
                <a:spcPct val="115000"/>
              </a:lnSpc>
              <a:buNone/>
            </a:pPr>
            <a:r>
              <a:rPr lang="en-US" sz="970" dirty="0">
                <a:solidFill>
                  <a:srgbClr val="5B6478"/>
                </a:solidFill>
                <a:latin typeface="Calibri" pitchFamily="34" charset="0"/>
                <a:ea typeface="Calibri" pitchFamily="34" charset="-122"/>
                <a:cs typeface="Calibri" pitchFamily="34" charset="-120"/>
              </a:rPr>
              <a:t>After removing missing Customer IDs</a:t>
            </a:r>
            <a:endParaRPr lang="en-US" sz="970" dirty="0"/>
          </a:p>
        </p:txBody>
      </p:sp>
      <p:sp>
        <p:nvSpPr>
          <p:cNvPr id="11" name="Text 9"/>
          <p:cNvSpPr/>
          <p:nvPr/>
        </p:nvSpPr>
        <p:spPr>
          <a:xfrm>
            <a:off x="4809744" y="2377440"/>
            <a:ext cx="301752" cy="457200"/>
          </a:xfrm>
          <a:prstGeom prst="rect">
            <a:avLst/>
          </a:prstGeom>
          <a:noFill/>
          <a:ln/>
        </p:spPr>
        <p:txBody>
          <a:bodyPr wrap="square" rtlCol="0" anchor="ctr"/>
          <a:lstStyle/>
          <a:p>
            <a:pPr marL="0" indent="0" algn="ctr">
              <a:buNone/>
            </a:pPr>
            <a:r>
              <a:rPr lang="en-US" sz="2000" b="1" dirty="0">
                <a:solidFill>
                  <a:srgbClr val="C9A227"/>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084064" y="1920240"/>
            <a:ext cx="2011680" cy="1417320"/>
          </a:xfrm>
          <a:prstGeom prst="roundRect">
            <a:avLst>
              <a:gd name="adj" fmla="val 5161"/>
            </a:avLst>
          </a:prstGeom>
          <a:solidFill>
            <a:srgbClr val="F4F6FC"/>
          </a:solidFill>
          <a:ln w="12700">
            <a:solidFill>
              <a:srgbClr val="E1E6F2"/>
            </a:solidFill>
            <a:prstDash val="solid"/>
          </a:ln>
        </p:spPr>
        <p:txBody>
          <a:bodyPr/>
          <a:lstStyle/>
          <a:p>
            <a:endParaRPr lang="en-IN"/>
          </a:p>
        </p:txBody>
      </p:sp>
      <p:sp>
        <p:nvSpPr>
          <p:cNvPr id="13" name="Text 11"/>
          <p:cNvSpPr/>
          <p:nvPr/>
        </p:nvSpPr>
        <p:spPr>
          <a:xfrm>
            <a:off x="5193792" y="2084832"/>
            <a:ext cx="1792224" cy="50292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797,885</a:t>
            </a:r>
            <a:endParaRPr lang="en-US" sz="1600" dirty="0"/>
          </a:p>
        </p:txBody>
      </p:sp>
      <p:sp>
        <p:nvSpPr>
          <p:cNvPr id="14" name="Text 12"/>
          <p:cNvSpPr/>
          <p:nvPr/>
        </p:nvSpPr>
        <p:spPr>
          <a:xfrm>
            <a:off x="5193792" y="2606040"/>
            <a:ext cx="1792224" cy="685800"/>
          </a:xfrm>
          <a:prstGeom prst="rect">
            <a:avLst/>
          </a:prstGeom>
          <a:noFill/>
          <a:ln/>
        </p:spPr>
        <p:txBody>
          <a:bodyPr wrap="square" rtlCol="0" anchor="ctr"/>
          <a:lstStyle/>
          <a:p>
            <a:pPr marL="0" indent="0" algn="ctr">
              <a:lnSpc>
                <a:spcPct val="115000"/>
              </a:lnSpc>
              <a:buNone/>
            </a:pPr>
            <a:r>
              <a:rPr lang="en-US" sz="970" dirty="0">
                <a:solidFill>
                  <a:srgbClr val="5B6478"/>
                </a:solidFill>
                <a:latin typeface="Calibri" pitchFamily="34" charset="0"/>
                <a:ea typeface="Calibri" pitchFamily="34" charset="-122"/>
                <a:cs typeface="Calibri" pitchFamily="34" charset="-120"/>
              </a:rPr>
              <a:t>After removing 26,479 duplicate rows</a:t>
            </a:r>
            <a:endParaRPr lang="en-US" sz="970" dirty="0"/>
          </a:p>
        </p:txBody>
      </p:sp>
      <p:sp>
        <p:nvSpPr>
          <p:cNvPr id="15" name="Text 13"/>
          <p:cNvSpPr/>
          <p:nvPr/>
        </p:nvSpPr>
        <p:spPr>
          <a:xfrm>
            <a:off x="7077456" y="2377440"/>
            <a:ext cx="301752" cy="457200"/>
          </a:xfrm>
          <a:prstGeom prst="rect">
            <a:avLst/>
          </a:prstGeom>
          <a:noFill/>
          <a:ln/>
        </p:spPr>
        <p:txBody>
          <a:bodyPr wrap="square" rtlCol="0" anchor="ctr"/>
          <a:lstStyle/>
          <a:p>
            <a:pPr marL="0" indent="0" algn="ctr">
              <a:buNone/>
            </a:pPr>
            <a:r>
              <a:rPr lang="en-US" sz="2000" b="1" dirty="0">
                <a:solidFill>
                  <a:srgbClr val="C9A227"/>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7351776" y="1920240"/>
            <a:ext cx="2011680" cy="1417320"/>
          </a:xfrm>
          <a:prstGeom prst="roundRect">
            <a:avLst>
              <a:gd name="adj" fmla="val 5161"/>
            </a:avLst>
          </a:prstGeom>
          <a:solidFill>
            <a:srgbClr val="F4F6FC"/>
          </a:solidFill>
          <a:ln w="12700">
            <a:solidFill>
              <a:srgbClr val="E1E6F2"/>
            </a:solidFill>
            <a:prstDash val="solid"/>
          </a:ln>
        </p:spPr>
        <p:txBody>
          <a:bodyPr/>
          <a:lstStyle/>
          <a:p>
            <a:endParaRPr lang="en-IN"/>
          </a:p>
        </p:txBody>
      </p:sp>
      <p:sp>
        <p:nvSpPr>
          <p:cNvPr id="17" name="Text 15"/>
          <p:cNvSpPr/>
          <p:nvPr/>
        </p:nvSpPr>
        <p:spPr>
          <a:xfrm>
            <a:off x="7461504" y="2084832"/>
            <a:ext cx="1792224" cy="50292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779,495</a:t>
            </a:r>
            <a:endParaRPr lang="en-US" sz="1600" dirty="0"/>
          </a:p>
        </p:txBody>
      </p:sp>
      <p:sp>
        <p:nvSpPr>
          <p:cNvPr id="18" name="Text 16"/>
          <p:cNvSpPr/>
          <p:nvPr/>
        </p:nvSpPr>
        <p:spPr>
          <a:xfrm>
            <a:off x="7461504" y="2606040"/>
            <a:ext cx="1792224" cy="685800"/>
          </a:xfrm>
          <a:prstGeom prst="rect">
            <a:avLst/>
          </a:prstGeom>
          <a:noFill/>
          <a:ln/>
        </p:spPr>
        <p:txBody>
          <a:bodyPr wrap="square" rtlCol="0" anchor="ctr"/>
          <a:lstStyle/>
          <a:p>
            <a:pPr marL="0" indent="0" algn="ctr">
              <a:lnSpc>
                <a:spcPct val="115000"/>
              </a:lnSpc>
              <a:buNone/>
            </a:pPr>
            <a:r>
              <a:rPr lang="en-US" sz="970" dirty="0">
                <a:solidFill>
                  <a:srgbClr val="5B6478"/>
                </a:solidFill>
                <a:latin typeface="Calibri" pitchFamily="34" charset="0"/>
                <a:ea typeface="Calibri" pitchFamily="34" charset="-122"/>
                <a:cs typeface="Calibri" pitchFamily="34" charset="-120"/>
              </a:rPr>
              <a:t>After removing cancelled orders</a:t>
            </a:r>
            <a:endParaRPr lang="en-US" sz="970" dirty="0"/>
          </a:p>
        </p:txBody>
      </p:sp>
      <p:sp>
        <p:nvSpPr>
          <p:cNvPr id="19" name="Text 17"/>
          <p:cNvSpPr/>
          <p:nvPr/>
        </p:nvSpPr>
        <p:spPr>
          <a:xfrm>
            <a:off x="9345168" y="2377440"/>
            <a:ext cx="301752" cy="457200"/>
          </a:xfrm>
          <a:prstGeom prst="rect">
            <a:avLst/>
          </a:prstGeom>
          <a:noFill/>
          <a:ln/>
        </p:spPr>
        <p:txBody>
          <a:bodyPr wrap="square" rtlCol="0" anchor="ctr"/>
          <a:lstStyle/>
          <a:p>
            <a:pPr marL="0" indent="0" algn="ctr">
              <a:buNone/>
            </a:pPr>
            <a:r>
              <a:rPr lang="en-US" sz="2000" b="1" dirty="0">
                <a:solidFill>
                  <a:srgbClr val="C9A227"/>
                </a:solidFill>
                <a:latin typeface="Arial" pitchFamily="34" charset="0"/>
                <a:ea typeface="Arial" pitchFamily="34" charset="-122"/>
                <a:cs typeface="Arial" pitchFamily="34" charset="-120"/>
              </a:rPr>
              <a:t>→</a:t>
            </a:r>
            <a:endParaRPr lang="en-US" sz="2000" dirty="0"/>
          </a:p>
        </p:txBody>
      </p:sp>
      <p:sp>
        <p:nvSpPr>
          <p:cNvPr id="20" name="Shape 18"/>
          <p:cNvSpPr/>
          <p:nvPr/>
        </p:nvSpPr>
        <p:spPr>
          <a:xfrm>
            <a:off x="9619488" y="1920240"/>
            <a:ext cx="2011680" cy="1417320"/>
          </a:xfrm>
          <a:prstGeom prst="roundRect">
            <a:avLst>
              <a:gd name="adj" fmla="val 5161"/>
            </a:avLst>
          </a:prstGeom>
          <a:solidFill>
            <a:srgbClr val="F4F6FC"/>
          </a:solidFill>
          <a:ln w="12700">
            <a:solidFill>
              <a:srgbClr val="E1E6F2"/>
            </a:solidFill>
            <a:prstDash val="solid"/>
          </a:ln>
        </p:spPr>
        <p:txBody>
          <a:bodyPr/>
          <a:lstStyle/>
          <a:p>
            <a:endParaRPr lang="en-IN"/>
          </a:p>
        </p:txBody>
      </p:sp>
      <p:sp>
        <p:nvSpPr>
          <p:cNvPr id="21" name="Text 19"/>
          <p:cNvSpPr/>
          <p:nvPr/>
        </p:nvSpPr>
        <p:spPr>
          <a:xfrm>
            <a:off x="9729216" y="2084832"/>
            <a:ext cx="1792224" cy="50292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779,425</a:t>
            </a:r>
            <a:endParaRPr lang="en-US" sz="1600" dirty="0"/>
          </a:p>
        </p:txBody>
      </p:sp>
      <p:sp>
        <p:nvSpPr>
          <p:cNvPr id="22" name="Text 20"/>
          <p:cNvSpPr/>
          <p:nvPr/>
        </p:nvSpPr>
        <p:spPr>
          <a:xfrm>
            <a:off x="9729216" y="2606040"/>
            <a:ext cx="1792224" cy="685800"/>
          </a:xfrm>
          <a:prstGeom prst="rect">
            <a:avLst/>
          </a:prstGeom>
          <a:noFill/>
          <a:ln/>
        </p:spPr>
        <p:txBody>
          <a:bodyPr wrap="square" rtlCol="0" anchor="ctr"/>
          <a:lstStyle/>
          <a:p>
            <a:pPr marL="0" indent="0" algn="ctr">
              <a:lnSpc>
                <a:spcPct val="115000"/>
              </a:lnSpc>
              <a:buNone/>
            </a:pPr>
            <a:r>
              <a:rPr lang="en-US" sz="970" dirty="0">
                <a:solidFill>
                  <a:srgbClr val="5B6478"/>
                </a:solidFill>
                <a:latin typeface="Calibri" pitchFamily="34" charset="0"/>
                <a:ea typeface="Calibri" pitchFamily="34" charset="-122"/>
                <a:cs typeface="Calibri" pitchFamily="34" charset="-120"/>
              </a:rPr>
              <a:t>After removing invalid quantities/prices</a:t>
            </a:r>
            <a:endParaRPr lang="en-US" sz="970" dirty="0"/>
          </a:p>
        </p:txBody>
      </p:sp>
      <p:sp>
        <p:nvSpPr>
          <p:cNvPr id="23" name="Shape 21"/>
          <p:cNvSpPr/>
          <p:nvPr/>
        </p:nvSpPr>
        <p:spPr>
          <a:xfrm>
            <a:off x="548640" y="3794760"/>
            <a:ext cx="11109960" cy="1051560"/>
          </a:xfrm>
          <a:prstGeom prst="roundRect">
            <a:avLst>
              <a:gd name="adj" fmla="val 6957"/>
            </a:avLst>
          </a:prstGeom>
          <a:solidFill>
            <a:srgbClr val="F4F6FC"/>
          </a:solidFill>
          <a:ln/>
        </p:spPr>
        <p:txBody>
          <a:bodyPr/>
          <a:lstStyle/>
          <a:p>
            <a:endParaRPr lang="en-IN"/>
          </a:p>
        </p:txBody>
      </p:sp>
      <p:sp>
        <p:nvSpPr>
          <p:cNvPr id="24" name="Text 22"/>
          <p:cNvSpPr/>
          <p:nvPr/>
        </p:nvSpPr>
        <p:spPr>
          <a:xfrm>
            <a:off x="822960" y="3794760"/>
            <a:ext cx="10561320" cy="1051560"/>
          </a:xfrm>
          <a:prstGeom prst="rect">
            <a:avLst/>
          </a:prstGeom>
          <a:noFill/>
          <a:ln/>
        </p:spPr>
        <p:txBody>
          <a:bodyPr wrap="square" rtlCol="0" anchor="ctr"/>
          <a:lstStyle/>
          <a:p>
            <a:pPr marL="0" indent="0">
              <a:lnSpc>
                <a:spcPct val="130000"/>
              </a:lnSpc>
              <a:buNone/>
            </a:pPr>
            <a:r>
              <a:rPr lang="en-US" sz="2000" b="1" dirty="0">
                <a:solidFill>
                  <a:srgbClr val="1E2761"/>
                </a:solidFill>
              </a:rPr>
              <a:t>51,119 </a:t>
            </a:r>
            <a:r>
              <a:rPr lang="en-US" sz="1250" dirty="0">
                <a:solidFill>
                  <a:srgbClr val="222B45"/>
                </a:solidFill>
              </a:rPr>
              <a:t>transactions were flagged as Quantity outliers using the IQR method and retained rather than removed, since this retailer's wholesale customers legitimately place bulk orders.</a:t>
            </a:r>
            <a:endParaRPr lang="en-US" sz="2000" dirty="0"/>
          </a:p>
        </p:txBody>
      </p:sp>
      <p:sp>
        <p:nvSpPr>
          <p:cNvPr id="25" name="Text 23"/>
          <p:cNvSpPr/>
          <p:nvPr/>
        </p:nvSpPr>
        <p:spPr>
          <a:xfrm>
            <a:off x="548640" y="5074920"/>
            <a:ext cx="10881360" cy="548640"/>
          </a:xfrm>
          <a:prstGeom prst="rect">
            <a:avLst/>
          </a:prstGeom>
          <a:noFill/>
          <a:ln/>
        </p:spPr>
        <p:txBody>
          <a:bodyPr wrap="square" rtlCol="0" anchor="ctr"/>
          <a:lstStyle/>
          <a:p>
            <a:pPr marL="0" indent="0">
              <a:lnSpc>
                <a:spcPct val="125000"/>
              </a:lnSpc>
              <a:buNone/>
            </a:pPr>
            <a:r>
              <a:rPr lang="en-US" sz="1200" i="1" dirty="0">
                <a:solidFill>
                  <a:srgbClr val="5B6478"/>
                </a:solidFill>
                <a:latin typeface="Calibri" pitchFamily="34" charset="0"/>
                <a:ea typeface="Calibri" pitchFamily="34" charset="-122"/>
                <a:cs typeface="Calibri" pitchFamily="34" charset="-120"/>
              </a:rPr>
              <a:t>Each step - import, cleaning, conversion, and outlier flagging - was executed in R and verified against console output before proceeding to the next.</a:t>
            </a:r>
            <a:endParaRPr lang="en-US" sz="1200" dirty="0"/>
          </a:p>
        </p:txBody>
      </p:sp>
      <p:sp>
        <p:nvSpPr>
          <p:cNvPr id="26" name="Text 2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Preprocessing: Diagnostic Visualizations</a:t>
            </a:r>
            <a:endParaRPr lang="en-US" sz="2800" dirty="0"/>
          </a:p>
        </p:txBody>
      </p:sp>
      <p:sp>
        <p:nvSpPr>
          <p:cNvPr id="3" name="Text 1"/>
          <p:cNvSpPr/>
          <p:nvPr/>
        </p:nvSpPr>
        <p:spPr>
          <a:xfrm>
            <a:off x="548640" y="1188720"/>
            <a:ext cx="10881360" cy="457200"/>
          </a:xfrm>
          <a:prstGeom prst="rect">
            <a:avLst/>
          </a:prstGeom>
          <a:noFill/>
          <a:ln/>
        </p:spPr>
        <p:txBody>
          <a:bodyPr wrap="square" rtlCol="0" anchor="ctr"/>
          <a:lstStyle/>
          <a:p>
            <a:pPr marL="0" indent="0">
              <a:lnSpc>
                <a:spcPct val="120000"/>
              </a:lnSpc>
              <a:buNone/>
            </a:pPr>
            <a:r>
              <a:rPr lang="en-US" sz="1300" dirty="0">
                <a:solidFill>
                  <a:srgbClr val="5B6478"/>
                </a:solidFill>
                <a:latin typeface="Calibri" pitchFamily="34" charset="0"/>
                <a:ea typeface="Calibri" pitchFamily="34" charset="-122"/>
                <a:cs typeface="Calibri" pitchFamily="34" charset="-120"/>
              </a:rPr>
              <a:t>Two diagnostic graphs generated during preprocessing, confirming the missing-value pattern and the presence of Quantity outliers.</a:t>
            </a:r>
            <a:endParaRPr lang="en-US" sz="1300" dirty="0"/>
          </a:p>
        </p:txBody>
      </p:sp>
      <p:sp>
        <p:nvSpPr>
          <p:cNvPr id="4" name="Shape 2"/>
          <p:cNvSpPr/>
          <p:nvPr/>
        </p:nvSpPr>
        <p:spPr>
          <a:xfrm>
            <a:off x="548640" y="182880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5" name="Image 0" descr="chart_plotmissing_diag.jpg"/>
          <p:cNvPicPr>
            <a:picLocks noChangeAspect="1"/>
          </p:cNvPicPr>
          <p:nvPr/>
        </p:nvPicPr>
        <p:blipFill>
          <a:blip r:embed="rId3"/>
          <a:stretch>
            <a:fillRect/>
          </a:stretch>
        </p:blipFill>
        <p:spPr>
          <a:xfrm>
            <a:off x="713232" y="2974587"/>
            <a:ext cx="5065776" cy="1640347"/>
          </a:xfrm>
          <a:prstGeom prst="rect">
            <a:avLst/>
          </a:prstGeom>
        </p:spPr>
      </p:pic>
      <p:sp>
        <p:nvSpPr>
          <p:cNvPr id="6" name="Text 3"/>
          <p:cNvSpPr/>
          <p:nvPr/>
        </p:nvSpPr>
        <p:spPr>
          <a:xfrm>
            <a:off x="713232" y="571500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Missing Value Diagnostic (plot_missing, Step 7.5)</a:t>
            </a:r>
            <a:endParaRPr lang="en-US" sz="1150" dirty="0"/>
          </a:p>
        </p:txBody>
      </p:sp>
      <p:sp>
        <p:nvSpPr>
          <p:cNvPr id="7" name="Shape 4"/>
          <p:cNvSpPr/>
          <p:nvPr/>
        </p:nvSpPr>
        <p:spPr>
          <a:xfrm>
            <a:off x="6263640" y="182880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8" name="Image 1" descr="chart_outlier_boxplot.jpg"/>
          <p:cNvPicPr>
            <a:picLocks noChangeAspect="1"/>
          </p:cNvPicPr>
          <p:nvPr/>
        </p:nvPicPr>
        <p:blipFill>
          <a:blip r:embed="rId4"/>
          <a:stretch>
            <a:fillRect/>
          </a:stretch>
        </p:blipFill>
        <p:spPr>
          <a:xfrm>
            <a:off x="6428232" y="2654960"/>
            <a:ext cx="5065776" cy="2279599"/>
          </a:xfrm>
          <a:prstGeom prst="rect">
            <a:avLst/>
          </a:prstGeom>
        </p:spPr>
      </p:pic>
      <p:sp>
        <p:nvSpPr>
          <p:cNvPr id="9" name="Text 5"/>
          <p:cNvSpPr/>
          <p:nvPr/>
        </p:nvSpPr>
        <p:spPr>
          <a:xfrm>
            <a:off x="6428232" y="571500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Quantity Outlier Check (Step 7.13)</a:t>
            </a:r>
            <a:endParaRPr lang="en-US" sz="1150" dirty="0"/>
          </a:p>
        </p:txBody>
      </p:sp>
      <p:sp>
        <p:nvSpPr>
          <p:cNvPr id="10"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EDA: Product and Geographic Performance</a:t>
            </a:r>
            <a:endParaRPr lang="en-US" sz="2800" dirty="0"/>
          </a:p>
        </p:txBody>
      </p:sp>
      <p:sp>
        <p:nvSpPr>
          <p:cNvPr id="3" name="Text 1"/>
          <p:cNvSpPr/>
          <p:nvPr/>
        </p:nvSpPr>
        <p:spPr>
          <a:xfrm>
            <a:off x="548640" y="1188720"/>
            <a:ext cx="10881360" cy="365760"/>
          </a:xfrm>
          <a:prstGeom prst="rect">
            <a:avLst/>
          </a:prstGeom>
          <a:noFill/>
          <a:ln/>
        </p:spPr>
        <p:txBody>
          <a:bodyPr wrap="square" rtlCol="0" anchor="ctr"/>
          <a:lstStyle/>
          <a:p>
            <a:pPr marL="0" indent="0">
              <a:buNone/>
            </a:pPr>
            <a:r>
              <a:rPr lang="en-US" sz="1300" dirty="0">
                <a:solidFill>
                  <a:srgbClr val="5B6478"/>
                </a:solidFill>
                <a:latin typeface="Calibri" pitchFamily="34" charset="0"/>
                <a:ea typeface="Calibri" pitchFamily="34" charset="-122"/>
                <a:cs typeface="Calibri" pitchFamily="34" charset="-120"/>
              </a:rPr>
              <a:t>R output generated from the cleaned dataset, illustrating product performance and geographic revenue distribution.</a:t>
            </a:r>
            <a:endParaRPr lang="en-US" sz="1300" dirty="0"/>
          </a:p>
        </p:txBody>
      </p:sp>
      <p:sp>
        <p:nvSpPr>
          <p:cNvPr id="4" name="Shape 2"/>
          <p:cNvSpPr/>
          <p:nvPr/>
        </p:nvSpPr>
        <p:spPr>
          <a:xfrm>
            <a:off x="548640" y="178308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5" name="Image 0" descr="chart_top10products.jpg"/>
          <p:cNvPicPr>
            <a:picLocks noChangeAspect="1"/>
          </p:cNvPicPr>
          <p:nvPr/>
        </p:nvPicPr>
        <p:blipFill>
          <a:blip r:embed="rId3"/>
          <a:stretch>
            <a:fillRect/>
          </a:stretch>
        </p:blipFill>
        <p:spPr>
          <a:xfrm>
            <a:off x="713232" y="2675578"/>
            <a:ext cx="5065776" cy="2146924"/>
          </a:xfrm>
          <a:prstGeom prst="rect">
            <a:avLst/>
          </a:prstGeom>
        </p:spPr>
      </p:pic>
      <p:sp>
        <p:nvSpPr>
          <p:cNvPr id="6" name="Text 3"/>
          <p:cNvSpPr/>
          <p:nvPr/>
        </p:nvSpPr>
        <p:spPr>
          <a:xfrm>
            <a:off x="713232" y="566928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8.2 Top 10 Best-Selling Products</a:t>
            </a:r>
            <a:endParaRPr lang="en-US" sz="1150" dirty="0"/>
          </a:p>
        </p:txBody>
      </p:sp>
      <p:sp>
        <p:nvSpPr>
          <p:cNvPr id="7" name="Shape 4"/>
          <p:cNvSpPr/>
          <p:nvPr/>
        </p:nvSpPr>
        <p:spPr>
          <a:xfrm>
            <a:off x="6263640" y="178308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8" name="Image 1" descr="chart_country_sales.jpg"/>
          <p:cNvPicPr>
            <a:picLocks noChangeAspect="1"/>
          </p:cNvPicPr>
          <p:nvPr/>
        </p:nvPicPr>
        <p:blipFill>
          <a:blip r:embed="rId4"/>
          <a:stretch>
            <a:fillRect/>
          </a:stretch>
        </p:blipFill>
        <p:spPr>
          <a:xfrm>
            <a:off x="6428232" y="2102663"/>
            <a:ext cx="5065776" cy="3292754"/>
          </a:xfrm>
          <a:prstGeom prst="rect">
            <a:avLst/>
          </a:prstGeom>
        </p:spPr>
      </p:pic>
      <p:sp>
        <p:nvSpPr>
          <p:cNvPr id="9" name="Text 5"/>
          <p:cNvSpPr/>
          <p:nvPr/>
        </p:nvSpPr>
        <p:spPr>
          <a:xfrm>
            <a:off x="6428232" y="566928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8.3 Top 10 Countries by Sales Revenue</a:t>
            </a:r>
            <a:endParaRPr lang="en-US" sz="1150" dirty="0"/>
          </a:p>
        </p:txBody>
      </p:sp>
      <p:sp>
        <p:nvSpPr>
          <p:cNvPr id="10"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EDA: Revenue Trend and Customer Value</a:t>
            </a:r>
            <a:endParaRPr lang="en-US" sz="2800" dirty="0"/>
          </a:p>
        </p:txBody>
      </p:sp>
      <p:sp>
        <p:nvSpPr>
          <p:cNvPr id="3" name="Text 1"/>
          <p:cNvSpPr/>
          <p:nvPr/>
        </p:nvSpPr>
        <p:spPr>
          <a:xfrm>
            <a:off x="548640" y="1188720"/>
            <a:ext cx="10881360" cy="365760"/>
          </a:xfrm>
          <a:prstGeom prst="rect">
            <a:avLst/>
          </a:prstGeom>
          <a:noFill/>
          <a:ln/>
        </p:spPr>
        <p:txBody>
          <a:bodyPr wrap="square" rtlCol="0" anchor="ctr"/>
          <a:lstStyle/>
          <a:p>
            <a:pPr marL="0" indent="0">
              <a:buNone/>
            </a:pPr>
            <a:r>
              <a:rPr lang="en-US" sz="1300" dirty="0">
                <a:solidFill>
                  <a:srgbClr val="5B6478"/>
                </a:solidFill>
                <a:latin typeface="Calibri" pitchFamily="34" charset="0"/>
                <a:ea typeface="Calibri" pitchFamily="34" charset="-122"/>
                <a:cs typeface="Calibri" pitchFamily="34" charset="-120"/>
              </a:rPr>
              <a:t>Revenue trend across the two-year period and the customers contributing the highest spend.</a:t>
            </a:r>
            <a:endParaRPr lang="en-US" sz="1300" dirty="0"/>
          </a:p>
        </p:txBody>
      </p:sp>
      <p:sp>
        <p:nvSpPr>
          <p:cNvPr id="4" name="Shape 2"/>
          <p:cNvSpPr/>
          <p:nvPr/>
        </p:nvSpPr>
        <p:spPr>
          <a:xfrm>
            <a:off x="548640" y="178308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5" name="Image 0" descr="chart_monthly_trend.jpg"/>
          <p:cNvPicPr>
            <a:picLocks noChangeAspect="1"/>
          </p:cNvPicPr>
          <p:nvPr/>
        </p:nvPicPr>
        <p:blipFill>
          <a:blip r:embed="rId3"/>
          <a:stretch>
            <a:fillRect/>
          </a:stretch>
        </p:blipFill>
        <p:spPr>
          <a:xfrm>
            <a:off x="713232" y="2073437"/>
            <a:ext cx="5065776" cy="3351206"/>
          </a:xfrm>
          <a:prstGeom prst="rect">
            <a:avLst/>
          </a:prstGeom>
        </p:spPr>
      </p:pic>
      <p:sp>
        <p:nvSpPr>
          <p:cNvPr id="6" name="Text 3"/>
          <p:cNvSpPr/>
          <p:nvPr/>
        </p:nvSpPr>
        <p:spPr>
          <a:xfrm>
            <a:off x="713232" y="566928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8.4 Monthly Sales Revenue Trend</a:t>
            </a:r>
            <a:endParaRPr lang="en-US" sz="1150" dirty="0"/>
          </a:p>
        </p:txBody>
      </p:sp>
      <p:sp>
        <p:nvSpPr>
          <p:cNvPr id="7" name="Shape 4"/>
          <p:cNvSpPr/>
          <p:nvPr/>
        </p:nvSpPr>
        <p:spPr>
          <a:xfrm>
            <a:off x="6263640" y="178308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8" name="Image 1" descr="chart_top_customers.jpg"/>
          <p:cNvPicPr>
            <a:picLocks noChangeAspect="1"/>
          </p:cNvPicPr>
          <p:nvPr/>
        </p:nvPicPr>
        <p:blipFill>
          <a:blip r:embed="rId4"/>
          <a:stretch>
            <a:fillRect/>
          </a:stretch>
        </p:blipFill>
        <p:spPr>
          <a:xfrm>
            <a:off x="6439205" y="1947672"/>
            <a:ext cx="5043830" cy="3602736"/>
          </a:xfrm>
          <a:prstGeom prst="rect">
            <a:avLst/>
          </a:prstGeom>
        </p:spPr>
      </p:pic>
      <p:sp>
        <p:nvSpPr>
          <p:cNvPr id="9" name="Text 5"/>
          <p:cNvSpPr/>
          <p:nvPr/>
        </p:nvSpPr>
        <p:spPr>
          <a:xfrm>
            <a:off x="6428232" y="566928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8.9 Top 10 Customers by Total Purchases</a:t>
            </a:r>
            <a:endParaRPr lang="en-US" sz="1150" dirty="0"/>
          </a:p>
        </p:txBody>
      </p:sp>
      <p:sp>
        <p:nvSpPr>
          <p:cNvPr id="10"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EDA: Quantity and Price Distributions</a:t>
            </a:r>
            <a:endParaRPr lang="en-US" sz="2800" dirty="0"/>
          </a:p>
        </p:txBody>
      </p:sp>
      <p:sp>
        <p:nvSpPr>
          <p:cNvPr id="3" name="Text 1"/>
          <p:cNvSpPr/>
          <p:nvPr/>
        </p:nvSpPr>
        <p:spPr>
          <a:xfrm>
            <a:off x="548640" y="1188720"/>
            <a:ext cx="10881360" cy="365760"/>
          </a:xfrm>
          <a:prstGeom prst="rect">
            <a:avLst/>
          </a:prstGeom>
          <a:noFill/>
          <a:ln/>
        </p:spPr>
        <p:txBody>
          <a:bodyPr wrap="square" rtlCol="0" anchor="ctr"/>
          <a:lstStyle/>
          <a:p>
            <a:pPr marL="0" indent="0">
              <a:buNone/>
            </a:pPr>
            <a:r>
              <a:rPr lang="en-US" sz="1300" dirty="0">
                <a:solidFill>
                  <a:srgbClr val="5B6478"/>
                </a:solidFill>
                <a:latin typeface="Calibri" pitchFamily="34" charset="0"/>
                <a:ea typeface="Calibri" pitchFamily="34" charset="-122"/>
                <a:cs typeface="Calibri" pitchFamily="34" charset="-120"/>
              </a:rPr>
              <a:t>Histograms showing the typical number of units purchased per line and the typical product price point.</a:t>
            </a:r>
            <a:endParaRPr lang="en-US" sz="1300" dirty="0"/>
          </a:p>
        </p:txBody>
      </p:sp>
      <p:sp>
        <p:nvSpPr>
          <p:cNvPr id="4" name="Shape 2"/>
          <p:cNvSpPr/>
          <p:nvPr/>
        </p:nvSpPr>
        <p:spPr>
          <a:xfrm>
            <a:off x="548640" y="178308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5" name="Image 0" descr="chart_qty_hist.jpg"/>
          <p:cNvPicPr>
            <a:picLocks noChangeAspect="1"/>
          </p:cNvPicPr>
          <p:nvPr/>
        </p:nvPicPr>
        <p:blipFill>
          <a:blip r:embed="rId3"/>
          <a:stretch>
            <a:fillRect/>
          </a:stretch>
        </p:blipFill>
        <p:spPr>
          <a:xfrm>
            <a:off x="1970151" y="1947672"/>
            <a:ext cx="2551938" cy="3602736"/>
          </a:xfrm>
          <a:prstGeom prst="rect">
            <a:avLst/>
          </a:prstGeom>
        </p:spPr>
      </p:pic>
      <p:sp>
        <p:nvSpPr>
          <p:cNvPr id="6" name="Text 3"/>
          <p:cNvSpPr/>
          <p:nvPr/>
        </p:nvSpPr>
        <p:spPr>
          <a:xfrm>
            <a:off x="713232" y="566928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8.5 Quantity Distribution Histogram</a:t>
            </a:r>
            <a:endParaRPr lang="en-US" sz="1150" dirty="0"/>
          </a:p>
        </p:txBody>
      </p:sp>
      <p:sp>
        <p:nvSpPr>
          <p:cNvPr id="7" name="Shape 4"/>
          <p:cNvSpPr/>
          <p:nvPr/>
        </p:nvSpPr>
        <p:spPr>
          <a:xfrm>
            <a:off x="6263640" y="178308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8" name="Image 1" descr="chart_price_hist.jpg"/>
          <p:cNvPicPr>
            <a:picLocks noChangeAspect="1"/>
          </p:cNvPicPr>
          <p:nvPr/>
        </p:nvPicPr>
        <p:blipFill>
          <a:blip r:embed="rId4"/>
          <a:stretch>
            <a:fillRect/>
          </a:stretch>
        </p:blipFill>
        <p:spPr>
          <a:xfrm>
            <a:off x="7644736" y="1947672"/>
            <a:ext cx="2632769" cy="3602736"/>
          </a:xfrm>
          <a:prstGeom prst="rect">
            <a:avLst/>
          </a:prstGeom>
        </p:spPr>
      </p:pic>
      <p:sp>
        <p:nvSpPr>
          <p:cNvPr id="9" name="Text 5"/>
          <p:cNvSpPr/>
          <p:nvPr/>
        </p:nvSpPr>
        <p:spPr>
          <a:xfrm>
            <a:off x="6428232" y="566928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8.6 Unit Price Distribution</a:t>
            </a:r>
            <a:endParaRPr lang="en-US" sz="1150" dirty="0"/>
          </a:p>
        </p:txBody>
      </p:sp>
      <p:sp>
        <p:nvSpPr>
          <p:cNvPr id="10"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EDA: Spread and Outlier Structure</a:t>
            </a:r>
            <a:endParaRPr lang="en-US" sz="2800" dirty="0"/>
          </a:p>
        </p:txBody>
      </p:sp>
      <p:sp>
        <p:nvSpPr>
          <p:cNvPr id="3" name="Text 1"/>
          <p:cNvSpPr/>
          <p:nvPr/>
        </p:nvSpPr>
        <p:spPr>
          <a:xfrm>
            <a:off x="548640" y="1188720"/>
            <a:ext cx="10881360" cy="365760"/>
          </a:xfrm>
          <a:prstGeom prst="rect">
            <a:avLst/>
          </a:prstGeom>
          <a:noFill/>
          <a:ln/>
        </p:spPr>
        <p:txBody>
          <a:bodyPr wrap="square" rtlCol="0" anchor="ctr"/>
          <a:lstStyle/>
          <a:p>
            <a:pPr marL="0" indent="0">
              <a:buNone/>
            </a:pPr>
            <a:r>
              <a:rPr lang="en-US" sz="1300" dirty="0">
                <a:solidFill>
                  <a:srgbClr val="5B6478"/>
                </a:solidFill>
                <a:latin typeface="Calibri" pitchFamily="34" charset="0"/>
                <a:ea typeface="Calibri" pitchFamily="34" charset="-122"/>
                <a:cs typeface="Calibri" pitchFamily="34" charset="-120"/>
              </a:rPr>
              <a:t>Boxplots visualizing the spread and outlier structure of the Quantity and Price fields.</a:t>
            </a:r>
            <a:endParaRPr lang="en-US" sz="1300" dirty="0"/>
          </a:p>
        </p:txBody>
      </p:sp>
      <p:sp>
        <p:nvSpPr>
          <p:cNvPr id="4" name="Shape 2"/>
          <p:cNvSpPr/>
          <p:nvPr/>
        </p:nvSpPr>
        <p:spPr>
          <a:xfrm>
            <a:off x="548640" y="178308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5" name="Image 0" descr="chart_qty_box_eda.jpg"/>
          <p:cNvPicPr>
            <a:picLocks noChangeAspect="1"/>
          </p:cNvPicPr>
          <p:nvPr/>
        </p:nvPicPr>
        <p:blipFill>
          <a:blip r:embed="rId3"/>
          <a:stretch>
            <a:fillRect/>
          </a:stretch>
        </p:blipFill>
        <p:spPr>
          <a:xfrm>
            <a:off x="732583" y="1947672"/>
            <a:ext cx="5027073" cy="3602736"/>
          </a:xfrm>
          <a:prstGeom prst="rect">
            <a:avLst/>
          </a:prstGeom>
        </p:spPr>
      </p:pic>
      <p:sp>
        <p:nvSpPr>
          <p:cNvPr id="6" name="Text 3"/>
          <p:cNvSpPr/>
          <p:nvPr/>
        </p:nvSpPr>
        <p:spPr>
          <a:xfrm>
            <a:off x="713232" y="566928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8.7 Boxplot for Quantity</a:t>
            </a:r>
            <a:endParaRPr lang="en-US" sz="1150" dirty="0"/>
          </a:p>
        </p:txBody>
      </p:sp>
      <p:sp>
        <p:nvSpPr>
          <p:cNvPr id="7" name="Shape 4"/>
          <p:cNvSpPr/>
          <p:nvPr/>
        </p:nvSpPr>
        <p:spPr>
          <a:xfrm>
            <a:off x="6263640" y="178308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8" name="Image 1" descr="chart_price_box_eda.jpg"/>
          <p:cNvPicPr>
            <a:picLocks noChangeAspect="1"/>
          </p:cNvPicPr>
          <p:nvPr/>
        </p:nvPicPr>
        <p:blipFill>
          <a:blip r:embed="rId4"/>
          <a:stretch>
            <a:fillRect/>
          </a:stretch>
        </p:blipFill>
        <p:spPr>
          <a:xfrm>
            <a:off x="6447583" y="1947672"/>
            <a:ext cx="5027073" cy="3602736"/>
          </a:xfrm>
          <a:prstGeom prst="rect">
            <a:avLst/>
          </a:prstGeom>
        </p:spPr>
      </p:pic>
      <p:sp>
        <p:nvSpPr>
          <p:cNvPr id="9" name="Text 5"/>
          <p:cNvSpPr/>
          <p:nvPr/>
        </p:nvSpPr>
        <p:spPr>
          <a:xfrm>
            <a:off x="6428232" y="566928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8.8 Boxplot for Unit Price</a:t>
            </a:r>
            <a:endParaRPr lang="en-US" sz="1150" dirty="0"/>
          </a:p>
        </p:txBody>
      </p:sp>
      <p:sp>
        <p:nvSpPr>
          <p:cNvPr id="10"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EDA: Data Quality and Feature Relationships</a:t>
            </a:r>
            <a:endParaRPr lang="en-US" sz="2800" dirty="0"/>
          </a:p>
        </p:txBody>
      </p:sp>
      <p:sp>
        <p:nvSpPr>
          <p:cNvPr id="3" name="Text 1"/>
          <p:cNvSpPr/>
          <p:nvPr/>
        </p:nvSpPr>
        <p:spPr>
          <a:xfrm>
            <a:off x="548640" y="1188720"/>
            <a:ext cx="10881360" cy="365760"/>
          </a:xfrm>
          <a:prstGeom prst="rect">
            <a:avLst/>
          </a:prstGeom>
          <a:noFill/>
          <a:ln/>
        </p:spPr>
        <p:txBody>
          <a:bodyPr wrap="square" rtlCol="0" anchor="ctr"/>
          <a:lstStyle/>
          <a:p>
            <a:pPr marL="0" indent="0">
              <a:buNone/>
            </a:pPr>
            <a:r>
              <a:rPr lang="en-US" sz="1300" dirty="0">
                <a:solidFill>
                  <a:srgbClr val="5B6478"/>
                </a:solidFill>
                <a:latin typeface="Calibri" pitchFamily="34" charset="0"/>
                <a:ea typeface="Calibri" pitchFamily="34" charset="-122"/>
                <a:cs typeface="Calibri" pitchFamily="34" charset="-120"/>
              </a:rPr>
              <a:t>Verification of the missing-value pattern, and the relationship among Quantity, Price, and Revenue.</a:t>
            </a:r>
            <a:endParaRPr lang="en-US" sz="1300" dirty="0"/>
          </a:p>
        </p:txBody>
      </p:sp>
      <p:sp>
        <p:nvSpPr>
          <p:cNvPr id="4" name="Shape 2"/>
          <p:cNvSpPr/>
          <p:nvPr/>
        </p:nvSpPr>
        <p:spPr>
          <a:xfrm>
            <a:off x="548640" y="178308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5" name="Image 0" descr="chart_missing_values.jpg"/>
          <p:cNvPicPr>
            <a:picLocks noChangeAspect="1"/>
          </p:cNvPicPr>
          <p:nvPr/>
        </p:nvPicPr>
        <p:blipFill>
          <a:blip r:embed="rId3"/>
          <a:stretch>
            <a:fillRect/>
          </a:stretch>
        </p:blipFill>
        <p:spPr>
          <a:xfrm>
            <a:off x="713232" y="2735885"/>
            <a:ext cx="5065776" cy="2026310"/>
          </a:xfrm>
          <a:prstGeom prst="rect">
            <a:avLst/>
          </a:prstGeom>
        </p:spPr>
      </p:pic>
      <p:sp>
        <p:nvSpPr>
          <p:cNvPr id="6" name="Text 3"/>
          <p:cNvSpPr/>
          <p:nvPr/>
        </p:nvSpPr>
        <p:spPr>
          <a:xfrm>
            <a:off x="713232" y="566928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8.1 Missing Values by Column (Raw Data)</a:t>
            </a:r>
            <a:endParaRPr lang="en-US" sz="1150" dirty="0"/>
          </a:p>
        </p:txBody>
      </p:sp>
      <p:sp>
        <p:nvSpPr>
          <p:cNvPr id="7" name="Shape 4"/>
          <p:cNvSpPr/>
          <p:nvPr/>
        </p:nvSpPr>
        <p:spPr>
          <a:xfrm>
            <a:off x="6263640" y="1783080"/>
            <a:ext cx="5394960" cy="4297680"/>
          </a:xfrm>
          <a:prstGeom prst="roundRect">
            <a:avLst>
              <a:gd name="adj" fmla="val 1489"/>
            </a:avLst>
          </a:prstGeom>
          <a:solidFill>
            <a:srgbClr val="FFFFFF"/>
          </a:solidFill>
          <a:ln w="12700">
            <a:solidFill>
              <a:srgbClr val="E1E6F2"/>
            </a:solidFill>
            <a:prstDash val="solid"/>
          </a:ln>
        </p:spPr>
        <p:txBody>
          <a:bodyPr/>
          <a:lstStyle/>
          <a:p>
            <a:endParaRPr lang="en-IN"/>
          </a:p>
        </p:txBody>
      </p:sp>
      <p:pic>
        <p:nvPicPr>
          <p:cNvPr id="8" name="Image 1" descr="chart_correlation.jpg"/>
          <p:cNvPicPr>
            <a:picLocks noChangeAspect="1"/>
          </p:cNvPicPr>
          <p:nvPr/>
        </p:nvPicPr>
        <p:blipFill>
          <a:blip r:embed="rId4"/>
          <a:stretch>
            <a:fillRect/>
          </a:stretch>
        </p:blipFill>
        <p:spPr>
          <a:xfrm>
            <a:off x="7034657" y="1947672"/>
            <a:ext cx="3852926" cy="3602736"/>
          </a:xfrm>
          <a:prstGeom prst="rect">
            <a:avLst/>
          </a:prstGeom>
        </p:spPr>
      </p:pic>
      <p:sp>
        <p:nvSpPr>
          <p:cNvPr id="9" name="Text 5"/>
          <p:cNvSpPr/>
          <p:nvPr/>
        </p:nvSpPr>
        <p:spPr>
          <a:xfrm>
            <a:off x="6428232" y="5669280"/>
            <a:ext cx="5065776" cy="365760"/>
          </a:xfrm>
          <a:prstGeom prst="rect">
            <a:avLst/>
          </a:prstGeom>
          <a:noFill/>
          <a:ln/>
        </p:spPr>
        <p:txBody>
          <a:bodyPr wrap="square"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8.10 Correlation Heatmap (After Feature Engineering)</a:t>
            </a:r>
            <a:endParaRPr lang="en-US" sz="1150" dirty="0"/>
          </a:p>
        </p:txBody>
      </p:sp>
      <p:sp>
        <p:nvSpPr>
          <p:cNvPr id="10"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Conclusion</a:t>
            </a:r>
            <a:endParaRPr lang="en-US" sz="2800" dirty="0"/>
          </a:p>
        </p:txBody>
      </p:sp>
      <p:sp>
        <p:nvSpPr>
          <p:cNvPr id="3" name="Text 1"/>
          <p:cNvSpPr/>
          <p:nvPr/>
        </p:nvSpPr>
        <p:spPr>
          <a:xfrm>
            <a:off x="548640" y="1188720"/>
            <a:ext cx="10881360" cy="1371600"/>
          </a:xfrm>
          <a:prstGeom prst="rect">
            <a:avLst/>
          </a:prstGeom>
          <a:noFill/>
          <a:ln/>
        </p:spPr>
        <p:txBody>
          <a:bodyPr wrap="square" rtlCol="0" anchor="ctr"/>
          <a:lstStyle/>
          <a:p>
            <a:pPr marL="0" indent="0">
              <a:lnSpc>
                <a:spcPct val="130000"/>
              </a:lnSpc>
              <a:buNone/>
            </a:pPr>
            <a:r>
              <a:rPr lang="en-US" sz="1300" dirty="0">
                <a:solidFill>
                  <a:srgbClr val="222B45"/>
                </a:solidFill>
                <a:latin typeface="Calibri" pitchFamily="34" charset="0"/>
                <a:ea typeface="Calibri" pitchFamily="34" charset="-122"/>
                <a:cs typeface="Calibri" pitchFamily="34" charset="-120"/>
              </a:rPr>
              <a:t>This project cleaned and explored nearly two years of e-commerce transaction data from the Online Retail II dataset, transforming an unrefined transactional export into a reliable, analysis-ready dataset. The dataset was selected for its scale, its authentic data-quality challenges, and the substantial body of published research already built around it, with five recent papers from IEEE, Springer, Elsevier, and MDPI reviewed to ground the overall approach in established methodology.</a:t>
            </a:r>
            <a:endParaRPr lang="en-US" sz="1300" dirty="0"/>
          </a:p>
        </p:txBody>
      </p:sp>
      <p:sp>
        <p:nvSpPr>
          <p:cNvPr id="4" name="Text 2"/>
          <p:cNvSpPr/>
          <p:nvPr/>
        </p:nvSpPr>
        <p:spPr>
          <a:xfrm>
            <a:off x="548640" y="2606040"/>
            <a:ext cx="10881360" cy="1508760"/>
          </a:xfrm>
          <a:prstGeom prst="rect">
            <a:avLst/>
          </a:prstGeom>
          <a:noFill/>
          <a:ln/>
        </p:spPr>
        <p:txBody>
          <a:bodyPr wrap="square" rtlCol="0" anchor="ctr"/>
          <a:lstStyle/>
          <a:p>
            <a:pPr marL="0" indent="0">
              <a:lnSpc>
                <a:spcPct val="130000"/>
              </a:lnSpc>
              <a:buNone/>
            </a:pPr>
            <a:r>
              <a:rPr lang="en-US" sz="1300" dirty="0">
                <a:solidFill>
                  <a:srgbClr val="222B45"/>
                </a:solidFill>
                <a:latin typeface="Calibri" pitchFamily="34" charset="0"/>
                <a:ea typeface="Calibri" pitchFamily="34" charset="-122"/>
                <a:cs typeface="Calibri" pitchFamily="34" charset="-120"/>
              </a:rPr>
              <a:t>Fourteen preprocessing steps were carried out in R, reducing the raw dataset from 1,067,371 rows to 779,425 validated transactions. This included combining both source sheets, removing rows with missing Customer IDs, eliminating 26,479 duplicate records, separating cancelled orders and returns, correcting data types, and flagging 51,119 extreme Quantity values as outliers rather than discarding them, in recognition of this retailer's legitimate wholesale order patterns.</a:t>
            </a:r>
            <a:endParaRPr lang="en-US" sz="1300" dirty="0"/>
          </a:p>
        </p:txBody>
      </p:sp>
      <p:sp>
        <p:nvSpPr>
          <p:cNvPr id="5" name="Shape 3"/>
          <p:cNvSpPr/>
          <p:nvPr/>
        </p:nvSpPr>
        <p:spPr>
          <a:xfrm>
            <a:off x="548640" y="4251960"/>
            <a:ext cx="11109960" cy="1828800"/>
          </a:xfrm>
          <a:prstGeom prst="roundRect">
            <a:avLst>
              <a:gd name="adj" fmla="val 4000"/>
            </a:avLst>
          </a:prstGeom>
          <a:solidFill>
            <a:srgbClr val="F4F6FC"/>
          </a:solidFill>
          <a:ln/>
        </p:spPr>
        <p:txBody>
          <a:bodyPr/>
          <a:lstStyle/>
          <a:p>
            <a:endParaRPr lang="en-IN"/>
          </a:p>
        </p:txBody>
      </p:sp>
      <p:sp>
        <p:nvSpPr>
          <p:cNvPr id="6" name="Text 4"/>
          <p:cNvSpPr/>
          <p:nvPr/>
        </p:nvSpPr>
        <p:spPr>
          <a:xfrm>
            <a:off x="868680" y="4251960"/>
            <a:ext cx="10515600" cy="1828800"/>
          </a:xfrm>
          <a:prstGeom prst="rect">
            <a:avLst/>
          </a:prstGeom>
          <a:noFill/>
          <a:ln/>
        </p:spPr>
        <p:txBody>
          <a:bodyPr wrap="square" rtlCol="0" anchor="ctr"/>
          <a:lstStyle/>
          <a:p>
            <a:pPr marL="0" indent="0">
              <a:lnSpc>
                <a:spcPct val="130000"/>
              </a:lnSpc>
              <a:buNone/>
            </a:pPr>
            <a:r>
              <a:rPr lang="en-US" sz="1300" dirty="0">
                <a:solidFill>
                  <a:srgbClr val="1E2761"/>
                </a:solidFill>
                <a:latin typeface="Calibri" pitchFamily="34" charset="0"/>
                <a:ea typeface="Calibri" pitchFamily="34" charset="-122"/>
                <a:cs typeface="Calibri" pitchFamily="34" charset="-120"/>
              </a:rPr>
              <a:t>Ten exploratory visualizations were then built on the cleaned dataset, examining missing-value patterns, product performance, monthly revenue trends, country-wise sales, customer spending distribution, and the relationships between Quantity, Price, and Revenue. Together, these results confirm that the dataset is clean, well understood, and structurally ready for rigorous analysis - with the United Kingdom dominating sales, a small set of products and customers accounting for a disproportionate share of revenue, and clear seasonal peaks in the months preceding December.</a:t>
            </a:r>
            <a:endParaRPr lang="en-US" sz="1300" dirty="0"/>
          </a:p>
        </p:txBody>
      </p:sp>
      <p:sp>
        <p:nvSpPr>
          <p:cNvPr id="7" name="Text 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1E2761"/>
          </a:solidFill>
          <a:ln/>
        </p:spPr>
        <p:txBody>
          <a:bodyPr/>
          <a:lstStyle/>
          <a:p>
            <a:endParaRPr lang="en-IN"/>
          </a:p>
        </p:txBody>
      </p:sp>
      <p:pic>
        <p:nvPicPr>
          <p:cNvPr id="3" name="Image 0" descr="vit_crest_only.jpg"/>
          <p:cNvPicPr>
            <a:picLocks noChangeAspect="1"/>
          </p:cNvPicPr>
          <p:nvPr/>
        </p:nvPicPr>
        <p:blipFill>
          <a:blip r:embed="rId3"/>
          <a:stretch>
            <a:fillRect/>
          </a:stretch>
        </p:blipFill>
        <p:spPr>
          <a:xfrm>
            <a:off x="5408676" y="1188720"/>
            <a:ext cx="1371600" cy="1695796"/>
          </a:xfrm>
          <a:prstGeom prst="rect">
            <a:avLst/>
          </a:prstGeom>
        </p:spPr>
      </p:pic>
      <p:sp>
        <p:nvSpPr>
          <p:cNvPr id="4" name="Text 1"/>
          <p:cNvSpPr/>
          <p:nvPr/>
        </p:nvSpPr>
        <p:spPr>
          <a:xfrm>
            <a:off x="0" y="3063240"/>
            <a:ext cx="12188952" cy="914400"/>
          </a:xfrm>
          <a:prstGeom prst="rect">
            <a:avLst/>
          </a:prstGeom>
          <a:noFill/>
          <a:ln/>
        </p:spPr>
        <p:txBody>
          <a:bodyPr wrap="square" rtlCol="0" anchor="ctr"/>
          <a:lstStyle/>
          <a:p>
            <a:pPr marL="0" indent="0" algn="ctr">
              <a:buNone/>
            </a:pPr>
            <a:r>
              <a:rPr lang="en-US" sz="4000" b="1" dirty="0">
                <a:solidFill>
                  <a:srgbClr val="1E2761"/>
                </a:solidFill>
                <a:latin typeface="Cambria" pitchFamily="34" charset="0"/>
                <a:ea typeface="Cambria" pitchFamily="34" charset="-122"/>
                <a:cs typeface="Cambria" pitchFamily="34" charset="-120"/>
              </a:rPr>
              <a:t>Thank You</a:t>
            </a:r>
            <a:endParaRPr lang="en-US" sz="4000" dirty="0"/>
          </a:p>
        </p:txBody>
      </p:sp>
      <p:sp>
        <p:nvSpPr>
          <p:cNvPr id="5" name="Shape 2"/>
          <p:cNvSpPr/>
          <p:nvPr/>
        </p:nvSpPr>
        <p:spPr>
          <a:xfrm>
            <a:off x="5088636" y="3977640"/>
            <a:ext cx="2011680" cy="0"/>
          </a:xfrm>
          <a:prstGeom prst="line">
            <a:avLst/>
          </a:prstGeom>
          <a:noFill/>
          <a:ln w="31750">
            <a:solidFill>
              <a:srgbClr val="C9A227"/>
            </a:solidFill>
            <a:prstDash val="solid"/>
          </a:ln>
        </p:spPr>
        <p:txBody>
          <a:bodyPr/>
          <a:lstStyle/>
          <a:p>
            <a:endParaRPr lang="en-IN"/>
          </a:p>
        </p:txBody>
      </p:sp>
      <p:sp>
        <p:nvSpPr>
          <p:cNvPr id="6" name="Text 3"/>
          <p:cNvSpPr/>
          <p:nvPr/>
        </p:nvSpPr>
        <p:spPr>
          <a:xfrm>
            <a:off x="0" y="4114800"/>
            <a:ext cx="12188952" cy="457200"/>
          </a:xfrm>
          <a:prstGeom prst="rect">
            <a:avLst/>
          </a:prstGeom>
          <a:noFill/>
          <a:ln/>
        </p:spPr>
        <p:txBody>
          <a:bodyPr wrap="square" rtlCol="0" anchor="ctr"/>
          <a:lstStyle/>
          <a:p>
            <a:pPr marL="0" indent="0" algn="ctr">
              <a:buNone/>
            </a:pPr>
            <a:r>
              <a:rPr lang="en-US" sz="1600" dirty="0">
                <a:solidFill>
                  <a:srgbClr val="5B6478"/>
                </a:solidFill>
                <a:latin typeface="Calibri" pitchFamily="34" charset="0"/>
                <a:ea typeface="Calibri" pitchFamily="34" charset="-122"/>
                <a:cs typeface="Calibri" pitchFamily="34" charset="-120"/>
              </a:rPr>
              <a:t>Questions and Discussion</a:t>
            </a:r>
            <a:endParaRPr lang="en-US" sz="1600" dirty="0"/>
          </a:p>
        </p:txBody>
      </p:sp>
      <p:sp>
        <p:nvSpPr>
          <p:cNvPr id="7" name="Text 4"/>
          <p:cNvSpPr/>
          <p:nvPr/>
        </p:nvSpPr>
        <p:spPr>
          <a:xfrm>
            <a:off x="0" y="6035040"/>
            <a:ext cx="12188952" cy="365760"/>
          </a:xfrm>
          <a:prstGeom prst="rect">
            <a:avLst/>
          </a:prstGeom>
          <a:noFill/>
          <a:ln/>
        </p:spPr>
        <p:txBody>
          <a:bodyPr wrap="square" rtlCol="0" anchor="ctr"/>
          <a:lstStyle/>
          <a:p>
            <a:pPr marL="0" indent="0" algn="ctr">
              <a:buNone/>
            </a:pPr>
            <a:r>
              <a:rPr lang="en-US" sz="1200" dirty="0">
                <a:solidFill>
                  <a:srgbClr val="5B6478"/>
                </a:solidFill>
                <a:latin typeface="Calibri" pitchFamily="34" charset="0"/>
                <a:ea typeface="Calibri" pitchFamily="34" charset="-122"/>
                <a:cs typeface="Calibri" pitchFamily="34" charset="-120"/>
              </a:rPr>
              <a:t>Suyash Agrawaal   |   24BDS1167   |   Programming for Data Science (BCSE207L)</a:t>
            </a:r>
            <a:endParaRPr lang="en-US" sz="1200" dirty="0"/>
          </a:p>
        </p:txBody>
      </p:sp>
      <p:sp>
        <p:nvSpPr>
          <p:cNvPr id="8" name="Text 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EB7C9"/>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1747</Words>
  <Application>Microsoft Office PowerPoint</Application>
  <PresentationFormat>Widescreen</PresentationFormat>
  <Paragraphs>216</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Suyash Agrawaal</cp:lastModifiedBy>
  <cp:revision>1</cp:revision>
  <dcterms:created xsi:type="dcterms:W3CDTF">2026-08-04T16:53:01Z</dcterms:created>
  <dcterms:modified xsi:type="dcterms:W3CDTF">2026-09-03T05:36:02Z</dcterms:modified>
</cp:coreProperties>
</file>